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22"/>
  </p:notesMasterIdLst>
  <p:sldIdLst>
    <p:sldId id="256" r:id="rId3"/>
    <p:sldId id="257" r:id="rId4"/>
    <p:sldId id="275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8288000" cy="10287000"/>
  <p:notesSz cx="6858000" cy="9144000"/>
  <p:embeddedFontLst>
    <p:embeddedFont>
      <p:font typeface="Calibri (MS)" panose="020B0604020202020204" charset="0"/>
      <p:regular r:id="rId23"/>
    </p:embeddedFont>
    <p:embeddedFont>
      <p:font typeface="Calibri (MS) Bold" panose="020B0604020202020204" charset="0"/>
      <p:regular r:id="rId24"/>
    </p:embeddedFont>
    <p:embeddedFont>
      <p:font typeface="Calibri (MS) Italics" panose="020B0604020202020204" charset="0"/>
      <p:regular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Cambria Bold" panose="02040803050406030204" pitchFamily="18" charset="0"/>
      <p:regular r:id="rId30"/>
      <p:bold r:id="rId31"/>
    </p:embeddedFont>
    <p:embeddedFont>
      <p:font typeface="Consolas Bold" panose="020B0709020204030204" pitchFamily="49" charset="0"/>
      <p:regular r:id="rId32"/>
      <p:bold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6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3821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6903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371600" rtl="0" eaLnBrk="1" latinLnBrk="0" hangingPunct="1"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4350" indent="-514350" algn="l" defTabSz="1371600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14425" indent="-428625" algn="l" defTabSz="1371600" rtl="0" eaLnBrk="1" latinLnBrk="0" hangingPunct="1">
        <a:spcBef>
          <a:spcPct val="20000"/>
        </a:spcBef>
        <a:buFont typeface="Arial" pitchFamily="34" charset="0"/>
        <a:buChar char="–"/>
        <a:defRPr sz="4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spcBef>
          <a:spcPct val="20000"/>
        </a:spcBef>
        <a:buFont typeface="Arial" pitchFamily="34" charset="0"/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41680" y="-3017520"/>
            <a:ext cx="8229600" cy="8229600"/>
            <a:chOff x="0" y="0"/>
            <a:chExt cx="1097280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72800" cy="10972800"/>
            </a:xfrm>
            <a:custGeom>
              <a:avLst/>
              <a:gdLst/>
              <a:ahLst/>
              <a:cxnLst/>
              <a:rect l="l" t="t" r="r" b="b"/>
              <a:pathLst>
                <a:path w="10972800" h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22D3EE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3429000" y="6172200"/>
            <a:ext cx="6858000" cy="6858000"/>
            <a:chOff x="0" y="0"/>
            <a:chExt cx="9144000" cy="9144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144000" cy="9144000"/>
            </a:xfrm>
            <a:custGeom>
              <a:avLst/>
              <a:gdLst/>
              <a:ahLst/>
              <a:cxnLst/>
              <a:rect l="l" t="t" r="r" b="b"/>
              <a:pathLst>
                <a:path w="9144000" h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FF6B6B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00696" y="1617917"/>
            <a:ext cx="878967" cy="878967"/>
            <a:chOff x="0" y="0"/>
            <a:chExt cx="1171956" cy="11719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1956" cy="1171956"/>
            </a:xfrm>
            <a:custGeom>
              <a:avLst/>
              <a:gdLst/>
              <a:ahLst/>
              <a:cxnLst/>
              <a:rect l="l" t="t" r="r" b="b"/>
              <a:pathLst>
                <a:path w="1171956" h="1171956">
                  <a:moveTo>
                    <a:pt x="0" y="585978"/>
                  </a:moveTo>
                  <a:cubicBezTo>
                    <a:pt x="0" y="262382"/>
                    <a:pt x="262382" y="0"/>
                    <a:pt x="585978" y="0"/>
                  </a:cubicBezTo>
                  <a:cubicBezTo>
                    <a:pt x="909574" y="0"/>
                    <a:pt x="1171956" y="262382"/>
                    <a:pt x="1171956" y="585978"/>
                  </a:cubicBezTo>
                  <a:cubicBezTo>
                    <a:pt x="1171956" y="909574"/>
                    <a:pt x="909574" y="1171956"/>
                    <a:pt x="585978" y="1171956"/>
                  </a:cubicBezTo>
                  <a:cubicBezTo>
                    <a:pt x="262382" y="1171956"/>
                    <a:pt x="0" y="909574"/>
                    <a:pt x="0" y="585978"/>
                  </a:cubicBezTo>
                  <a:close/>
                </a:path>
              </a:pathLst>
            </a:custGeom>
            <a:solidFill>
              <a:srgbClr val="22D3EE">
                <a:alpha val="1176"/>
              </a:srgbClr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14984" y="1632204"/>
            <a:ext cx="850392" cy="850392"/>
            <a:chOff x="0" y="0"/>
            <a:chExt cx="1133856" cy="11338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33856" cy="11719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5800" y="3223260"/>
            <a:ext cx="13716000" cy="480060"/>
            <a:chOff x="0" y="0"/>
            <a:chExt cx="18288000" cy="6400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88000" cy="640080"/>
            </a:xfrm>
            <a:custGeom>
              <a:avLst/>
              <a:gdLst/>
              <a:ahLst/>
              <a:cxnLst/>
              <a:rect l="l" t="t" r="r" b="b"/>
              <a:pathLst>
                <a:path w="18288000" h="64008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6715" b="-5067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 spc="30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OPEN-SOURCE SECURITY OPERATIONS LAB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58368" y="3771900"/>
            <a:ext cx="15773400" cy="2606040"/>
            <a:chOff x="0" y="0"/>
            <a:chExt cx="21031200" cy="34747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031200" cy="3474720"/>
            </a:xfrm>
            <a:custGeom>
              <a:avLst/>
              <a:gdLst/>
              <a:ahLst/>
              <a:cxnLst/>
              <a:rect l="l" t="t" r="r" b="b"/>
              <a:pathLst>
                <a:path w="21031200" h="3474720">
                  <a:moveTo>
                    <a:pt x="0" y="0"/>
                  </a:moveTo>
                  <a:lnTo>
                    <a:pt x="21031200" y="0"/>
                  </a:lnTo>
                  <a:lnTo>
                    <a:pt x="2103120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935" b="-679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57150"/>
              <a:ext cx="21031200" cy="3417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500"/>
                </a:lnSpc>
              </a:pPr>
              <a:r>
                <a:rPr lang="en-US" sz="69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Automated Threat Detection</a:t>
              </a:r>
            </a:p>
            <a:p>
              <a:pPr algn="l">
                <a:lnSpc>
                  <a:spcPts val="7500"/>
                </a:lnSpc>
              </a:pPr>
              <a:r>
                <a:rPr lang="en-US" sz="69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&amp; Response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5800" y="6515100"/>
            <a:ext cx="13716000" cy="617220"/>
            <a:chOff x="0" y="0"/>
            <a:chExt cx="18288000" cy="8229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288000" cy="822960"/>
            </a:xfrm>
            <a:custGeom>
              <a:avLst/>
              <a:gdLst/>
              <a:ahLst/>
              <a:cxnLst/>
              <a:rect l="l" t="t" r="r" b="b"/>
              <a:pathLst>
                <a:path w="18288000" h="822960">
                  <a:moveTo>
                    <a:pt x="0" y="0"/>
                  </a:moveTo>
                  <a:lnTo>
                    <a:pt x="18288000" y="0"/>
                  </a:lnTo>
                  <a:lnTo>
                    <a:pt x="182880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3000" b="-3830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8288000" cy="86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Wazuh SIEM</a:t>
              </a:r>
              <a:r>
                <a:rPr lang="en-US" sz="2400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·   </a:t>
              </a:r>
              <a:r>
                <a:rPr lang="en-US" sz="240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Shuffle SOAR</a:t>
              </a:r>
              <a:r>
                <a:rPr lang="en-US" sz="2400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·   </a:t>
              </a:r>
              <a:r>
                <a:rPr lang="en-US" sz="2400" b="1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Tailscale Mesh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 rot="14880">
            <a:off x="676256" y="7607618"/>
            <a:ext cx="4408208" cy="0"/>
          </a:xfrm>
          <a:prstGeom prst="line">
            <a:avLst/>
          </a:prstGeom>
          <a:ln w="9525" cap="rnd">
            <a:solidFill>
              <a:srgbClr val="2633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685800" y="7886700"/>
            <a:ext cx="11658600" cy="960120"/>
            <a:chOff x="0" y="0"/>
            <a:chExt cx="15544800" cy="12801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544800" cy="1280160"/>
            </a:xfrm>
            <a:custGeom>
              <a:avLst/>
              <a:gdLst/>
              <a:ahLst/>
              <a:cxnLst/>
              <a:rect l="l" t="t" r="r" b="b"/>
              <a:pathLst>
                <a:path w="15544800" h="1280160">
                  <a:moveTo>
                    <a:pt x="0" y="0"/>
                  </a:moveTo>
                  <a:lnTo>
                    <a:pt x="15544800" y="0"/>
                  </a:lnTo>
                  <a:lnTo>
                    <a:pt x="1554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6604" b="-1866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15544800" cy="1365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5-person distributed SOC &amp; SOAR home lab — built, attacked,</a:t>
              </a:r>
            </a:p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detected, and auto-contained end to end.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5800" y="9464040"/>
            <a:ext cx="8229600" cy="411480"/>
            <a:chOff x="0" y="0"/>
            <a:chExt cx="10972800" cy="5486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972800" cy="548640"/>
            </a:xfrm>
            <a:custGeom>
              <a:avLst/>
              <a:gdLst/>
              <a:ahLst/>
              <a:cxnLst/>
              <a:rect l="l" t="t" r="r" b="b"/>
              <a:pathLst>
                <a:path w="10972800" h="54864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spc="299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ACADEMIC / PORTFOLIO PROJECT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6275" y="566547"/>
            <a:ext cx="1870710" cy="457962"/>
            <a:chOff x="0" y="0"/>
            <a:chExt cx="2494280" cy="6106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280" cy="610616"/>
            </a:xfrm>
            <a:custGeom>
              <a:avLst/>
              <a:gdLst/>
              <a:ahLst/>
              <a:cxnLst/>
              <a:rect l="l" t="t" r="r" b="b"/>
              <a:pathLst>
                <a:path w="249428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2188972" y="0"/>
                  </a:lnTo>
                  <a:cubicBezTo>
                    <a:pt x="2357628" y="0"/>
                    <a:pt x="2494280" y="136652"/>
                    <a:pt x="2494280" y="305308"/>
                  </a:cubicBezTo>
                  <a:cubicBezTo>
                    <a:pt x="2494280" y="473964"/>
                    <a:pt x="2357628" y="610616"/>
                    <a:pt x="218897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22D3EE">
                <a:alpha val="1961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576072"/>
            <a:ext cx="1851660" cy="438912"/>
            <a:chOff x="0" y="0"/>
            <a:chExt cx="2468880" cy="585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8880" cy="585216"/>
            </a:xfrm>
            <a:custGeom>
              <a:avLst/>
              <a:gdLst/>
              <a:ahLst/>
              <a:cxnLst/>
              <a:rect l="l" t="t" r="r" b="b"/>
              <a:pathLst>
                <a:path w="2468880" h="585216">
                  <a:moveTo>
                    <a:pt x="0" y="0"/>
                  </a:moveTo>
                  <a:lnTo>
                    <a:pt x="2468880" y="0"/>
                  </a:lnTo>
                  <a:lnTo>
                    <a:pt x="2468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02" b="-32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6888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 spc="15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OVERVIEW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1069848"/>
            <a:ext cx="15773400" cy="960120"/>
            <a:chOff x="0" y="0"/>
            <a:chExt cx="2103120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Presentation flow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6275" y="2665095"/>
            <a:ext cx="16889730" cy="1637538"/>
            <a:chOff x="0" y="0"/>
            <a:chExt cx="22519640" cy="21833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519639" cy="2183384"/>
            </a:xfrm>
            <a:custGeom>
              <a:avLst/>
              <a:gdLst/>
              <a:ahLst/>
              <a:cxnLst/>
              <a:rect l="l" t="t" r="r" b="b"/>
              <a:pathLst>
                <a:path w="22519639" h="2183384">
                  <a:moveTo>
                    <a:pt x="0" y="185039"/>
                  </a:moveTo>
                  <a:cubicBezTo>
                    <a:pt x="0" y="82804"/>
                    <a:pt x="82804" y="0"/>
                    <a:pt x="185039" y="0"/>
                  </a:cubicBezTo>
                  <a:lnTo>
                    <a:pt x="22334601" y="0"/>
                  </a:lnTo>
                  <a:cubicBezTo>
                    <a:pt x="22436837" y="0"/>
                    <a:pt x="22519639" y="82804"/>
                    <a:pt x="22519639" y="185039"/>
                  </a:cubicBezTo>
                  <a:lnTo>
                    <a:pt x="22519639" y="1998345"/>
                  </a:lnTo>
                  <a:cubicBezTo>
                    <a:pt x="22519639" y="2100580"/>
                    <a:pt x="22436837" y="2183384"/>
                    <a:pt x="22334601" y="2183384"/>
                  </a:cubicBezTo>
                  <a:lnTo>
                    <a:pt x="185039" y="2183384"/>
                  </a:lnTo>
                  <a:cubicBezTo>
                    <a:pt x="82804" y="2183384"/>
                    <a:pt x="0" y="2100580"/>
                    <a:pt x="0" y="1998345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84744" y="3016948"/>
            <a:ext cx="933831" cy="933831"/>
            <a:chOff x="0" y="0"/>
            <a:chExt cx="1245108" cy="12451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45108" cy="1245108"/>
            </a:xfrm>
            <a:custGeom>
              <a:avLst/>
              <a:gdLst/>
              <a:ahLst/>
              <a:cxnLst/>
              <a:rect l="l" t="t" r="r" b="b"/>
              <a:pathLst>
                <a:path w="1245108" h="1245108">
                  <a:moveTo>
                    <a:pt x="0" y="622554"/>
                  </a:moveTo>
                  <a:cubicBezTo>
                    <a:pt x="0" y="278765"/>
                    <a:pt x="278765" y="0"/>
                    <a:pt x="622554" y="0"/>
                  </a:cubicBezTo>
                  <a:cubicBezTo>
                    <a:pt x="966343" y="0"/>
                    <a:pt x="1245108" y="278765"/>
                    <a:pt x="1245108" y="622554"/>
                  </a:cubicBezTo>
                  <a:cubicBezTo>
                    <a:pt x="1245108" y="966343"/>
                    <a:pt x="966343" y="1245108"/>
                    <a:pt x="622554" y="1245108"/>
                  </a:cubicBezTo>
                  <a:cubicBezTo>
                    <a:pt x="278765" y="1245108"/>
                    <a:pt x="0" y="966343"/>
                    <a:pt x="0" y="622554"/>
                  </a:cubicBezTo>
                  <a:close/>
                </a:path>
              </a:pathLst>
            </a:custGeom>
            <a:solidFill>
              <a:srgbClr val="22D3EE">
                <a:alpha val="1176"/>
              </a:srgbClr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99032" y="3031236"/>
            <a:ext cx="905256" cy="905256"/>
            <a:chOff x="0" y="0"/>
            <a:chExt cx="1207008" cy="12070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07008" cy="1207008"/>
            </a:xfrm>
            <a:custGeom>
              <a:avLst/>
              <a:gdLst/>
              <a:ahLst/>
              <a:cxnLst/>
              <a:rect l="l" t="t" r="r" b="b"/>
              <a:pathLst>
                <a:path w="1207008" h="1207008">
                  <a:moveTo>
                    <a:pt x="0" y="0"/>
                  </a:moveTo>
                  <a:lnTo>
                    <a:pt x="1207008" y="0"/>
                  </a:lnTo>
                  <a:lnTo>
                    <a:pt x="1207008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207008" cy="12546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11780" y="2866644"/>
            <a:ext cx="5486400" cy="685800"/>
            <a:chOff x="0" y="0"/>
            <a:chExt cx="7315200" cy="914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315200" cy="914400"/>
            </a:xfrm>
            <a:custGeom>
              <a:avLst/>
              <a:gdLst/>
              <a:ahLst/>
              <a:cxnLst/>
              <a:rect l="l" t="t" r="r" b="b"/>
              <a:pathLst>
                <a:path w="7315200" h="914400">
                  <a:moveTo>
                    <a:pt x="0" y="0"/>
                  </a:moveTo>
                  <a:lnTo>
                    <a:pt x="7315200" y="0"/>
                  </a:lnTo>
                  <a:lnTo>
                    <a:pt x="7315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73152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Setup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811780" y="3525012"/>
            <a:ext cx="13441680" cy="617220"/>
            <a:chOff x="0" y="0"/>
            <a:chExt cx="17922240" cy="8229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922239" cy="822960"/>
            </a:xfrm>
            <a:custGeom>
              <a:avLst/>
              <a:gdLst/>
              <a:ahLst/>
              <a:cxnLst/>
              <a:rect l="l" t="t" r="r" b="b"/>
              <a:pathLst>
                <a:path w="17922239" h="822960">
                  <a:moveTo>
                    <a:pt x="0" y="0"/>
                  </a:moveTo>
                  <a:lnTo>
                    <a:pt x="17922239" y="0"/>
                  </a:lnTo>
                  <a:lnTo>
                    <a:pt x="17922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340" b="-3743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7922240" cy="86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Wazuh manager · agents · Shuffle · Tailscale mesh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6275" y="4585335"/>
            <a:ext cx="16889730" cy="1637538"/>
            <a:chOff x="0" y="0"/>
            <a:chExt cx="22519640" cy="218338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519639" cy="2183384"/>
            </a:xfrm>
            <a:custGeom>
              <a:avLst/>
              <a:gdLst/>
              <a:ahLst/>
              <a:cxnLst/>
              <a:rect l="l" t="t" r="r" b="b"/>
              <a:pathLst>
                <a:path w="22519639" h="2183384">
                  <a:moveTo>
                    <a:pt x="0" y="185039"/>
                  </a:moveTo>
                  <a:cubicBezTo>
                    <a:pt x="0" y="82804"/>
                    <a:pt x="82804" y="0"/>
                    <a:pt x="185039" y="0"/>
                  </a:cubicBezTo>
                  <a:lnTo>
                    <a:pt x="22334601" y="0"/>
                  </a:lnTo>
                  <a:cubicBezTo>
                    <a:pt x="22436837" y="0"/>
                    <a:pt x="22519639" y="82804"/>
                    <a:pt x="22519639" y="185039"/>
                  </a:cubicBezTo>
                  <a:lnTo>
                    <a:pt x="22519639" y="1998345"/>
                  </a:lnTo>
                  <a:cubicBezTo>
                    <a:pt x="22519639" y="2100580"/>
                    <a:pt x="22436837" y="2183384"/>
                    <a:pt x="22334601" y="2183384"/>
                  </a:cubicBezTo>
                  <a:lnTo>
                    <a:pt x="185039" y="2183384"/>
                  </a:lnTo>
                  <a:cubicBezTo>
                    <a:pt x="82804" y="2183384"/>
                    <a:pt x="0" y="2100580"/>
                    <a:pt x="0" y="1998345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84744" y="4937188"/>
            <a:ext cx="933831" cy="933831"/>
            <a:chOff x="0" y="0"/>
            <a:chExt cx="1245108" cy="124510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45108" cy="1245108"/>
            </a:xfrm>
            <a:custGeom>
              <a:avLst/>
              <a:gdLst/>
              <a:ahLst/>
              <a:cxnLst/>
              <a:rect l="l" t="t" r="r" b="b"/>
              <a:pathLst>
                <a:path w="1245108" h="1245108">
                  <a:moveTo>
                    <a:pt x="0" y="622554"/>
                  </a:moveTo>
                  <a:cubicBezTo>
                    <a:pt x="0" y="278765"/>
                    <a:pt x="278765" y="0"/>
                    <a:pt x="622554" y="0"/>
                  </a:cubicBezTo>
                  <a:cubicBezTo>
                    <a:pt x="966343" y="0"/>
                    <a:pt x="1245108" y="278765"/>
                    <a:pt x="1245108" y="622554"/>
                  </a:cubicBezTo>
                  <a:cubicBezTo>
                    <a:pt x="1245108" y="966343"/>
                    <a:pt x="966343" y="1245108"/>
                    <a:pt x="622554" y="1245108"/>
                  </a:cubicBezTo>
                  <a:cubicBezTo>
                    <a:pt x="278765" y="1245108"/>
                    <a:pt x="0" y="966343"/>
                    <a:pt x="0" y="622554"/>
                  </a:cubicBezTo>
                  <a:close/>
                </a:path>
              </a:pathLst>
            </a:custGeom>
            <a:solidFill>
              <a:srgbClr val="FF6B6B">
                <a:alpha val="1176"/>
              </a:srgbClr>
            </a:solidFill>
            <a:ln w="28575" cap="sq">
              <a:solidFill>
                <a:srgbClr val="FF6B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99032" y="4951476"/>
            <a:ext cx="905256" cy="905256"/>
            <a:chOff x="0" y="0"/>
            <a:chExt cx="1207008" cy="120700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07008" cy="1207008"/>
            </a:xfrm>
            <a:custGeom>
              <a:avLst/>
              <a:gdLst/>
              <a:ahLst/>
              <a:cxnLst/>
              <a:rect l="l" t="t" r="r" b="b"/>
              <a:pathLst>
                <a:path w="1207008" h="1207008">
                  <a:moveTo>
                    <a:pt x="0" y="0"/>
                  </a:moveTo>
                  <a:lnTo>
                    <a:pt x="1207008" y="0"/>
                  </a:lnTo>
                  <a:lnTo>
                    <a:pt x="1207008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207008" cy="12546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811780" y="4786884"/>
            <a:ext cx="5486400" cy="685800"/>
            <a:chOff x="0" y="0"/>
            <a:chExt cx="7315200" cy="9144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315200" cy="914400"/>
            </a:xfrm>
            <a:custGeom>
              <a:avLst/>
              <a:gdLst/>
              <a:ahLst/>
              <a:cxnLst/>
              <a:rect l="l" t="t" r="r" b="b"/>
              <a:pathLst>
                <a:path w="7315200" h="914400">
                  <a:moveTo>
                    <a:pt x="0" y="0"/>
                  </a:moveTo>
                  <a:lnTo>
                    <a:pt x="7315200" y="0"/>
                  </a:lnTo>
                  <a:lnTo>
                    <a:pt x="7315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73152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Attacks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811780" y="5445252"/>
            <a:ext cx="13441680" cy="617220"/>
            <a:chOff x="0" y="0"/>
            <a:chExt cx="17922240" cy="82296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7922239" cy="822960"/>
            </a:xfrm>
            <a:custGeom>
              <a:avLst/>
              <a:gdLst/>
              <a:ahLst/>
              <a:cxnLst/>
              <a:rect l="l" t="t" r="r" b="b"/>
              <a:pathLst>
                <a:path w="17922239" h="822960">
                  <a:moveTo>
                    <a:pt x="0" y="0"/>
                  </a:moveTo>
                  <a:lnTo>
                    <a:pt x="17922239" y="0"/>
                  </a:lnTo>
                  <a:lnTo>
                    <a:pt x="17922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340" b="-3743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7922240" cy="86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SSH brute force · suspicious PowerShell · command &amp; control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6275" y="6505575"/>
            <a:ext cx="16889730" cy="1637538"/>
            <a:chOff x="0" y="0"/>
            <a:chExt cx="22519640" cy="218338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2519639" cy="2183384"/>
            </a:xfrm>
            <a:custGeom>
              <a:avLst/>
              <a:gdLst/>
              <a:ahLst/>
              <a:cxnLst/>
              <a:rect l="l" t="t" r="r" b="b"/>
              <a:pathLst>
                <a:path w="22519639" h="2183384">
                  <a:moveTo>
                    <a:pt x="0" y="185039"/>
                  </a:moveTo>
                  <a:cubicBezTo>
                    <a:pt x="0" y="82804"/>
                    <a:pt x="82804" y="0"/>
                    <a:pt x="185039" y="0"/>
                  </a:cubicBezTo>
                  <a:lnTo>
                    <a:pt x="22334601" y="0"/>
                  </a:lnTo>
                  <a:cubicBezTo>
                    <a:pt x="22436837" y="0"/>
                    <a:pt x="22519639" y="82804"/>
                    <a:pt x="22519639" y="185039"/>
                  </a:cubicBezTo>
                  <a:lnTo>
                    <a:pt x="22519639" y="1998345"/>
                  </a:lnTo>
                  <a:cubicBezTo>
                    <a:pt x="22519639" y="2100580"/>
                    <a:pt x="22436837" y="2183384"/>
                    <a:pt x="22334601" y="2183384"/>
                  </a:cubicBezTo>
                  <a:lnTo>
                    <a:pt x="185039" y="2183384"/>
                  </a:lnTo>
                  <a:cubicBezTo>
                    <a:pt x="82804" y="2183384"/>
                    <a:pt x="0" y="2100580"/>
                    <a:pt x="0" y="1998345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84744" y="6857429"/>
            <a:ext cx="933831" cy="933831"/>
            <a:chOff x="0" y="0"/>
            <a:chExt cx="1245108" cy="124510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45108" cy="1245108"/>
            </a:xfrm>
            <a:custGeom>
              <a:avLst/>
              <a:gdLst/>
              <a:ahLst/>
              <a:cxnLst/>
              <a:rect l="l" t="t" r="r" b="b"/>
              <a:pathLst>
                <a:path w="1245108" h="1245108">
                  <a:moveTo>
                    <a:pt x="0" y="622554"/>
                  </a:moveTo>
                  <a:cubicBezTo>
                    <a:pt x="0" y="278765"/>
                    <a:pt x="278765" y="0"/>
                    <a:pt x="622554" y="0"/>
                  </a:cubicBezTo>
                  <a:cubicBezTo>
                    <a:pt x="966343" y="0"/>
                    <a:pt x="1245108" y="278765"/>
                    <a:pt x="1245108" y="622554"/>
                  </a:cubicBezTo>
                  <a:cubicBezTo>
                    <a:pt x="1245108" y="966343"/>
                    <a:pt x="966343" y="1245108"/>
                    <a:pt x="622554" y="1245108"/>
                  </a:cubicBezTo>
                  <a:cubicBezTo>
                    <a:pt x="278765" y="1245108"/>
                    <a:pt x="0" y="966343"/>
                    <a:pt x="0" y="622554"/>
                  </a:cubicBezTo>
                  <a:close/>
                </a:path>
              </a:pathLst>
            </a:custGeom>
            <a:solidFill>
              <a:srgbClr val="FBBF24">
                <a:alpha val="1176"/>
              </a:srgbClr>
            </a:solidFill>
            <a:ln w="28575" cap="sq">
              <a:solidFill>
                <a:srgbClr val="FBBF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99032" y="6871716"/>
            <a:ext cx="905256" cy="905256"/>
            <a:chOff x="0" y="0"/>
            <a:chExt cx="1207008" cy="120700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07008" cy="1207008"/>
            </a:xfrm>
            <a:custGeom>
              <a:avLst/>
              <a:gdLst/>
              <a:ahLst/>
              <a:cxnLst/>
              <a:rect l="l" t="t" r="r" b="b"/>
              <a:pathLst>
                <a:path w="1207008" h="1207008">
                  <a:moveTo>
                    <a:pt x="0" y="0"/>
                  </a:moveTo>
                  <a:lnTo>
                    <a:pt x="1207008" y="0"/>
                  </a:lnTo>
                  <a:lnTo>
                    <a:pt x="1207008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1207008" cy="12546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BBF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811780" y="6707124"/>
            <a:ext cx="5486400" cy="685800"/>
            <a:chOff x="0" y="0"/>
            <a:chExt cx="7315200" cy="914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315200" cy="914400"/>
            </a:xfrm>
            <a:custGeom>
              <a:avLst/>
              <a:gdLst/>
              <a:ahLst/>
              <a:cxnLst/>
              <a:rect l="l" t="t" r="r" b="b"/>
              <a:pathLst>
                <a:path w="7315200" h="914400">
                  <a:moveTo>
                    <a:pt x="0" y="0"/>
                  </a:moveTo>
                  <a:lnTo>
                    <a:pt x="7315200" y="0"/>
                  </a:lnTo>
                  <a:lnTo>
                    <a:pt x="7315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9525"/>
              <a:ext cx="73152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Detection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811780" y="7365492"/>
            <a:ext cx="13441680" cy="617220"/>
            <a:chOff x="0" y="0"/>
            <a:chExt cx="17922240" cy="82296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7922239" cy="822960"/>
            </a:xfrm>
            <a:custGeom>
              <a:avLst/>
              <a:gdLst/>
              <a:ahLst/>
              <a:cxnLst/>
              <a:rect l="l" t="t" r="r" b="b"/>
              <a:pathLst>
                <a:path w="17922239" h="822960">
                  <a:moveTo>
                    <a:pt x="0" y="0"/>
                  </a:moveTo>
                  <a:lnTo>
                    <a:pt x="17922239" y="0"/>
                  </a:lnTo>
                  <a:lnTo>
                    <a:pt x="17922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340" b="-3743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7922240" cy="86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evidence captured in the Wazuh dashboard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76275" y="8425815"/>
            <a:ext cx="16889730" cy="1637538"/>
            <a:chOff x="0" y="0"/>
            <a:chExt cx="22519640" cy="218338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2519639" cy="2183384"/>
            </a:xfrm>
            <a:custGeom>
              <a:avLst/>
              <a:gdLst/>
              <a:ahLst/>
              <a:cxnLst/>
              <a:rect l="l" t="t" r="r" b="b"/>
              <a:pathLst>
                <a:path w="22519639" h="2183384">
                  <a:moveTo>
                    <a:pt x="0" y="185039"/>
                  </a:moveTo>
                  <a:cubicBezTo>
                    <a:pt x="0" y="82804"/>
                    <a:pt x="82804" y="0"/>
                    <a:pt x="185039" y="0"/>
                  </a:cubicBezTo>
                  <a:lnTo>
                    <a:pt x="22334601" y="0"/>
                  </a:lnTo>
                  <a:cubicBezTo>
                    <a:pt x="22436837" y="0"/>
                    <a:pt x="22519639" y="82804"/>
                    <a:pt x="22519639" y="185039"/>
                  </a:cubicBezTo>
                  <a:lnTo>
                    <a:pt x="22519639" y="1998345"/>
                  </a:lnTo>
                  <a:cubicBezTo>
                    <a:pt x="22519639" y="2100580"/>
                    <a:pt x="22436837" y="2183384"/>
                    <a:pt x="22334601" y="2183384"/>
                  </a:cubicBezTo>
                  <a:lnTo>
                    <a:pt x="185039" y="2183384"/>
                  </a:lnTo>
                  <a:cubicBezTo>
                    <a:pt x="82804" y="2183384"/>
                    <a:pt x="0" y="2100580"/>
                    <a:pt x="0" y="1998345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384744" y="8777668"/>
            <a:ext cx="933831" cy="933831"/>
            <a:chOff x="0" y="0"/>
            <a:chExt cx="1245108" cy="124510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245108" cy="1245108"/>
            </a:xfrm>
            <a:custGeom>
              <a:avLst/>
              <a:gdLst/>
              <a:ahLst/>
              <a:cxnLst/>
              <a:rect l="l" t="t" r="r" b="b"/>
              <a:pathLst>
                <a:path w="1245108" h="1245108">
                  <a:moveTo>
                    <a:pt x="0" y="622554"/>
                  </a:moveTo>
                  <a:cubicBezTo>
                    <a:pt x="0" y="278765"/>
                    <a:pt x="278765" y="0"/>
                    <a:pt x="622554" y="0"/>
                  </a:cubicBezTo>
                  <a:cubicBezTo>
                    <a:pt x="966343" y="0"/>
                    <a:pt x="1245108" y="278765"/>
                    <a:pt x="1245108" y="622554"/>
                  </a:cubicBezTo>
                  <a:cubicBezTo>
                    <a:pt x="1245108" y="966343"/>
                    <a:pt x="966343" y="1245108"/>
                    <a:pt x="622554" y="1245108"/>
                  </a:cubicBezTo>
                  <a:cubicBezTo>
                    <a:pt x="278765" y="1245108"/>
                    <a:pt x="0" y="966343"/>
                    <a:pt x="0" y="622554"/>
                  </a:cubicBezTo>
                  <a:close/>
                </a:path>
              </a:pathLst>
            </a:custGeom>
            <a:solidFill>
              <a:srgbClr val="34D399">
                <a:alpha val="1176"/>
              </a:srgbClr>
            </a:solid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99032" y="8791956"/>
            <a:ext cx="905256" cy="905256"/>
            <a:chOff x="0" y="0"/>
            <a:chExt cx="1207008" cy="120700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207008" cy="1207008"/>
            </a:xfrm>
            <a:custGeom>
              <a:avLst/>
              <a:gdLst/>
              <a:ahLst/>
              <a:cxnLst/>
              <a:rect l="l" t="t" r="r" b="b"/>
              <a:pathLst>
                <a:path w="1207008" h="1207008">
                  <a:moveTo>
                    <a:pt x="0" y="0"/>
                  </a:moveTo>
                  <a:lnTo>
                    <a:pt x="1207008" y="0"/>
                  </a:lnTo>
                  <a:lnTo>
                    <a:pt x="1207008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1207008" cy="12546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811780" y="8627364"/>
            <a:ext cx="5486400" cy="685800"/>
            <a:chOff x="0" y="0"/>
            <a:chExt cx="7315200" cy="9144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315200" cy="914400"/>
            </a:xfrm>
            <a:custGeom>
              <a:avLst/>
              <a:gdLst/>
              <a:ahLst/>
              <a:cxnLst/>
              <a:rect l="l" t="t" r="r" b="b"/>
              <a:pathLst>
                <a:path w="7315200" h="914400">
                  <a:moveTo>
                    <a:pt x="0" y="0"/>
                  </a:moveTo>
                  <a:lnTo>
                    <a:pt x="7315200" y="0"/>
                  </a:lnTo>
                  <a:lnTo>
                    <a:pt x="7315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880" b="-1058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73152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Response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811780" y="9285732"/>
            <a:ext cx="13441680" cy="617220"/>
            <a:chOff x="0" y="0"/>
            <a:chExt cx="17922240" cy="82296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7922239" cy="822960"/>
            </a:xfrm>
            <a:custGeom>
              <a:avLst/>
              <a:gdLst/>
              <a:ahLst/>
              <a:cxnLst/>
              <a:rect l="l" t="t" r="r" b="b"/>
              <a:pathLst>
                <a:path w="17922239" h="822960">
                  <a:moveTo>
                    <a:pt x="0" y="0"/>
                  </a:moveTo>
                  <a:lnTo>
                    <a:pt x="17922239" y="0"/>
                  </a:lnTo>
                  <a:lnTo>
                    <a:pt x="17922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340" b="-3743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17922240" cy="8610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Automated containment through the SOAR pipeline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85800" y="9793224"/>
            <a:ext cx="6858000" cy="384048"/>
            <a:chOff x="0" y="0"/>
            <a:chExt cx="9144000" cy="51206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9144000" cy="512064"/>
            </a:xfrm>
            <a:custGeom>
              <a:avLst/>
              <a:gdLst/>
              <a:ahLst/>
              <a:cxnLst/>
              <a:rect l="l" t="t" r="r" b="b"/>
              <a:pathLst>
                <a:path w="9144000" h="512064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28575"/>
              <a:ext cx="91440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spc="149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WAZUH + SHUFFLE SOC LAB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6870680" y="9793224"/>
            <a:ext cx="754380" cy="384048"/>
            <a:chOff x="0" y="0"/>
            <a:chExt cx="1005840" cy="51206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005840" cy="512064"/>
            </a:xfrm>
            <a:custGeom>
              <a:avLst/>
              <a:gdLst/>
              <a:ahLst/>
              <a:cxnLst/>
              <a:rect l="l" t="t" r="r" b="b"/>
              <a:pathLst>
                <a:path w="1005840" h="512064">
                  <a:moveTo>
                    <a:pt x="0" y="0"/>
                  </a:moveTo>
                  <a:lnTo>
                    <a:pt x="1005840" y="0"/>
                  </a:lnTo>
                  <a:lnTo>
                    <a:pt x="10058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r="-153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28575"/>
              <a:ext cx="100584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6072"/>
            <a:ext cx="1851660" cy="43891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pPr defTabSz="1371600"/>
            <a:endParaRPr lang="en-US" sz="27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5800" y="576072"/>
            <a:ext cx="18516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371600"/>
            <a:r>
              <a:rPr lang="en-US" sz="150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1069848"/>
            <a:ext cx="1577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sz="4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architecture</a:t>
            </a:r>
            <a:endParaRPr lang="en-US" sz="4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947672"/>
            <a:ext cx="1618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sz="1875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Tailscale mesh connects five contributors across five separate locations — every node reachable on 100.x addressing.</a:t>
            </a:r>
            <a:endParaRPr lang="en-US" sz="18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4506312"/>
            <a:ext cx="16596360" cy="3420000"/>
          </a:xfrm>
          <a:prstGeom prst="roundRect">
            <a:avLst>
              <a:gd name="adj" fmla="val 3380"/>
            </a:avLst>
          </a:prstGeom>
          <a:ln w="12700">
            <a:solidFill>
              <a:srgbClr val="263354"/>
            </a:solidFill>
            <a:prstDash val="dash"/>
          </a:ln>
        </p:spPr>
        <p:txBody>
          <a:bodyPr/>
          <a:lstStyle/>
          <a:p>
            <a:pPr defTabSz="1371600"/>
            <a:endParaRPr lang="en-US" sz="27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475000" y="4311312"/>
            <a:ext cx="2775000" cy="34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sz="1425" b="1" kern="0" spc="225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TAILSCALE TAILNET</a:t>
            </a:r>
            <a:endParaRPr lang="en-US" sz="14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303020" y="4956312"/>
            <a:ext cx="4869180" cy="112500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6510">
            <a:solidFill>
              <a:srgbClr val="FF6B6B"/>
            </a:solidFill>
            <a:prstDash val="solid"/>
          </a:ln>
        </p:spPr>
        <p:txBody>
          <a:bodyPr/>
          <a:lstStyle/>
          <a:p>
            <a:pPr defTabSz="1371600"/>
            <a:endParaRPr lang="en-US" sz="27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508760" y="5091312"/>
            <a:ext cx="44577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sz="2025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victim</a:t>
            </a:r>
            <a:endParaRPr lang="en-US" sz="20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08760" y="5533812"/>
            <a:ext cx="4457700" cy="34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sz="1575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brute force</a:t>
            </a:r>
            <a:endParaRPr lang="en-US" sz="15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56248" y="4956312"/>
            <a:ext cx="4869180" cy="112500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6510">
            <a:solidFill>
              <a:srgbClr val="FF6B6B"/>
            </a:solidFill>
            <a:prstDash val="solid"/>
          </a:ln>
        </p:spPr>
        <p:txBody>
          <a:bodyPr/>
          <a:lstStyle/>
          <a:p>
            <a:pPr defTabSz="1371600"/>
            <a:endParaRPr lang="en-US" sz="27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61988" y="5091312"/>
            <a:ext cx="44577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sz="2025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victim</a:t>
            </a:r>
            <a:endParaRPr lang="en-US" sz="20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61988" y="5533812"/>
            <a:ext cx="4457700" cy="34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sz="1575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PowerShell</a:t>
            </a:r>
            <a:endParaRPr lang="en-US" sz="15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809476" y="4956312"/>
            <a:ext cx="4869180" cy="112500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6510">
            <a:solidFill>
              <a:srgbClr val="FF6B6B"/>
            </a:solidFill>
            <a:prstDash val="solid"/>
          </a:ln>
        </p:spPr>
        <p:txBody>
          <a:bodyPr/>
          <a:lstStyle/>
          <a:p>
            <a:pPr defTabSz="1371600"/>
            <a:endParaRPr lang="en-US" sz="27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015216" y="5091312"/>
            <a:ext cx="44577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sz="2025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</a:t>
            </a:r>
            <a:endParaRPr lang="en-US" sz="20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015216" y="5533812"/>
            <a:ext cx="4457700" cy="34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sz="1575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&amp; control</a:t>
            </a:r>
            <a:endParaRPr lang="en-US" sz="15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349240" y="6681312"/>
            <a:ext cx="7543800" cy="1050000"/>
          </a:xfrm>
          <a:prstGeom prst="roundRect">
            <a:avLst>
              <a:gd name="adj" fmla="val 9412"/>
            </a:avLst>
          </a:prstGeom>
          <a:solidFill>
            <a:srgbClr val="16213B"/>
          </a:solidFill>
          <a:ln w="19050">
            <a:solidFill>
              <a:srgbClr val="22D3EE"/>
            </a:solidFill>
            <a:prstDash val="solid"/>
          </a:ln>
        </p:spPr>
        <p:txBody>
          <a:bodyPr/>
          <a:lstStyle/>
          <a:p>
            <a:pPr defTabSz="1371600"/>
            <a:endParaRPr lang="en-US" sz="27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23560" y="6786312"/>
            <a:ext cx="6995160" cy="43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sz="2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Manager  —  SIEM</a:t>
            </a: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23560" y="7243812"/>
            <a:ext cx="6995160" cy="34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sz="1575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agent logs · correlates · fires alerts</a:t>
            </a:r>
            <a:endParaRPr lang="en-US" sz="15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737610" y="6081312"/>
            <a:ext cx="5383530" cy="600000"/>
          </a:xfrm>
          <a:prstGeom prst="line">
            <a:avLst/>
          </a:prstGeom>
          <a:noFill/>
          <a:ln w="12700">
            <a:solidFill>
              <a:srgbClr val="8A97B8"/>
            </a:solidFill>
            <a:prstDash val="solid"/>
            <a:tailEnd type="triangle"/>
          </a:ln>
        </p:spPr>
        <p:txBody>
          <a:bodyPr/>
          <a:lstStyle/>
          <a:p>
            <a:pPr defTabSz="1371600"/>
            <a:endParaRPr lang="en-US" sz="27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990838" y="6081312"/>
            <a:ext cx="130302" cy="600000"/>
          </a:xfrm>
          <a:prstGeom prst="line">
            <a:avLst/>
          </a:prstGeom>
          <a:noFill/>
          <a:ln w="12700">
            <a:solidFill>
              <a:srgbClr val="8A97B8"/>
            </a:solidFill>
            <a:prstDash val="solid"/>
            <a:tailEnd type="triangle"/>
          </a:ln>
        </p:spPr>
        <p:txBody>
          <a:bodyPr/>
          <a:lstStyle/>
          <a:p>
            <a:pPr defTabSz="1371600"/>
            <a:endParaRPr lang="en-US" sz="27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 flipH="1">
            <a:off x="9121140" y="6081312"/>
            <a:ext cx="5122926" cy="600000"/>
          </a:xfrm>
          <a:prstGeom prst="line">
            <a:avLst/>
          </a:prstGeom>
          <a:noFill/>
          <a:ln w="12700">
            <a:solidFill>
              <a:srgbClr val="8A97B8"/>
            </a:solidFill>
            <a:prstDash val="solid"/>
            <a:tailEnd type="triangle"/>
          </a:ln>
        </p:spPr>
        <p:txBody>
          <a:bodyPr/>
          <a:lstStyle/>
          <a:p>
            <a:pPr defTabSz="1371600"/>
            <a:endParaRPr lang="en-US" sz="27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121140" y="7731312"/>
            <a:ext cx="0" cy="420000"/>
          </a:xfrm>
          <a:prstGeom prst="line">
            <a:avLst/>
          </a:prstGeom>
          <a:noFill/>
          <a:ln w="12700">
            <a:solidFill>
              <a:srgbClr val="8A97B8"/>
            </a:solidFill>
            <a:prstDash val="solid"/>
            <a:tailEnd type="triangle"/>
          </a:ln>
        </p:spPr>
        <p:txBody>
          <a:bodyPr/>
          <a:lstStyle/>
          <a:p>
            <a:pPr defTabSz="1371600"/>
            <a:endParaRPr lang="en-US" sz="27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349240" y="8151312"/>
            <a:ext cx="7543800" cy="1050000"/>
          </a:xfrm>
          <a:prstGeom prst="roundRect">
            <a:avLst>
              <a:gd name="adj" fmla="val 9412"/>
            </a:avLst>
          </a:prstGeom>
          <a:solidFill>
            <a:srgbClr val="16213B"/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pPr defTabSz="1371600"/>
            <a:endParaRPr lang="en-US" sz="27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23560" y="8256312"/>
            <a:ext cx="6995160" cy="43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sz="2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 —  SOAR</a:t>
            </a: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623560" y="8713812"/>
            <a:ext cx="6995160" cy="34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sz="1575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intake · enrichment · automated response</a:t>
            </a:r>
            <a:endParaRPr lang="en-US" sz="15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5800" y="9793224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sz="1275" kern="0" spc="150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+ SHUFFLE SOC LAB</a:t>
            </a:r>
            <a:endParaRPr lang="en-US" sz="12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870680" y="9793224"/>
            <a:ext cx="7543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defTabSz="1371600"/>
            <a:r>
              <a:rPr lang="en-US" sz="1275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9"/>
          <p:cNvSpPr/>
          <p:nvPr/>
        </p:nvSpPr>
        <p:spPr>
          <a:xfrm>
            <a:off x="822960" y="2586312"/>
            <a:ext cx="16596360" cy="34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371600"/>
            <a:r>
              <a:rPr lang="en-US" sz="1425" b="1" kern="0" spc="225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MACHINES  ·  OUTSIDE TAILNET (LOCAL ONLY)</a:t>
            </a:r>
            <a:endParaRPr lang="en-US" sz="14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30"/>
          <p:cNvSpPr/>
          <p:nvPr/>
        </p:nvSpPr>
        <p:spPr>
          <a:xfrm>
            <a:off x="1303020" y="2991312"/>
            <a:ext cx="4869180" cy="112500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6510">
            <a:solidFill>
              <a:srgbClr val="F59E0B"/>
            </a:solidFill>
            <a:prstDash val="solid"/>
          </a:ln>
        </p:spPr>
        <p:txBody>
          <a:bodyPr/>
          <a:lstStyle/>
          <a:p>
            <a:pPr defTabSz="1371600"/>
            <a:endParaRPr lang="en-US" sz="27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31"/>
          <p:cNvSpPr/>
          <p:nvPr/>
        </p:nvSpPr>
        <p:spPr>
          <a:xfrm>
            <a:off x="1508760" y="3126312"/>
            <a:ext cx="44577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sz="2025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attacker</a:t>
            </a:r>
            <a:endParaRPr lang="en-US" sz="20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2"/>
          <p:cNvSpPr/>
          <p:nvPr/>
        </p:nvSpPr>
        <p:spPr>
          <a:xfrm>
            <a:off x="1508760" y="3568812"/>
            <a:ext cx="4457700" cy="34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sz="1575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brute force</a:t>
            </a:r>
            <a:endParaRPr lang="en-US" sz="15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3"/>
          <p:cNvSpPr/>
          <p:nvPr/>
        </p:nvSpPr>
        <p:spPr>
          <a:xfrm>
            <a:off x="6556248" y="2991312"/>
            <a:ext cx="4869180" cy="112500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6510">
            <a:solidFill>
              <a:srgbClr val="F59E0B"/>
            </a:solidFill>
            <a:prstDash val="solid"/>
          </a:ln>
        </p:spPr>
        <p:txBody>
          <a:bodyPr/>
          <a:lstStyle/>
          <a:p>
            <a:pPr defTabSz="1371600"/>
            <a:endParaRPr lang="en-US" sz="27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4"/>
          <p:cNvSpPr/>
          <p:nvPr/>
        </p:nvSpPr>
        <p:spPr>
          <a:xfrm>
            <a:off x="6761988" y="3126312"/>
            <a:ext cx="44577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sz="2025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attacker</a:t>
            </a:r>
            <a:endParaRPr lang="en-US" sz="20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5"/>
          <p:cNvSpPr/>
          <p:nvPr/>
        </p:nvSpPr>
        <p:spPr>
          <a:xfrm>
            <a:off x="6761988" y="3568812"/>
            <a:ext cx="4457700" cy="34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sz="1575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payload</a:t>
            </a:r>
            <a:endParaRPr lang="en-US" sz="15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6"/>
          <p:cNvSpPr/>
          <p:nvPr/>
        </p:nvSpPr>
        <p:spPr>
          <a:xfrm>
            <a:off x="11809476" y="2991312"/>
            <a:ext cx="4869180" cy="1125000"/>
          </a:xfrm>
          <a:prstGeom prst="roundRect">
            <a:avLst>
              <a:gd name="adj" fmla="val 8000"/>
            </a:avLst>
          </a:prstGeom>
          <a:solidFill>
            <a:srgbClr val="121B30"/>
          </a:solidFill>
          <a:ln w="16510">
            <a:solidFill>
              <a:srgbClr val="F59E0B"/>
            </a:solidFill>
            <a:prstDash val="solid"/>
          </a:ln>
        </p:spPr>
        <p:txBody>
          <a:bodyPr/>
          <a:lstStyle/>
          <a:p>
            <a:pPr defTabSz="1371600"/>
            <a:endParaRPr lang="en-US" sz="27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7"/>
          <p:cNvSpPr/>
          <p:nvPr/>
        </p:nvSpPr>
        <p:spPr>
          <a:xfrm>
            <a:off x="12015216" y="3126312"/>
            <a:ext cx="44577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sz="2025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attacker</a:t>
            </a:r>
            <a:endParaRPr lang="en-US" sz="20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8"/>
          <p:cNvSpPr/>
          <p:nvPr/>
        </p:nvSpPr>
        <p:spPr>
          <a:xfrm>
            <a:off x="12015216" y="3568812"/>
            <a:ext cx="4457700" cy="34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371600"/>
            <a:r>
              <a:rPr lang="en-US" sz="1575" dirty="0">
                <a:solidFill>
                  <a:srgbClr val="8A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&amp; control</a:t>
            </a:r>
            <a:endParaRPr lang="en-US" sz="157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9"/>
          <p:cNvSpPr/>
          <p:nvPr/>
        </p:nvSpPr>
        <p:spPr>
          <a:xfrm>
            <a:off x="3737610" y="4116312"/>
            <a:ext cx="0" cy="840000"/>
          </a:xfrm>
          <a:prstGeom prst="line">
            <a:avLst/>
          </a:prstGeom>
          <a:noFill/>
          <a:ln w="12700">
            <a:solidFill>
              <a:srgbClr val="8A97B8"/>
            </a:solidFill>
            <a:prstDash val="solid"/>
            <a:tailEnd type="triangle"/>
          </a:ln>
        </p:spPr>
        <p:txBody>
          <a:bodyPr/>
          <a:lstStyle/>
          <a:p>
            <a:pPr defTabSz="1371600"/>
            <a:endParaRPr lang="en-US" sz="27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40"/>
          <p:cNvSpPr/>
          <p:nvPr/>
        </p:nvSpPr>
        <p:spPr>
          <a:xfrm>
            <a:off x="8990838" y="4116312"/>
            <a:ext cx="0" cy="840000"/>
          </a:xfrm>
          <a:prstGeom prst="line">
            <a:avLst/>
          </a:prstGeom>
          <a:noFill/>
          <a:ln w="12700">
            <a:solidFill>
              <a:srgbClr val="8A97B8"/>
            </a:solidFill>
            <a:prstDash val="solid"/>
            <a:tailEnd type="triangle"/>
          </a:ln>
        </p:spPr>
        <p:txBody>
          <a:bodyPr/>
          <a:lstStyle/>
          <a:p>
            <a:pPr defTabSz="1371600"/>
            <a:endParaRPr lang="en-US" sz="27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41"/>
          <p:cNvSpPr/>
          <p:nvPr/>
        </p:nvSpPr>
        <p:spPr>
          <a:xfrm>
            <a:off x="14244066" y="4116312"/>
            <a:ext cx="0" cy="840000"/>
          </a:xfrm>
          <a:prstGeom prst="line">
            <a:avLst/>
          </a:prstGeom>
          <a:noFill/>
          <a:ln w="12700">
            <a:solidFill>
              <a:srgbClr val="8A97B8"/>
            </a:solidFill>
            <a:prstDash val="solid"/>
            <a:tailEnd type="triangle"/>
          </a:ln>
        </p:spPr>
        <p:txBody>
          <a:bodyPr/>
          <a:lstStyle/>
          <a:p>
            <a:pPr defTabSz="1371600"/>
            <a:endParaRPr lang="en-US" sz="27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6275" y="566547"/>
            <a:ext cx="1870710" cy="457962"/>
            <a:chOff x="0" y="0"/>
            <a:chExt cx="2494280" cy="6106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280" cy="610616"/>
            </a:xfrm>
            <a:custGeom>
              <a:avLst/>
              <a:gdLst/>
              <a:ahLst/>
              <a:cxnLst/>
              <a:rect l="l" t="t" r="r" b="b"/>
              <a:pathLst>
                <a:path w="249428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2188972" y="0"/>
                  </a:lnTo>
                  <a:cubicBezTo>
                    <a:pt x="2357628" y="0"/>
                    <a:pt x="2494280" y="136652"/>
                    <a:pt x="2494280" y="305308"/>
                  </a:cubicBezTo>
                  <a:cubicBezTo>
                    <a:pt x="2494280" y="473964"/>
                    <a:pt x="2357628" y="610616"/>
                    <a:pt x="218897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22D3EE">
                <a:alpha val="1961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576072"/>
            <a:ext cx="1851660" cy="438912"/>
            <a:chOff x="0" y="0"/>
            <a:chExt cx="2468880" cy="585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8880" cy="585216"/>
            </a:xfrm>
            <a:custGeom>
              <a:avLst/>
              <a:gdLst/>
              <a:ahLst/>
              <a:cxnLst/>
              <a:rect l="l" t="t" r="r" b="b"/>
              <a:pathLst>
                <a:path w="2468880" h="585216">
                  <a:moveTo>
                    <a:pt x="0" y="0"/>
                  </a:moveTo>
                  <a:lnTo>
                    <a:pt x="2468880" y="0"/>
                  </a:lnTo>
                  <a:lnTo>
                    <a:pt x="2468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02" b="-32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6888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 spc="15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SETUP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1069848"/>
            <a:ext cx="15773400" cy="960120"/>
            <a:chOff x="0" y="0"/>
            <a:chExt cx="2103120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Five contributors, five roles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12622" y="2665095"/>
            <a:ext cx="3146298" cy="5368290"/>
            <a:chOff x="0" y="0"/>
            <a:chExt cx="4195064" cy="71577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195064" cy="7157720"/>
            </a:xfrm>
            <a:custGeom>
              <a:avLst/>
              <a:gdLst/>
              <a:ahLst/>
              <a:cxnLst/>
              <a:rect l="l" t="t" r="r" b="b"/>
              <a:pathLst>
                <a:path w="4195064" h="715772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4011041" y="0"/>
                  </a:lnTo>
                  <a:cubicBezTo>
                    <a:pt x="4112641" y="0"/>
                    <a:pt x="4195064" y="82423"/>
                    <a:pt x="4195064" y="184023"/>
                  </a:cubicBezTo>
                  <a:lnTo>
                    <a:pt x="4195064" y="6973697"/>
                  </a:lnTo>
                  <a:cubicBezTo>
                    <a:pt x="4195064" y="7075297"/>
                    <a:pt x="4112641" y="7157720"/>
                    <a:pt x="4011041" y="7157720"/>
                  </a:cubicBezTo>
                  <a:lnTo>
                    <a:pt x="184023" y="7157720"/>
                  </a:lnTo>
                  <a:cubicBezTo>
                    <a:pt x="82423" y="7157720"/>
                    <a:pt x="0" y="7075297"/>
                    <a:pt x="0" y="6973697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88554" y="3106102"/>
            <a:ext cx="1194435" cy="1194435"/>
            <a:chOff x="0" y="0"/>
            <a:chExt cx="1592580" cy="159258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92580" cy="1592580"/>
            </a:xfrm>
            <a:custGeom>
              <a:avLst/>
              <a:gdLst/>
              <a:ahLst/>
              <a:cxnLst/>
              <a:rect l="l" t="t" r="r" b="b"/>
              <a:pathLst>
                <a:path w="1592580" h="1592580">
                  <a:moveTo>
                    <a:pt x="0" y="796290"/>
                  </a:moveTo>
                  <a:cubicBezTo>
                    <a:pt x="0" y="356489"/>
                    <a:pt x="356489" y="0"/>
                    <a:pt x="796290" y="0"/>
                  </a:cubicBezTo>
                  <a:cubicBezTo>
                    <a:pt x="1236091" y="0"/>
                    <a:pt x="1592580" y="356489"/>
                    <a:pt x="1592580" y="796290"/>
                  </a:cubicBezTo>
                  <a:cubicBezTo>
                    <a:pt x="1592580" y="1236091"/>
                    <a:pt x="1236091" y="1592580"/>
                    <a:pt x="796290" y="1592580"/>
                  </a:cubicBezTo>
                  <a:cubicBezTo>
                    <a:pt x="356489" y="1592580"/>
                    <a:pt x="0" y="1236091"/>
                    <a:pt x="0" y="796290"/>
                  </a:cubicBezTo>
                  <a:close/>
                </a:path>
              </a:pathLst>
            </a:custGeom>
            <a:solidFill>
              <a:srgbClr val="22D3EE">
                <a:alpha val="1176"/>
              </a:srgbClr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02841" y="3120390"/>
            <a:ext cx="1165860" cy="1165860"/>
            <a:chOff x="0" y="0"/>
            <a:chExt cx="1554480" cy="15544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554480" cy="16116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86739" y="4594860"/>
            <a:ext cx="2798064" cy="891540"/>
            <a:chOff x="0" y="0"/>
            <a:chExt cx="3730752" cy="11887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30752" cy="1188720"/>
            </a:xfrm>
            <a:custGeom>
              <a:avLst/>
              <a:gdLst/>
              <a:ahLst/>
              <a:cxnLst/>
              <a:rect l="l" t="t" r="r" b="b"/>
              <a:pathLst>
                <a:path w="3730752" h="1188720">
                  <a:moveTo>
                    <a:pt x="0" y="0"/>
                  </a:moveTo>
                  <a:lnTo>
                    <a:pt x="3730752" y="0"/>
                  </a:lnTo>
                  <a:lnTo>
                    <a:pt x="3730752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153" b="-1115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3730752" cy="11982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Mohamed Sabry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02207" y="5486400"/>
            <a:ext cx="2167128" cy="438912"/>
            <a:chOff x="0" y="0"/>
            <a:chExt cx="2889504" cy="5852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889504" cy="585216"/>
            </a:xfrm>
            <a:custGeom>
              <a:avLst/>
              <a:gdLst/>
              <a:ahLst/>
              <a:cxnLst/>
              <a:rect l="l" t="t" r="r" b="b"/>
              <a:pathLst>
                <a:path w="2889504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596896" y="0"/>
                  </a:lnTo>
                  <a:cubicBezTo>
                    <a:pt x="2758440" y="0"/>
                    <a:pt x="2889504" y="131064"/>
                    <a:pt x="2889504" y="292608"/>
                  </a:cubicBezTo>
                  <a:cubicBezTo>
                    <a:pt x="2889504" y="454152"/>
                    <a:pt x="2758440" y="585216"/>
                    <a:pt x="2596896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22D3EE">
                <a:alpha val="1961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86739" y="5486400"/>
            <a:ext cx="2798064" cy="438912"/>
            <a:chOff x="0" y="0"/>
            <a:chExt cx="3730752" cy="58521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730752" cy="585216"/>
            </a:xfrm>
            <a:custGeom>
              <a:avLst/>
              <a:gdLst/>
              <a:ahLst/>
              <a:cxnLst/>
              <a:rect l="l" t="t" r="r" b="b"/>
              <a:pathLst>
                <a:path w="3730752" h="585216">
                  <a:moveTo>
                    <a:pt x="0" y="0"/>
                  </a:moveTo>
                  <a:lnTo>
                    <a:pt x="3730752" y="0"/>
                  </a:lnTo>
                  <a:lnTo>
                    <a:pt x="373075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217" b="-742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3730752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Wazuh SIEM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69035" y="6103620"/>
            <a:ext cx="2633472" cy="1645920"/>
            <a:chOff x="0" y="0"/>
            <a:chExt cx="3511296" cy="219456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511296" cy="2194560"/>
            </a:xfrm>
            <a:custGeom>
              <a:avLst/>
              <a:gdLst/>
              <a:ahLst/>
              <a:cxnLst/>
              <a:rect l="l" t="t" r="r" b="b"/>
              <a:pathLst>
                <a:path w="3511296" h="2194560">
                  <a:moveTo>
                    <a:pt x="0" y="0"/>
                  </a:moveTo>
                  <a:lnTo>
                    <a:pt x="3511296" y="0"/>
                  </a:lnTo>
                  <a:lnTo>
                    <a:pt x="3511296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3511296" cy="22421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50"/>
                </a:lnSpc>
              </a:pPr>
              <a:r>
                <a:rPr lang="en-US" sz="1500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Manager deployment &amp; detection rules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141622" y="2665095"/>
            <a:ext cx="3146298" cy="5368290"/>
            <a:chOff x="0" y="0"/>
            <a:chExt cx="4195064" cy="71577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195064" cy="7157720"/>
            </a:xfrm>
            <a:custGeom>
              <a:avLst/>
              <a:gdLst/>
              <a:ahLst/>
              <a:cxnLst/>
              <a:rect l="l" t="t" r="r" b="b"/>
              <a:pathLst>
                <a:path w="4195064" h="715772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4011041" y="0"/>
                  </a:lnTo>
                  <a:cubicBezTo>
                    <a:pt x="4112641" y="0"/>
                    <a:pt x="4195064" y="82423"/>
                    <a:pt x="4195064" y="184023"/>
                  </a:cubicBezTo>
                  <a:lnTo>
                    <a:pt x="4195064" y="6973697"/>
                  </a:lnTo>
                  <a:cubicBezTo>
                    <a:pt x="4195064" y="7075297"/>
                    <a:pt x="4112641" y="7157720"/>
                    <a:pt x="4011041" y="7157720"/>
                  </a:cubicBezTo>
                  <a:lnTo>
                    <a:pt x="184023" y="7157720"/>
                  </a:lnTo>
                  <a:cubicBezTo>
                    <a:pt x="82423" y="7157720"/>
                    <a:pt x="0" y="7075297"/>
                    <a:pt x="0" y="6973697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117554" y="3106102"/>
            <a:ext cx="1194435" cy="1194435"/>
            <a:chOff x="0" y="0"/>
            <a:chExt cx="1592580" cy="15925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92580" cy="1592580"/>
            </a:xfrm>
            <a:custGeom>
              <a:avLst/>
              <a:gdLst/>
              <a:ahLst/>
              <a:cxnLst/>
              <a:rect l="l" t="t" r="r" b="b"/>
              <a:pathLst>
                <a:path w="1592580" h="1592580">
                  <a:moveTo>
                    <a:pt x="0" y="796290"/>
                  </a:moveTo>
                  <a:cubicBezTo>
                    <a:pt x="0" y="356489"/>
                    <a:pt x="356489" y="0"/>
                    <a:pt x="796290" y="0"/>
                  </a:cubicBezTo>
                  <a:cubicBezTo>
                    <a:pt x="1236091" y="0"/>
                    <a:pt x="1592580" y="356489"/>
                    <a:pt x="1592580" y="796290"/>
                  </a:cubicBezTo>
                  <a:cubicBezTo>
                    <a:pt x="1592580" y="1236091"/>
                    <a:pt x="1236091" y="1592580"/>
                    <a:pt x="796290" y="1592580"/>
                  </a:cubicBezTo>
                  <a:cubicBezTo>
                    <a:pt x="356489" y="1592580"/>
                    <a:pt x="0" y="1236091"/>
                    <a:pt x="0" y="796290"/>
                  </a:cubicBezTo>
                  <a:close/>
                </a:path>
              </a:pathLst>
            </a:custGeom>
            <a:solidFill>
              <a:srgbClr val="34D399">
                <a:alpha val="1176"/>
              </a:srgbClr>
            </a:solid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131841" y="3120390"/>
            <a:ext cx="1165860" cy="1165860"/>
            <a:chOff x="0" y="0"/>
            <a:chExt cx="1554480" cy="15544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1554480" cy="16116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OK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15739" y="4594860"/>
            <a:ext cx="2798064" cy="891540"/>
            <a:chOff x="0" y="0"/>
            <a:chExt cx="3730752" cy="118872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730752" cy="1188720"/>
            </a:xfrm>
            <a:custGeom>
              <a:avLst/>
              <a:gdLst/>
              <a:ahLst/>
              <a:cxnLst/>
              <a:rect l="l" t="t" r="r" b="b"/>
              <a:pathLst>
                <a:path w="3730752" h="1188720">
                  <a:moveTo>
                    <a:pt x="0" y="0"/>
                  </a:moveTo>
                  <a:lnTo>
                    <a:pt x="3730752" y="0"/>
                  </a:lnTo>
                  <a:lnTo>
                    <a:pt x="3730752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153" b="-1115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3730752" cy="11982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Omar Khaled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631207" y="5486400"/>
            <a:ext cx="2167128" cy="438912"/>
            <a:chOff x="0" y="0"/>
            <a:chExt cx="2889504" cy="58521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889504" cy="585216"/>
            </a:xfrm>
            <a:custGeom>
              <a:avLst/>
              <a:gdLst/>
              <a:ahLst/>
              <a:cxnLst/>
              <a:rect l="l" t="t" r="r" b="b"/>
              <a:pathLst>
                <a:path w="2889504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596896" y="0"/>
                  </a:lnTo>
                  <a:cubicBezTo>
                    <a:pt x="2758440" y="0"/>
                    <a:pt x="2889504" y="131064"/>
                    <a:pt x="2889504" y="292608"/>
                  </a:cubicBezTo>
                  <a:cubicBezTo>
                    <a:pt x="2889504" y="454152"/>
                    <a:pt x="2758440" y="585216"/>
                    <a:pt x="2596896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34D399">
                <a:alpha val="1961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315739" y="5486400"/>
            <a:ext cx="2798064" cy="438912"/>
            <a:chOff x="0" y="0"/>
            <a:chExt cx="3730752" cy="58521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730752" cy="585216"/>
            </a:xfrm>
            <a:custGeom>
              <a:avLst/>
              <a:gdLst/>
              <a:ahLst/>
              <a:cxnLst/>
              <a:rect l="l" t="t" r="r" b="b"/>
              <a:pathLst>
                <a:path w="3730752" h="585216">
                  <a:moveTo>
                    <a:pt x="0" y="0"/>
                  </a:moveTo>
                  <a:lnTo>
                    <a:pt x="3730752" y="0"/>
                  </a:lnTo>
                  <a:lnTo>
                    <a:pt x="373075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217" b="-742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3730752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Shuffle SOAR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398035" y="6103620"/>
            <a:ext cx="2633472" cy="1645920"/>
            <a:chOff x="0" y="0"/>
            <a:chExt cx="3511296" cy="219456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511296" cy="2194560"/>
            </a:xfrm>
            <a:custGeom>
              <a:avLst/>
              <a:gdLst/>
              <a:ahLst/>
              <a:cxnLst/>
              <a:rect l="l" t="t" r="r" b="b"/>
              <a:pathLst>
                <a:path w="3511296" h="2194560">
                  <a:moveTo>
                    <a:pt x="0" y="0"/>
                  </a:moveTo>
                  <a:lnTo>
                    <a:pt x="3511296" y="0"/>
                  </a:lnTo>
                  <a:lnTo>
                    <a:pt x="3511296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3511296" cy="22421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50"/>
                </a:lnSpc>
              </a:pPr>
              <a:r>
                <a:rPr lang="en-US" sz="1500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Automation, enrichment &amp; response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570622" y="2665095"/>
            <a:ext cx="3146298" cy="5368290"/>
            <a:chOff x="0" y="0"/>
            <a:chExt cx="4195064" cy="71577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195064" cy="7157720"/>
            </a:xfrm>
            <a:custGeom>
              <a:avLst/>
              <a:gdLst/>
              <a:ahLst/>
              <a:cxnLst/>
              <a:rect l="l" t="t" r="r" b="b"/>
              <a:pathLst>
                <a:path w="4195064" h="715772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4011041" y="0"/>
                  </a:lnTo>
                  <a:cubicBezTo>
                    <a:pt x="4112641" y="0"/>
                    <a:pt x="4195064" y="82423"/>
                    <a:pt x="4195064" y="184023"/>
                  </a:cubicBezTo>
                  <a:lnTo>
                    <a:pt x="4195064" y="6973697"/>
                  </a:lnTo>
                  <a:cubicBezTo>
                    <a:pt x="4195064" y="7075297"/>
                    <a:pt x="4112641" y="7157720"/>
                    <a:pt x="4011041" y="7157720"/>
                  </a:cubicBezTo>
                  <a:lnTo>
                    <a:pt x="184023" y="7157720"/>
                  </a:lnTo>
                  <a:cubicBezTo>
                    <a:pt x="82423" y="7157720"/>
                    <a:pt x="0" y="7075297"/>
                    <a:pt x="0" y="6973697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546554" y="3106102"/>
            <a:ext cx="1194435" cy="1194435"/>
            <a:chOff x="0" y="0"/>
            <a:chExt cx="1592580" cy="159258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592580" cy="1592580"/>
            </a:xfrm>
            <a:custGeom>
              <a:avLst/>
              <a:gdLst/>
              <a:ahLst/>
              <a:cxnLst/>
              <a:rect l="l" t="t" r="r" b="b"/>
              <a:pathLst>
                <a:path w="1592580" h="1592580">
                  <a:moveTo>
                    <a:pt x="0" y="796290"/>
                  </a:moveTo>
                  <a:cubicBezTo>
                    <a:pt x="0" y="356489"/>
                    <a:pt x="356489" y="0"/>
                    <a:pt x="796290" y="0"/>
                  </a:cubicBezTo>
                  <a:cubicBezTo>
                    <a:pt x="1236091" y="0"/>
                    <a:pt x="1592580" y="356489"/>
                    <a:pt x="1592580" y="796290"/>
                  </a:cubicBezTo>
                  <a:cubicBezTo>
                    <a:pt x="1592580" y="1236091"/>
                    <a:pt x="1236091" y="1592580"/>
                    <a:pt x="796290" y="1592580"/>
                  </a:cubicBezTo>
                  <a:cubicBezTo>
                    <a:pt x="356489" y="1592580"/>
                    <a:pt x="0" y="1236091"/>
                    <a:pt x="0" y="796290"/>
                  </a:cubicBezTo>
                  <a:close/>
                </a:path>
              </a:pathLst>
            </a:custGeom>
            <a:solidFill>
              <a:srgbClr val="FF6B6B">
                <a:alpha val="1176"/>
              </a:srgbClr>
            </a:solidFill>
            <a:ln w="28575" cap="sq">
              <a:solidFill>
                <a:srgbClr val="FF6B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560841" y="3120390"/>
            <a:ext cx="1165860" cy="1165860"/>
            <a:chOff x="0" y="0"/>
            <a:chExt cx="1554480" cy="155448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57150"/>
              <a:ext cx="1554480" cy="16116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MM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744739" y="4594860"/>
            <a:ext cx="2798064" cy="891540"/>
            <a:chOff x="0" y="0"/>
            <a:chExt cx="3730752" cy="11887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730752" cy="1188720"/>
            </a:xfrm>
            <a:custGeom>
              <a:avLst/>
              <a:gdLst/>
              <a:ahLst/>
              <a:cxnLst/>
              <a:rect l="l" t="t" r="r" b="b"/>
              <a:pathLst>
                <a:path w="3730752" h="1188720">
                  <a:moveTo>
                    <a:pt x="0" y="0"/>
                  </a:moveTo>
                  <a:lnTo>
                    <a:pt x="3730752" y="0"/>
                  </a:lnTo>
                  <a:lnTo>
                    <a:pt x="3730752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153" b="-1115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3730752" cy="11982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Mohamed Massoud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060207" y="5486400"/>
            <a:ext cx="2167128" cy="438912"/>
            <a:chOff x="0" y="0"/>
            <a:chExt cx="2889504" cy="58521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889504" cy="585216"/>
            </a:xfrm>
            <a:custGeom>
              <a:avLst/>
              <a:gdLst/>
              <a:ahLst/>
              <a:cxnLst/>
              <a:rect l="l" t="t" r="r" b="b"/>
              <a:pathLst>
                <a:path w="2889504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596896" y="0"/>
                  </a:lnTo>
                  <a:cubicBezTo>
                    <a:pt x="2758440" y="0"/>
                    <a:pt x="2889504" y="131064"/>
                    <a:pt x="2889504" y="292608"/>
                  </a:cubicBezTo>
                  <a:cubicBezTo>
                    <a:pt x="2889504" y="454152"/>
                    <a:pt x="2758440" y="585216"/>
                    <a:pt x="2596896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F6B6B">
                <a:alpha val="1961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744739" y="5486400"/>
            <a:ext cx="2798064" cy="438912"/>
            <a:chOff x="0" y="0"/>
            <a:chExt cx="3730752" cy="58521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730752" cy="585216"/>
            </a:xfrm>
            <a:custGeom>
              <a:avLst/>
              <a:gdLst/>
              <a:ahLst/>
              <a:cxnLst/>
              <a:rect l="l" t="t" r="r" b="b"/>
              <a:pathLst>
                <a:path w="3730752" h="585216">
                  <a:moveTo>
                    <a:pt x="0" y="0"/>
                  </a:moveTo>
                  <a:lnTo>
                    <a:pt x="3730752" y="0"/>
                  </a:lnTo>
                  <a:lnTo>
                    <a:pt x="373075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217" b="-742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3730752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SSH target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827035" y="6103620"/>
            <a:ext cx="2633472" cy="1645920"/>
            <a:chOff x="0" y="0"/>
            <a:chExt cx="3511296" cy="219456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511296" cy="2194560"/>
            </a:xfrm>
            <a:custGeom>
              <a:avLst/>
              <a:gdLst/>
              <a:ahLst/>
              <a:cxnLst/>
              <a:rect l="l" t="t" r="r" b="b"/>
              <a:pathLst>
                <a:path w="3511296" h="2194560">
                  <a:moveTo>
                    <a:pt x="0" y="0"/>
                  </a:moveTo>
                  <a:lnTo>
                    <a:pt x="3511296" y="0"/>
                  </a:lnTo>
                  <a:lnTo>
                    <a:pt x="3511296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47625"/>
              <a:ext cx="3511296" cy="22421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50"/>
                </a:lnSpc>
              </a:pPr>
              <a:r>
                <a:rPr lang="en-US" sz="1500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Ubuntu victim — brute force scenario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0999622" y="2665095"/>
            <a:ext cx="3146298" cy="5368290"/>
            <a:chOff x="0" y="0"/>
            <a:chExt cx="4195064" cy="715772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195064" cy="7157720"/>
            </a:xfrm>
            <a:custGeom>
              <a:avLst/>
              <a:gdLst/>
              <a:ahLst/>
              <a:cxnLst/>
              <a:rect l="l" t="t" r="r" b="b"/>
              <a:pathLst>
                <a:path w="4195064" h="715772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4011041" y="0"/>
                  </a:lnTo>
                  <a:cubicBezTo>
                    <a:pt x="4112641" y="0"/>
                    <a:pt x="4195064" y="82423"/>
                    <a:pt x="4195064" y="184023"/>
                  </a:cubicBezTo>
                  <a:lnTo>
                    <a:pt x="4195064" y="6973697"/>
                  </a:lnTo>
                  <a:cubicBezTo>
                    <a:pt x="4195064" y="7075297"/>
                    <a:pt x="4112641" y="7157720"/>
                    <a:pt x="4011041" y="7157720"/>
                  </a:cubicBezTo>
                  <a:lnTo>
                    <a:pt x="184023" y="7157720"/>
                  </a:lnTo>
                  <a:cubicBezTo>
                    <a:pt x="82423" y="7157720"/>
                    <a:pt x="0" y="7075297"/>
                    <a:pt x="0" y="6973697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1975554" y="3106102"/>
            <a:ext cx="1194435" cy="1194435"/>
            <a:chOff x="0" y="0"/>
            <a:chExt cx="1592580" cy="159258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592580" cy="1592580"/>
            </a:xfrm>
            <a:custGeom>
              <a:avLst/>
              <a:gdLst/>
              <a:ahLst/>
              <a:cxnLst/>
              <a:rect l="l" t="t" r="r" b="b"/>
              <a:pathLst>
                <a:path w="1592580" h="1592580">
                  <a:moveTo>
                    <a:pt x="0" y="796290"/>
                  </a:moveTo>
                  <a:cubicBezTo>
                    <a:pt x="0" y="356489"/>
                    <a:pt x="356489" y="0"/>
                    <a:pt x="796290" y="0"/>
                  </a:cubicBezTo>
                  <a:cubicBezTo>
                    <a:pt x="1236091" y="0"/>
                    <a:pt x="1592580" y="356489"/>
                    <a:pt x="1592580" y="796290"/>
                  </a:cubicBezTo>
                  <a:cubicBezTo>
                    <a:pt x="1592580" y="1236091"/>
                    <a:pt x="1236091" y="1592580"/>
                    <a:pt x="796290" y="1592580"/>
                  </a:cubicBezTo>
                  <a:cubicBezTo>
                    <a:pt x="356489" y="1592580"/>
                    <a:pt x="0" y="1236091"/>
                    <a:pt x="0" y="796290"/>
                  </a:cubicBezTo>
                  <a:close/>
                </a:path>
              </a:pathLst>
            </a:custGeom>
            <a:solidFill>
              <a:srgbClr val="FF6B6B">
                <a:alpha val="1176"/>
              </a:srgbClr>
            </a:solidFill>
            <a:ln w="28575" cap="sq">
              <a:solidFill>
                <a:srgbClr val="FF6B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1989841" y="3120390"/>
            <a:ext cx="1165860" cy="1165860"/>
            <a:chOff x="0" y="0"/>
            <a:chExt cx="1554480" cy="155448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57150"/>
              <a:ext cx="1554480" cy="16116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1173739" y="4594860"/>
            <a:ext cx="2798064" cy="891540"/>
            <a:chOff x="0" y="0"/>
            <a:chExt cx="3730752" cy="118872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730752" cy="1188720"/>
            </a:xfrm>
            <a:custGeom>
              <a:avLst/>
              <a:gdLst/>
              <a:ahLst/>
              <a:cxnLst/>
              <a:rect l="l" t="t" r="r" b="b"/>
              <a:pathLst>
                <a:path w="3730752" h="1188720">
                  <a:moveTo>
                    <a:pt x="0" y="0"/>
                  </a:moveTo>
                  <a:lnTo>
                    <a:pt x="3730752" y="0"/>
                  </a:lnTo>
                  <a:lnTo>
                    <a:pt x="3730752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153" b="-1115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9525"/>
              <a:ext cx="3730752" cy="11982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Karim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1489207" y="5486400"/>
            <a:ext cx="2167128" cy="438912"/>
            <a:chOff x="0" y="0"/>
            <a:chExt cx="2889504" cy="58521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889504" cy="585216"/>
            </a:xfrm>
            <a:custGeom>
              <a:avLst/>
              <a:gdLst/>
              <a:ahLst/>
              <a:cxnLst/>
              <a:rect l="l" t="t" r="r" b="b"/>
              <a:pathLst>
                <a:path w="2889504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596896" y="0"/>
                  </a:lnTo>
                  <a:cubicBezTo>
                    <a:pt x="2758440" y="0"/>
                    <a:pt x="2889504" y="131064"/>
                    <a:pt x="2889504" y="292608"/>
                  </a:cubicBezTo>
                  <a:cubicBezTo>
                    <a:pt x="2889504" y="454152"/>
                    <a:pt x="2758440" y="585216"/>
                    <a:pt x="2596896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F6B6B">
                <a:alpha val="1961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1173739" y="5486400"/>
            <a:ext cx="2798064" cy="438912"/>
            <a:chOff x="0" y="0"/>
            <a:chExt cx="3730752" cy="585216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730752" cy="585216"/>
            </a:xfrm>
            <a:custGeom>
              <a:avLst/>
              <a:gdLst/>
              <a:ahLst/>
              <a:cxnLst/>
              <a:rect l="l" t="t" r="r" b="b"/>
              <a:pathLst>
                <a:path w="3730752" h="585216">
                  <a:moveTo>
                    <a:pt x="0" y="0"/>
                  </a:moveTo>
                  <a:lnTo>
                    <a:pt x="3730752" y="0"/>
                  </a:lnTo>
                  <a:lnTo>
                    <a:pt x="373075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217" b="-742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3730752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PowerShell target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1256035" y="6103620"/>
            <a:ext cx="2633472" cy="1645920"/>
            <a:chOff x="0" y="0"/>
            <a:chExt cx="3511296" cy="219456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3511296" cy="2194560"/>
            </a:xfrm>
            <a:custGeom>
              <a:avLst/>
              <a:gdLst/>
              <a:ahLst/>
              <a:cxnLst/>
              <a:rect l="l" t="t" r="r" b="b"/>
              <a:pathLst>
                <a:path w="3511296" h="2194560">
                  <a:moveTo>
                    <a:pt x="0" y="0"/>
                  </a:moveTo>
                  <a:lnTo>
                    <a:pt x="3511296" y="0"/>
                  </a:lnTo>
                  <a:lnTo>
                    <a:pt x="3511296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47625"/>
              <a:ext cx="3511296" cy="22421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50"/>
                </a:lnSpc>
              </a:pPr>
              <a:r>
                <a:rPr lang="en-US" sz="1500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Windows victim — malicious script exec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4428622" y="2665095"/>
            <a:ext cx="3146298" cy="5368290"/>
            <a:chOff x="0" y="0"/>
            <a:chExt cx="4195064" cy="715772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4195064" cy="7157720"/>
            </a:xfrm>
            <a:custGeom>
              <a:avLst/>
              <a:gdLst/>
              <a:ahLst/>
              <a:cxnLst/>
              <a:rect l="l" t="t" r="r" b="b"/>
              <a:pathLst>
                <a:path w="4195064" h="7157720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4011041" y="0"/>
                  </a:lnTo>
                  <a:cubicBezTo>
                    <a:pt x="4112641" y="0"/>
                    <a:pt x="4195064" y="82423"/>
                    <a:pt x="4195064" y="184023"/>
                  </a:cubicBezTo>
                  <a:lnTo>
                    <a:pt x="4195064" y="6973697"/>
                  </a:lnTo>
                  <a:cubicBezTo>
                    <a:pt x="4195064" y="7075297"/>
                    <a:pt x="4112641" y="7157720"/>
                    <a:pt x="4011041" y="7157720"/>
                  </a:cubicBezTo>
                  <a:lnTo>
                    <a:pt x="184023" y="7157720"/>
                  </a:lnTo>
                  <a:cubicBezTo>
                    <a:pt x="82423" y="7157720"/>
                    <a:pt x="0" y="7075297"/>
                    <a:pt x="0" y="6973697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5404554" y="3106102"/>
            <a:ext cx="1194435" cy="1194435"/>
            <a:chOff x="0" y="0"/>
            <a:chExt cx="1592580" cy="159258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592580" cy="1592580"/>
            </a:xfrm>
            <a:custGeom>
              <a:avLst/>
              <a:gdLst/>
              <a:ahLst/>
              <a:cxnLst/>
              <a:rect l="l" t="t" r="r" b="b"/>
              <a:pathLst>
                <a:path w="1592580" h="1592580">
                  <a:moveTo>
                    <a:pt x="0" y="796290"/>
                  </a:moveTo>
                  <a:cubicBezTo>
                    <a:pt x="0" y="356489"/>
                    <a:pt x="356489" y="0"/>
                    <a:pt x="796290" y="0"/>
                  </a:cubicBezTo>
                  <a:cubicBezTo>
                    <a:pt x="1236091" y="0"/>
                    <a:pt x="1592580" y="356489"/>
                    <a:pt x="1592580" y="796290"/>
                  </a:cubicBezTo>
                  <a:cubicBezTo>
                    <a:pt x="1592580" y="1236091"/>
                    <a:pt x="1236091" y="1592580"/>
                    <a:pt x="796290" y="1592580"/>
                  </a:cubicBezTo>
                  <a:cubicBezTo>
                    <a:pt x="356489" y="1592580"/>
                    <a:pt x="0" y="1236091"/>
                    <a:pt x="0" y="796290"/>
                  </a:cubicBezTo>
                  <a:close/>
                </a:path>
              </a:pathLst>
            </a:custGeom>
            <a:solidFill>
              <a:srgbClr val="FF6B6B">
                <a:alpha val="1176"/>
              </a:srgbClr>
            </a:solidFill>
            <a:ln w="28575" cap="sq">
              <a:solidFill>
                <a:srgbClr val="FF6B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5418841" y="3120390"/>
            <a:ext cx="1165860" cy="1165860"/>
            <a:chOff x="0" y="0"/>
            <a:chExt cx="1554480" cy="155448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57150"/>
              <a:ext cx="1554480" cy="16116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MB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4602739" y="4594860"/>
            <a:ext cx="2798064" cy="891540"/>
            <a:chOff x="0" y="0"/>
            <a:chExt cx="3730752" cy="118872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730752" cy="1188720"/>
            </a:xfrm>
            <a:custGeom>
              <a:avLst/>
              <a:gdLst/>
              <a:ahLst/>
              <a:cxnLst/>
              <a:rect l="l" t="t" r="r" b="b"/>
              <a:pathLst>
                <a:path w="3730752" h="1188720">
                  <a:moveTo>
                    <a:pt x="0" y="0"/>
                  </a:moveTo>
                  <a:lnTo>
                    <a:pt x="3730752" y="0"/>
                  </a:lnTo>
                  <a:lnTo>
                    <a:pt x="3730752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153" b="-1115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9525"/>
              <a:ext cx="3730752" cy="11982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Mohamed Bushnak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4918207" y="5486400"/>
            <a:ext cx="2167128" cy="438912"/>
            <a:chOff x="0" y="0"/>
            <a:chExt cx="2889504" cy="585216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2889504" cy="585216"/>
            </a:xfrm>
            <a:custGeom>
              <a:avLst/>
              <a:gdLst/>
              <a:ahLst/>
              <a:cxnLst/>
              <a:rect l="l" t="t" r="r" b="b"/>
              <a:pathLst>
                <a:path w="2889504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596896" y="0"/>
                  </a:lnTo>
                  <a:cubicBezTo>
                    <a:pt x="2758440" y="0"/>
                    <a:pt x="2889504" y="131064"/>
                    <a:pt x="2889504" y="292608"/>
                  </a:cubicBezTo>
                  <a:cubicBezTo>
                    <a:pt x="2889504" y="454152"/>
                    <a:pt x="2758440" y="585216"/>
                    <a:pt x="2596896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F6B6B">
                <a:alpha val="1961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4602739" y="5486400"/>
            <a:ext cx="2798064" cy="438912"/>
            <a:chOff x="0" y="0"/>
            <a:chExt cx="3730752" cy="585216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3730752" cy="585216"/>
            </a:xfrm>
            <a:custGeom>
              <a:avLst/>
              <a:gdLst/>
              <a:ahLst/>
              <a:cxnLst/>
              <a:rect l="l" t="t" r="r" b="b"/>
              <a:pathLst>
                <a:path w="3730752" h="585216">
                  <a:moveTo>
                    <a:pt x="0" y="0"/>
                  </a:moveTo>
                  <a:lnTo>
                    <a:pt x="3730752" y="0"/>
                  </a:lnTo>
                  <a:lnTo>
                    <a:pt x="373075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217" b="-7421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0" y="-38100"/>
              <a:ext cx="3730752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 b="1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C2 target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4685035" y="6103620"/>
            <a:ext cx="2633472" cy="1645920"/>
            <a:chOff x="0" y="0"/>
            <a:chExt cx="3511296" cy="219456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3511296" cy="2194560"/>
            </a:xfrm>
            <a:custGeom>
              <a:avLst/>
              <a:gdLst/>
              <a:ahLst/>
              <a:cxnLst/>
              <a:rect l="l" t="t" r="r" b="b"/>
              <a:pathLst>
                <a:path w="3511296" h="2194560">
                  <a:moveTo>
                    <a:pt x="0" y="0"/>
                  </a:moveTo>
                  <a:lnTo>
                    <a:pt x="3511296" y="0"/>
                  </a:lnTo>
                  <a:lnTo>
                    <a:pt x="3511296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r="-3018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0" y="-47625"/>
              <a:ext cx="3511296" cy="22421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50"/>
                </a:lnSpc>
              </a:pPr>
              <a:r>
                <a:rPr lang="en-US" sz="1500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Windows Server — command &amp; control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685800" y="9793224"/>
            <a:ext cx="6858000" cy="384048"/>
            <a:chOff x="0" y="0"/>
            <a:chExt cx="9144000" cy="512064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9144000" cy="512064"/>
            </a:xfrm>
            <a:custGeom>
              <a:avLst/>
              <a:gdLst/>
              <a:ahLst/>
              <a:cxnLst/>
              <a:rect l="l" t="t" r="r" b="b"/>
              <a:pathLst>
                <a:path w="9144000" h="512064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0" y="-28575"/>
              <a:ext cx="91440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spc="149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WAZUH + SHUFFLE SOC LAB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6870680" y="9793224"/>
            <a:ext cx="754380" cy="384048"/>
            <a:chOff x="0" y="0"/>
            <a:chExt cx="1005840" cy="512064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1005840" cy="512064"/>
            </a:xfrm>
            <a:custGeom>
              <a:avLst/>
              <a:gdLst/>
              <a:ahLst/>
              <a:cxnLst/>
              <a:rect l="l" t="t" r="r" b="b"/>
              <a:pathLst>
                <a:path w="1005840" h="512064">
                  <a:moveTo>
                    <a:pt x="0" y="0"/>
                  </a:moveTo>
                  <a:lnTo>
                    <a:pt x="1005840" y="0"/>
                  </a:lnTo>
                  <a:lnTo>
                    <a:pt x="10058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r="-153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0" y="-28575"/>
              <a:ext cx="100584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6275" y="566547"/>
            <a:ext cx="1870710" cy="457962"/>
            <a:chOff x="0" y="0"/>
            <a:chExt cx="2494280" cy="6106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280" cy="610616"/>
            </a:xfrm>
            <a:custGeom>
              <a:avLst/>
              <a:gdLst/>
              <a:ahLst/>
              <a:cxnLst/>
              <a:rect l="l" t="t" r="r" b="b"/>
              <a:pathLst>
                <a:path w="249428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2188972" y="0"/>
                  </a:lnTo>
                  <a:cubicBezTo>
                    <a:pt x="2357628" y="0"/>
                    <a:pt x="2494280" y="136652"/>
                    <a:pt x="2494280" y="305308"/>
                  </a:cubicBezTo>
                  <a:cubicBezTo>
                    <a:pt x="2494280" y="473964"/>
                    <a:pt x="2357628" y="610616"/>
                    <a:pt x="218897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22D3EE">
                <a:alpha val="1961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576072"/>
            <a:ext cx="1851660" cy="438912"/>
            <a:chOff x="0" y="0"/>
            <a:chExt cx="2468880" cy="585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8880" cy="585216"/>
            </a:xfrm>
            <a:custGeom>
              <a:avLst/>
              <a:gdLst/>
              <a:ahLst/>
              <a:cxnLst/>
              <a:rect l="l" t="t" r="r" b="b"/>
              <a:pathLst>
                <a:path w="2468880" h="585216">
                  <a:moveTo>
                    <a:pt x="0" y="0"/>
                  </a:moveTo>
                  <a:lnTo>
                    <a:pt x="2468880" y="0"/>
                  </a:lnTo>
                  <a:lnTo>
                    <a:pt x="2468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02" b="-32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6888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 spc="15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SETUP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1069848"/>
            <a:ext cx="15773400" cy="960120"/>
            <a:chOff x="0" y="0"/>
            <a:chExt cx="2103120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Tailscale mesh connectivity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947672"/>
            <a:ext cx="16184880" cy="822960"/>
            <a:chOff x="0" y="0"/>
            <a:chExt cx="21579840" cy="10972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579839" cy="1097280"/>
            </a:xfrm>
            <a:custGeom>
              <a:avLst/>
              <a:gdLst/>
              <a:ahLst/>
              <a:cxnLst/>
              <a:rect l="l" t="t" r="r" b="b"/>
              <a:pathLst>
                <a:path w="21579839" h="1097280">
                  <a:moveTo>
                    <a:pt x="0" y="0"/>
                  </a:moveTo>
                  <a:lnTo>
                    <a:pt x="21579839" y="0"/>
                  </a:lnTo>
                  <a:lnTo>
                    <a:pt x="215798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3205" b="-33320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21579840" cy="11639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0"/>
                </a:lnSpc>
              </a:pPr>
              <a:r>
                <a:rPr lang="en-US" sz="18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Five machines, five networks, one private tailnet — every node reachable on a flat 100.x address space.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31139" y="3131439"/>
            <a:ext cx="10470642" cy="4943094"/>
            <a:chOff x="0" y="0"/>
            <a:chExt cx="13960856" cy="659079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960856" cy="6590792"/>
            </a:xfrm>
            <a:custGeom>
              <a:avLst/>
              <a:gdLst/>
              <a:ahLst/>
              <a:cxnLst/>
              <a:rect l="l" t="t" r="r" b="b"/>
              <a:pathLst>
                <a:path w="13960856" h="6590792">
                  <a:moveTo>
                    <a:pt x="0" y="165227"/>
                  </a:moveTo>
                  <a:cubicBezTo>
                    <a:pt x="0" y="73914"/>
                    <a:pt x="73914" y="0"/>
                    <a:pt x="165227" y="0"/>
                  </a:cubicBezTo>
                  <a:lnTo>
                    <a:pt x="13795629" y="0"/>
                  </a:lnTo>
                  <a:cubicBezTo>
                    <a:pt x="13886942" y="0"/>
                    <a:pt x="13960856" y="73914"/>
                    <a:pt x="13960856" y="165227"/>
                  </a:cubicBezTo>
                  <a:lnTo>
                    <a:pt x="13960856" y="6425565"/>
                  </a:lnTo>
                  <a:cubicBezTo>
                    <a:pt x="13960856" y="6516878"/>
                    <a:pt x="13886942" y="6590792"/>
                    <a:pt x="13795629" y="6590792"/>
                  </a:cubicBezTo>
                  <a:lnTo>
                    <a:pt x="165227" y="6590792"/>
                  </a:lnTo>
                  <a:cubicBezTo>
                    <a:pt x="73914" y="6590792"/>
                    <a:pt x="0" y="6516878"/>
                    <a:pt x="0" y="6425565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22960" y="3223260"/>
            <a:ext cx="10287000" cy="4759452"/>
            <a:chOff x="0" y="0"/>
            <a:chExt cx="13716000" cy="6345936"/>
          </a:xfrm>
        </p:grpSpPr>
        <p:sp>
          <p:nvSpPr>
            <p:cNvPr id="16" name="Freeform 16" descr="clean_assets/tailscale_machines_5nodes.png"/>
            <p:cNvSpPr/>
            <p:nvPr/>
          </p:nvSpPr>
          <p:spPr>
            <a:xfrm>
              <a:off x="0" y="0"/>
              <a:ext cx="13716000" cy="6345936"/>
            </a:xfrm>
            <a:custGeom>
              <a:avLst/>
              <a:gdLst/>
              <a:ahLst/>
              <a:cxnLst/>
              <a:rect l="l" t="t" r="r" b="b"/>
              <a:pathLst>
                <a:path w="13716000" h="6345936">
                  <a:moveTo>
                    <a:pt x="0" y="0"/>
                  </a:moveTo>
                  <a:lnTo>
                    <a:pt x="13716000" y="0"/>
                  </a:lnTo>
                  <a:lnTo>
                    <a:pt x="13716000" y="6345936"/>
                  </a:lnTo>
                  <a:lnTo>
                    <a:pt x="0" y="6345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9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6377" y="3126676"/>
            <a:ext cx="10480167" cy="4952619"/>
            <a:chOff x="0" y="0"/>
            <a:chExt cx="13973556" cy="66034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973556" cy="6603492"/>
            </a:xfrm>
            <a:custGeom>
              <a:avLst/>
              <a:gdLst/>
              <a:ahLst/>
              <a:cxnLst/>
              <a:rect l="l" t="t" r="r" b="b"/>
              <a:pathLst>
                <a:path w="13973556" h="6603492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13807948" y="0"/>
                  </a:lnTo>
                  <a:cubicBezTo>
                    <a:pt x="13899387" y="0"/>
                    <a:pt x="13973556" y="74168"/>
                    <a:pt x="13973556" y="165608"/>
                  </a:cubicBezTo>
                  <a:lnTo>
                    <a:pt x="13973556" y="6437884"/>
                  </a:lnTo>
                  <a:cubicBezTo>
                    <a:pt x="13973556" y="6529324"/>
                    <a:pt x="13899387" y="6603492"/>
                    <a:pt x="13807948" y="6603492"/>
                  </a:cubicBezTo>
                  <a:lnTo>
                    <a:pt x="165608" y="6603492"/>
                  </a:lnTo>
                  <a:cubicBezTo>
                    <a:pt x="74168" y="6603492"/>
                    <a:pt x="0" y="6529324"/>
                    <a:pt x="0" y="6437884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632" r="-10632"/>
              </a:stretch>
            </a:blip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2960" y="8119872"/>
            <a:ext cx="10287000" cy="411480"/>
            <a:chOff x="0" y="0"/>
            <a:chExt cx="13716000" cy="548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716000" cy="548640"/>
            </a:xfrm>
            <a:custGeom>
              <a:avLst/>
              <a:gdLst/>
              <a:ahLst/>
              <a:cxnLst/>
              <a:rect l="l" t="t" r="r" b="b"/>
              <a:pathLst>
                <a:path w="13716000" h="548640">
                  <a:moveTo>
                    <a:pt x="0" y="0"/>
                  </a:moveTo>
                  <a:lnTo>
                    <a:pt x="13716000" y="0"/>
                  </a:lnTo>
                  <a:lnTo>
                    <a:pt x="13716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137160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All 5 lab machines online in the tailnet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511915" y="3213735"/>
            <a:ext cx="5916930" cy="1390650"/>
            <a:chOff x="0" y="0"/>
            <a:chExt cx="7889240" cy="1854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889240" cy="1854200"/>
            </a:xfrm>
            <a:custGeom>
              <a:avLst/>
              <a:gdLst/>
              <a:ahLst/>
              <a:cxnLst/>
              <a:rect l="l" t="t" r="r" b="b"/>
              <a:pathLst>
                <a:path w="7889240" h="185420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7740904" y="0"/>
                  </a:lnTo>
                  <a:cubicBezTo>
                    <a:pt x="7822819" y="0"/>
                    <a:pt x="7889240" y="66421"/>
                    <a:pt x="7889240" y="148336"/>
                  </a:cubicBezTo>
                  <a:lnTo>
                    <a:pt x="7889240" y="1705864"/>
                  </a:lnTo>
                  <a:cubicBezTo>
                    <a:pt x="7889240" y="1787779"/>
                    <a:pt x="7822819" y="1854200"/>
                    <a:pt x="7740904" y="1854200"/>
                  </a:cubicBezTo>
                  <a:lnTo>
                    <a:pt x="148336" y="1854200"/>
                  </a:lnTo>
                  <a:cubicBezTo>
                    <a:pt x="66421" y="1854200"/>
                    <a:pt x="0" y="1787779"/>
                    <a:pt x="0" y="1705864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864340" y="3360420"/>
            <a:ext cx="5212080" cy="438912"/>
            <a:chOff x="0" y="0"/>
            <a:chExt cx="6949440" cy="58521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949440" cy="585216"/>
            </a:xfrm>
            <a:custGeom>
              <a:avLst/>
              <a:gdLst/>
              <a:ahLst/>
              <a:cxnLst/>
              <a:rect l="l" t="t" r="r" b="b"/>
              <a:pathLst>
                <a:path w="6949440" h="585216">
                  <a:moveTo>
                    <a:pt x="0" y="0"/>
                  </a:moveTo>
                  <a:lnTo>
                    <a:pt x="6949440" y="0"/>
                  </a:lnTo>
                  <a:lnTo>
                    <a:pt x="6949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384" b="-18138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694944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Only endpoints join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864340" y="3826764"/>
            <a:ext cx="5212080" cy="685800"/>
            <a:chOff x="0" y="0"/>
            <a:chExt cx="6949440" cy="914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949440" cy="914400"/>
            </a:xfrm>
            <a:custGeom>
              <a:avLst/>
              <a:gdLst/>
              <a:ahLst/>
              <a:cxnLst/>
              <a:rect l="l" t="t" r="r" b="b"/>
              <a:pathLst>
                <a:path w="6949440" h="914400">
                  <a:moveTo>
                    <a:pt x="0" y="0"/>
                  </a:moveTo>
                  <a:lnTo>
                    <a:pt x="6949440" y="0"/>
                  </a:lnTo>
                  <a:lnTo>
                    <a:pt x="6949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086" b="-9808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6949440" cy="942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Victim VMs, the manager, and Shuffle — attacker VMs stay fully local.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511915" y="4832223"/>
            <a:ext cx="5916930" cy="1390650"/>
            <a:chOff x="0" y="0"/>
            <a:chExt cx="7889240" cy="1854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889240" cy="1854200"/>
            </a:xfrm>
            <a:custGeom>
              <a:avLst/>
              <a:gdLst/>
              <a:ahLst/>
              <a:cxnLst/>
              <a:rect l="l" t="t" r="r" b="b"/>
              <a:pathLst>
                <a:path w="7889240" h="185420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7740904" y="0"/>
                  </a:lnTo>
                  <a:cubicBezTo>
                    <a:pt x="7822819" y="0"/>
                    <a:pt x="7889240" y="66421"/>
                    <a:pt x="7889240" y="148336"/>
                  </a:cubicBezTo>
                  <a:lnTo>
                    <a:pt x="7889240" y="1705864"/>
                  </a:lnTo>
                  <a:cubicBezTo>
                    <a:pt x="7889240" y="1787779"/>
                    <a:pt x="7822819" y="1854200"/>
                    <a:pt x="7740904" y="1854200"/>
                  </a:cubicBezTo>
                  <a:lnTo>
                    <a:pt x="148336" y="1854200"/>
                  </a:lnTo>
                  <a:cubicBezTo>
                    <a:pt x="66421" y="1854200"/>
                    <a:pt x="0" y="1787779"/>
                    <a:pt x="0" y="1705864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864340" y="4978908"/>
            <a:ext cx="5212080" cy="438912"/>
            <a:chOff x="0" y="0"/>
            <a:chExt cx="6949440" cy="58521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949440" cy="585216"/>
            </a:xfrm>
            <a:custGeom>
              <a:avLst/>
              <a:gdLst/>
              <a:ahLst/>
              <a:cxnLst/>
              <a:rect l="l" t="t" r="r" b="b"/>
              <a:pathLst>
                <a:path w="6949440" h="585216">
                  <a:moveTo>
                    <a:pt x="0" y="0"/>
                  </a:moveTo>
                  <a:lnTo>
                    <a:pt x="6949440" y="0"/>
                  </a:lnTo>
                  <a:lnTo>
                    <a:pt x="6949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384" b="-18138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694944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Owner-approved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864340" y="5445252"/>
            <a:ext cx="5212080" cy="685800"/>
            <a:chOff x="0" y="0"/>
            <a:chExt cx="6949440" cy="914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949440" cy="914400"/>
            </a:xfrm>
            <a:custGeom>
              <a:avLst/>
              <a:gdLst/>
              <a:ahLst/>
              <a:cxnLst/>
              <a:rect l="l" t="t" r="r" b="b"/>
              <a:pathLst>
                <a:path w="6949440" h="914400">
                  <a:moveTo>
                    <a:pt x="0" y="0"/>
                  </a:moveTo>
                  <a:lnTo>
                    <a:pt x="6949440" y="0"/>
                  </a:lnTo>
                  <a:lnTo>
                    <a:pt x="6949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086" b="-9808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6949440" cy="942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new device is manually approved before it can reach the mesh.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511915" y="6450711"/>
            <a:ext cx="5916930" cy="1390650"/>
            <a:chOff x="0" y="0"/>
            <a:chExt cx="7889240" cy="1854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889240" cy="1854200"/>
            </a:xfrm>
            <a:custGeom>
              <a:avLst/>
              <a:gdLst/>
              <a:ahLst/>
              <a:cxnLst/>
              <a:rect l="l" t="t" r="r" b="b"/>
              <a:pathLst>
                <a:path w="7889240" h="185420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7740904" y="0"/>
                  </a:lnTo>
                  <a:cubicBezTo>
                    <a:pt x="7822819" y="0"/>
                    <a:pt x="7889240" y="66421"/>
                    <a:pt x="7889240" y="148336"/>
                  </a:cubicBezTo>
                  <a:lnTo>
                    <a:pt x="7889240" y="1705864"/>
                  </a:lnTo>
                  <a:cubicBezTo>
                    <a:pt x="7889240" y="1787779"/>
                    <a:pt x="7822819" y="1854200"/>
                    <a:pt x="7740904" y="1854200"/>
                  </a:cubicBezTo>
                  <a:lnTo>
                    <a:pt x="148336" y="1854200"/>
                  </a:lnTo>
                  <a:cubicBezTo>
                    <a:pt x="66421" y="1854200"/>
                    <a:pt x="0" y="1787779"/>
                    <a:pt x="0" y="1705864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864340" y="6597396"/>
            <a:ext cx="5212080" cy="438912"/>
            <a:chOff x="0" y="0"/>
            <a:chExt cx="6949440" cy="58521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949440" cy="585216"/>
            </a:xfrm>
            <a:custGeom>
              <a:avLst/>
              <a:gdLst/>
              <a:ahLst/>
              <a:cxnLst/>
              <a:rect l="l" t="t" r="r" b="b"/>
              <a:pathLst>
                <a:path w="6949440" h="585216">
                  <a:moveTo>
                    <a:pt x="0" y="0"/>
                  </a:moveTo>
                  <a:lnTo>
                    <a:pt x="6949440" y="0"/>
                  </a:lnTo>
                  <a:lnTo>
                    <a:pt x="6949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384" b="-18138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694944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Location-independent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864340" y="7063740"/>
            <a:ext cx="5212080" cy="685800"/>
            <a:chOff x="0" y="0"/>
            <a:chExt cx="6949440" cy="914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949440" cy="914400"/>
            </a:xfrm>
            <a:custGeom>
              <a:avLst/>
              <a:gdLst/>
              <a:ahLst/>
              <a:cxnLst/>
              <a:rect l="l" t="t" r="r" b="b"/>
              <a:pathLst>
                <a:path w="6949440" h="914400">
                  <a:moveTo>
                    <a:pt x="0" y="0"/>
                  </a:moveTo>
                  <a:lnTo>
                    <a:pt x="6949440" y="0"/>
                  </a:lnTo>
                  <a:lnTo>
                    <a:pt x="6949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8086" b="-9808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6949440" cy="9429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Five contributors, five networks, one flat 100.x address space.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5800" y="9793224"/>
            <a:ext cx="6858000" cy="384048"/>
            <a:chOff x="0" y="0"/>
            <a:chExt cx="9144000" cy="51206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144000" cy="512064"/>
            </a:xfrm>
            <a:custGeom>
              <a:avLst/>
              <a:gdLst/>
              <a:ahLst/>
              <a:cxnLst/>
              <a:rect l="l" t="t" r="r" b="b"/>
              <a:pathLst>
                <a:path w="9144000" h="512064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28575"/>
              <a:ext cx="91440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spc="149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WAZUH + SHUFFLE SOC LAB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6870680" y="9793224"/>
            <a:ext cx="754380" cy="384048"/>
            <a:chOff x="0" y="0"/>
            <a:chExt cx="1005840" cy="51206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05840" cy="512064"/>
            </a:xfrm>
            <a:custGeom>
              <a:avLst/>
              <a:gdLst/>
              <a:ahLst/>
              <a:cxnLst/>
              <a:rect l="l" t="t" r="r" b="b"/>
              <a:pathLst>
                <a:path w="1005840" h="512064">
                  <a:moveTo>
                    <a:pt x="0" y="0"/>
                  </a:moveTo>
                  <a:lnTo>
                    <a:pt x="1005840" y="0"/>
                  </a:lnTo>
                  <a:lnTo>
                    <a:pt x="10058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r="-153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28575"/>
              <a:ext cx="100584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6275" y="566547"/>
            <a:ext cx="1870710" cy="457962"/>
            <a:chOff x="0" y="0"/>
            <a:chExt cx="2494280" cy="6106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280" cy="610616"/>
            </a:xfrm>
            <a:custGeom>
              <a:avLst/>
              <a:gdLst/>
              <a:ahLst/>
              <a:cxnLst/>
              <a:rect l="l" t="t" r="r" b="b"/>
              <a:pathLst>
                <a:path w="249428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2188972" y="0"/>
                  </a:lnTo>
                  <a:cubicBezTo>
                    <a:pt x="2357628" y="0"/>
                    <a:pt x="2494280" y="136652"/>
                    <a:pt x="2494280" y="305308"/>
                  </a:cubicBezTo>
                  <a:cubicBezTo>
                    <a:pt x="2494280" y="473964"/>
                    <a:pt x="2357628" y="610616"/>
                    <a:pt x="218897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22D3EE">
                <a:alpha val="1961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576072"/>
            <a:ext cx="1851660" cy="438912"/>
            <a:chOff x="0" y="0"/>
            <a:chExt cx="2468880" cy="585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8880" cy="585216"/>
            </a:xfrm>
            <a:custGeom>
              <a:avLst/>
              <a:gdLst/>
              <a:ahLst/>
              <a:cxnLst/>
              <a:rect l="l" t="t" r="r" b="b"/>
              <a:pathLst>
                <a:path w="2468880" h="585216">
                  <a:moveTo>
                    <a:pt x="0" y="0"/>
                  </a:moveTo>
                  <a:lnTo>
                    <a:pt x="2468880" y="0"/>
                  </a:lnTo>
                  <a:lnTo>
                    <a:pt x="2468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02" b="-32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6888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 spc="15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SETUP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1069848"/>
            <a:ext cx="15773400" cy="960120"/>
            <a:chOff x="0" y="0"/>
            <a:chExt cx="2103120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Wazuh manager deployment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947672"/>
            <a:ext cx="16184880" cy="548640"/>
            <a:chOff x="0" y="0"/>
            <a:chExt cx="2157984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4808" b="-5248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57984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Deployed from the official all-in-one OVA (v4.14) in VirtualBox, then hardened before joining the tailnet.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31139" y="2719959"/>
            <a:ext cx="8207502" cy="4367022"/>
            <a:chOff x="0" y="0"/>
            <a:chExt cx="10943336" cy="582269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43336" cy="5822696"/>
            </a:xfrm>
            <a:custGeom>
              <a:avLst/>
              <a:gdLst/>
              <a:ahLst/>
              <a:cxnLst/>
              <a:rect l="l" t="t" r="r" b="b"/>
              <a:pathLst>
                <a:path w="10943336" h="5822696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10777982" y="0"/>
                  </a:lnTo>
                  <a:cubicBezTo>
                    <a:pt x="10869295" y="0"/>
                    <a:pt x="10943336" y="74041"/>
                    <a:pt x="10943336" y="165354"/>
                  </a:cubicBezTo>
                  <a:lnTo>
                    <a:pt x="10943336" y="5657342"/>
                  </a:lnTo>
                  <a:cubicBezTo>
                    <a:pt x="10943336" y="5748655"/>
                    <a:pt x="10869295" y="5822696"/>
                    <a:pt x="10777982" y="5822696"/>
                  </a:cubicBezTo>
                  <a:lnTo>
                    <a:pt x="165354" y="5822696"/>
                  </a:lnTo>
                  <a:cubicBezTo>
                    <a:pt x="74041" y="5822696"/>
                    <a:pt x="0" y="5748655"/>
                    <a:pt x="0" y="5657342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22960" y="2811780"/>
            <a:ext cx="8023860" cy="4183380"/>
            <a:chOff x="0" y="0"/>
            <a:chExt cx="10698480" cy="5577840"/>
          </a:xfrm>
        </p:grpSpPr>
        <p:sp>
          <p:nvSpPr>
            <p:cNvPr id="16" name="Freeform 16" descr="clean_assets/2_login_page.png"/>
            <p:cNvSpPr/>
            <p:nvPr/>
          </p:nvSpPr>
          <p:spPr>
            <a:xfrm>
              <a:off x="0" y="0"/>
              <a:ext cx="10698480" cy="5577840"/>
            </a:xfrm>
            <a:custGeom>
              <a:avLst/>
              <a:gdLst/>
              <a:ahLst/>
              <a:cxnLst/>
              <a:rect l="l" t="t" r="r" b="b"/>
              <a:pathLst>
                <a:path w="10698480" h="5577840">
                  <a:moveTo>
                    <a:pt x="0" y="0"/>
                  </a:moveTo>
                  <a:lnTo>
                    <a:pt x="10698480" y="0"/>
                  </a:lnTo>
                  <a:lnTo>
                    <a:pt x="10698480" y="5577840"/>
                  </a:lnTo>
                  <a:lnTo>
                    <a:pt x="0" y="557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9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6377" y="2715196"/>
            <a:ext cx="8217027" cy="4376547"/>
            <a:chOff x="0" y="0"/>
            <a:chExt cx="10956036" cy="58353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56036" cy="5835396"/>
            </a:xfrm>
            <a:custGeom>
              <a:avLst/>
              <a:gdLst/>
              <a:ahLst/>
              <a:cxnLst/>
              <a:rect l="l" t="t" r="r" b="b"/>
              <a:pathLst>
                <a:path w="10956036" h="583539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10790428" y="0"/>
                  </a:lnTo>
                  <a:cubicBezTo>
                    <a:pt x="10881868" y="0"/>
                    <a:pt x="10956036" y="74168"/>
                    <a:pt x="10956036" y="165608"/>
                  </a:cubicBezTo>
                  <a:lnTo>
                    <a:pt x="10956036" y="5669788"/>
                  </a:lnTo>
                  <a:cubicBezTo>
                    <a:pt x="10956036" y="5761228"/>
                    <a:pt x="10881868" y="5835396"/>
                    <a:pt x="10790428" y="5835396"/>
                  </a:cubicBezTo>
                  <a:lnTo>
                    <a:pt x="165608" y="5835396"/>
                  </a:lnTo>
                  <a:cubicBezTo>
                    <a:pt x="74168" y="5835396"/>
                    <a:pt x="0" y="5761228"/>
                    <a:pt x="0" y="566978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336" r="-18336"/>
              </a:stretch>
            </a:blip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2960" y="7132320"/>
            <a:ext cx="8023860" cy="411480"/>
            <a:chOff x="0" y="0"/>
            <a:chExt cx="10698480" cy="548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698480" cy="548640"/>
            </a:xfrm>
            <a:custGeom>
              <a:avLst/>
              <a:gdLst/>
              <a:ahLst/>
              <a:cxnLst/>
              <a:rect l="l" t="t" r="r" b="b"/>
              <a:pathLst>
                <a:path w="10698480" h="548640">
                  <a:moveTo>
                    <a:pt x="0" y="0"/>
                  </a:moveTo>
                  <a:lnTo>
                    <a:pt x="10698480" y="0"/>
                  </a:lnTo>
                  <a:lnTo>
                    <a:pt x="10698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9958" b="-3299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106984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Dashboard login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303639" y="2719959"/>
            <a:ext cx="8207502" cy="4367022"/>
            <a:chOff x="0" y="0"/>
            <a:chExt cx="10943336" cy="582269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943336" cy="5822696"/>
            </a:xfrm>
            <a:custGeom>
              <a:avLst/>
              <a:gdLst/>
              <a:ahLst/>
              <a:cxnLst/>
              <a:rect l="l" t="t" r="r" b="b"/>
              <a:pathLst>
                <a:path w="10943336" h="5822696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10777982" y="0"/>
                  </a:lnTo>
                  <a:cubicBezTo>
                    <a:pt x="10869295" y="0"/>
                    <a:pt x="10943336" y="74041"/>
                    <a:pt x="10943336" y="165354"/>
                  </a:cubicBezTo>
                  <a:lnTo>
                    <a:pt x="10943336" y="5657342"/>
                  </a:lnTo>
                  <a:cubicBezTo>
                    <a:pt x="10943336" y="5748655"/>
                    <a:pt x="10869295" y="5822696"/>
                    <a:pt x="10777982" y="5822696"/>
                  </a:cubicBezTo>
                  <a:lnTo>
                    <a:pt x="165354" y="5822696"/>
                  </a:lnTo>
                  <a:cubicBezTo>
                    <a:pt x="74041" y="5822696"/>
                    <a:pt x="0" y="5748655"/>
                    <a:pt x="0" y="5657342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395460" y="2811780"/>
            <a:ext cx="8023860" cy="4183380"/>
            <a:chOff x="0" y="0"/>
            <a:chExt cx="10698480" cy="5577840"/>
          </a:xfrm>
        </p:grpSpPr>
        <p:sp>
          <p:nvSpPr>
            <p:cNvPr id="25" name="Freeform 25" descr="clean_assets/4.png"/>
            <p:cNvSpPr/>
            <p:nvPr/>
          </p:nvSpPr>
          <p:spPr>
            <a:xfrm>
              <a:off x="0" y="0"/>
              <a:ext cx="10698480" cy="5577840"/>
            </a:xfrm>
            <a:custGeom>
              <a:avLst/>
              <a:gdLst/>
              <a:ahLst/>
              <a:cxnLst/>
              <a:rect l="l" t="t" r="r" b="b"/>
              <a:pathLst>
                <a:path w="10698480" h="5577840">
                  <a:moveTo>
                    <a:pt x="0" y="0"/>
                  </a:moveTo>
                  <a:lnTo>
                    <a:pt x="10698480" y="0"/>
                  </a:lnTo>
                  <a:lnTo>
                    <a:pt x="10698480" y="5577840"/>
                  </a:lnTo>
                  <a:lnTo>
                    <a:pt x="0" y="557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98876" y="2715196"/>
            <a:ext cx="8217027" cy="4376547"/>
            <a:chOff x="0" y="0"/>
            <a:chExt cx="10956036" cy="583539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956036" cy="5835396"/>
            </a:xfrm>
            <a:custGeom>
              <a:avLst/>
              <a:gdLst/>
              <a:ahLst/>
              <a:cxnLst/>
              <a:rect l="l" t="t" r="r" b="b"/>
              <a:pathLst>
                <a:path w="10956036" h="583539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10790428" y="0"/>
                  </a:lnTo>
                  <a:cubicBezTo>
                    <a:pt x="10881868" y="0"/>
                    <a:pt x="10956036" y="74168"/>
                    <a:pt x="10956036" y="165608"/>
                  </a:cubicBezTo>
                  <a:lnTo>
                    <a:pt x="10956036" y="5669788"/>
                  </a:lnTo>
                  <a:cubicBezTo>
                    <a:pt x="10956036" y="5761228"/>
                    <a:pt x="10881868" y="5835396"/>
                    <a:pt x="10790428" y="5835396"/>
                  </a:cubicBezTo>
                  <a:lnTo>
                    <a:pt x="165608" y="5835396"/>
                  </a:lnTo>
                  <a:cubicBezTo>
                    <a:pt x="74168" y="5835396"/>
                    <a:pt x="0" y="5761228"/>
                    <a:pt x="0" y="566978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336" r="-18336"/>
              </a:stretch>
            </a:blip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395460" y="7132320"/>
            <a:ext cx="8023860" cy="411480"/>
            <a:chOff x="0" y="0"/>
            <a:chExt cx="10698480" cy="548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698480" cy="548640"/>
            </a:xfrm>
            <a:custGeom>
              <a:avLst/>
              <a:gdLst/>
              <a:ahLst/>
              <a:cxnLst/>
              <a:rect l="l" t="t" r="r" b="b"/>
              <a:pathLst>
                <a:path w="10698480" h="548640">
                  <a:moveTo>
                    <a:pt x="0" y="0"/>
                  </a:moveTo>
                  <a:lnTo>
                    <a:pt x="10698480" y="0"/>
                  </a:lnTo>
                  <a:lnTo>
                    <a:pt x="10698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9958" b="-3299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106984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Operational overview — agent &amp; alert summary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22960" y="7612380"/>
            <a:ext cx="411480" cy="438912"/>
            <a:chOff x="0" y="0"/>
            <a:chExt cx="548640" cy="58521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48640" cy="585216"/>
            </a:xfrm>
            <a:custGeom>
              <a:avLst/>
              <a:gdLst/>
              <a:ahLst/>
              <a:cxnLst/>
              <a:rect l="l" t="t" r="r" b="b"/>
              <a:pathLst>
                <a:path w="548640" h="585216">
                  <a:moveTo>
                    <a:pt x="0" y="0"/>
                  </a:moveTo>
                  <a:lnTo>
                    <a:pt x="548640" y="0"/>
                  </a:lnTo>
                  <a:lnTo>
                    <a:pt x="5486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857" r="-8685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54864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03020" y="7612380"/>
            <a:ext cx="8229600" cy="438912"/>
            <a:chOff x="0" y="0"/>
            <a:chExt cx="10972800" cy="58521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972800" cy="585216"/>
            </a:xfrm>
            <a:custGeom>
              <a:avLst/>
              <a:gdLst/>
              <a:ahLst/>
              <a:cxnLst/>
              <a:rect l="l" t="t" r="r" b="b"/>
              <a:pathLst>
                <a:path w="10972800" h="585216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5344" b="-31534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097280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OVA v4.14 imported in VirtualBox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22960" y="8106156"/>
            <a:ext cx="411480" cy="438912"/>
            <a:chOff x="0" y="0"/>
            <a:chExt cx="548640" cy="58521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48640" cy="585216"/>
            </a:xfrm>
            <a:custGeom>
              <a:avLst/>
              <a:gdLst/>
              <a:ahLst/>
              <a:cxnLst/>
              <a:rect l="l" t="t" r="r" b="b"/>
              <a:pathLst>
                <a:path w="548640" h="585216">
                  <a:moveTo>
                    <a:pt x="0" y="0"/>
                  </a:moveTo>
                  <a:lnTo>
                    <a:pt x="548640" y="0"/>
                  </a:lnTo>
                  <a:lnTo>
                    <a:pt x="5486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857" r="-8685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54864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03020" y="8106156"/>
            <a:ext cx="8229600" cy="438912"/>
            <a:chOff x="0" y="0"/>
            <a:chExt cx="10972800" cy="58521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972800" cy="585216"/>
            </a:xfrm>
            <a:custGeom>
              <a:avLst/>
              <a:gdLst/>
              <a:ahLst/>
              <a:cxnLst/>
              <a:rect l="l" t="t" r="r" b="b"/>
              <a:pathLst>
                <a:path w="10972800" h="585216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5344" b="-31534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097280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Default credentials rotated on first boot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22960" y="8599932"/>
            <a:ext cx="411480" cy="438912"/>
            <a:chOff x="0" y="0"/>
            <a:chExt cx="548640" cy="58521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48640" cy="585216"/>
            </a:xfrm>
            <a:custGeom>
              <a:avLst/>
              <a:gdLst/>
              <a:ahLst/>
              <a:cxnLst/>
              <a:rect l="l" t="t" r="r" b="b"/>
              <a:pathLst>
                <a:path w="548640" h="585216">
                  <a:moveTo>
                    <a:pt x="0" y="0"/>
                  </a:moveTo>
                  <a:lnTo>
                    <a:pt x="548640" y="0"/>
                  </a:lnTo>
                  <a:lnTo>
                    <a:pt x="5486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857" r="-8685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54864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03020" y="8599932"/>
            <a:ext cx="8229600" cy="438912"/>
            <a:chOff x="0" y="0"/>
            <a:chExt cx="10972800" cy="58521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972800" cy="585216"/>
            </a:xfrm>
            <a:custGeom>
              <a:avLst/>
              <a:gdLst/>
              <a:ahLst/>
              <a:cxnLst/>
              <a:rect l="l" t="t" r="r" b="b"/>
              <a:pathLst>
                <a:path w="10972800" h="585216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5344" b="-31534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097280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Joined to a private, admin-owned Tailscale tailnet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85800" y="9793224"/>
            <a:ext cx="6858000" cy="384048"/>
            <a:chOff x="0" y="0"/>
            <a:chExt cx="9144000" cy="51206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144000" cy="512064"/>
            </a:xfrm>
            <a:custGeom>
              <a:avLst/>
              <a:gdLst/>
              <a:ahLst/>
              <a:cxnLst/>
              <a:rect l="l" t="t" r="r" b="b"/>
              <a:pathLst>
                <a:path w="9144000" h="512064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28575"/>
              <a:ext cx="91440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spc="149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WAZUH + SHUFFLE SOC LAB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6870680" y="9793224"/>
            <a:ext cx="754380" cy="384048"/>
            <a:chOff x="0" y="0"/>
            <a:chExt cx="1005840" cy="51206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005840" cy="512064"/>
            </a:xfrm>
            <a:custGeom>
              <a:avLst/>
              <a:gdLst/>
              <a:ahLst/>
              <a:cxnLst/>
              <a:rect l="l" t="t" r="r" b="b"/>
              <a:pathLst>
                <a:path w="1005840" h="512064">
                  <a:moveTo>
                    <a:pt x="0" y="0"/>
                  </a:moveTo>
                  <a:lnTo>
                    <a:pt x="1005840" y="0"/>
                  </a:lnTo>
                  <a:lnTo>
                    <a:pt x="10058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r="-153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100584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6275" y="566547"/>
            <a:ext cx="1870710" cy="457962"/>
            <a:chOff x="0" y="0"/>
            <a:chExt cx="2494280" cy="6106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280" cy="610616"/>
            </a:xfrm>
            <a:custGeom>
              <a:avLst/>
              <a:gdLst/>
              <a:ahLst/>
              <a:cxnLst/>
              <a:rect l="l" t="t" r="r" b="b"/>
              <a:pathLst>
                <a:path w="249428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2188972" y="0"/>
                  </a:lnTo>
                  <a:cubicBezTo>
                    <a:pt x="2357628" y="0"/>
                    <a:pt x="2494280" y="136652"/>
                    <a:pt x="2494280" y="305308"/>
                  </a:cubicBezTo>
                  <a:cubicBezTo>
                    <a:pt x="2494280" y="473964"/>
                    <a:pt x="2357628" y="610616"/>
                    <a:pt x="218897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22D3EE">
                <a:alpha val="1961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576072"/>
            <a:ext cx="1851660" cy="438912"/>
            <a:chOff x="0" y="0"/>
            <a:chExt cx="2468880" cy="585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8880" cy="585216"/>
            </a:xfrm>
            <a:custGeom>
              <a:avLst/>
              <a:gdLst/>
              <a:ahLst/>
              <a:cxnLst/>
              <a:rect l="l" t="t" r="r" b="b"/>
              <a:pathLst>
                <a:path w="2468880" h="585216">
                  <a:moveTo>
                    <a:pt x="0" y="0"/>
                  </a:moveTo>
                  <a:lnTo>
                    <a:pt x="2468880" y="0"/>
                  </a:lnTo>
                  <a:lnTo>
                    <a:pt x="2468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02" b="-32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6888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 spc="15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SETUP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1069848"/>
            <a:ext cx="15773400" cy="960120"/>
            <a:chOff x="0" y="0"/>
            <a:chExt cx="2103120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Deploying the Wazuh agents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947672"/>
            <a:ext cx="16184880" cy="548640"/>
            <a:chOff x="0" y="0"/>
            <a:chExt cx="2157984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4808" b="-5248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57984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victim machine installs the Wazuh agent and enrolls against the manager's Tailscale address before any attack runs.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31139" y="2857119"/>
            <a:ext cx="5464302" cy="2940558"/>
            <a:chOff x="0" y="0"/>
            <a:chExt cx="7285736" cy="39207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285736" cy="3920744"/>
            </a:xfrm>
            <a:custGeom>
              <a:avLst/>
              <a:gdLst/>
              <a:ahLst/>
              <a:cxnLst/>
              <a:rect l="l" t="t" r="r" b="b"/>
              <a:pathLst>
                <a:path w="7285736" h="3920744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7120128" y="0"/>
                  </a:lnTo>
                  <a:cubicBezTo>
                    <a:pt x="7211568" y="0"/>
                    <a:pt x="7285736" y="74168"/>
                    <a:pt x="7285736" y="165608"/>
                  </a:cubicBezTo>
                  <a:lnTo>
                    <a:pt x="7285736" y="3755136"/>
                  </a:lnTo>
                  <a:cubicBezTo>
                    <a:pt x="7285736" y="3846576"/>
                    <a:pt x="7211568" y="3920744"/>
                    <a:pt x="7120128" y="3920744"/>
                  </a:cubicBezTo>
                  <a:lnTo>
                    <a:pt x="165608" y="3920744"/>
                  </a:lnTo>
                  <a:cubicBezTo>
                    <a:pt x="74168" y="3920744"/>
                    <a:pt x="0" y="3846576"/>
                    <a:pt x="0" y="3755136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22960" y="2948940"/>
            <a:ext cx="5280660" cy="2756916"/>
            <a:chOff x="0" y="0"/>
            <a:chExt cx="7040880" cy="3675888"/>
          </a:xfrm>
        </p:grpSpPr>
        <p:sp>
          <p:nvSpPr>
            <p:cNvPr id="16" name="Freeform 16" descr="clean_assets/seting_up_first_victim_windows.png"/>
            <p:cNvSpPr/>
            <p:nvPr/>
          </p:nvSpPr>
          <p:spPr>
            <a:xfrm>
              <a:off x="0" y="0"/>
              <a:ext cx="7040880" cy="3675888"/>
            </a:xfrm>
            <a:custGeom>
              <a:avLst/>
              <a:gdLst/>
              <a:ahLst/>
              <a:cxnLst/>
              <a:rect l="l" t="t" r="r" b="b"/>
              <a:pathLst>
                <a:path w="7040880" h="3675888">
                  <a:moveTo>
                    <a:pt x="0" y="0"/>
                  </a:moveTo>
                  <a:lnTo>
                    <a:pt x="7040880" y="0"/>
                  </a:lnTo>
                  <a:lnTo>
                    <a:pt x="7040880" y="3675888"/>
                  </a:lnTo>
                  <a:lnTo>
                    <a:pt x="0" y="3675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9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6377" y="2852356"/>
            <a:ext cx="5473827" cy="2950083"/>
            <a:chOff x="0" y="0"/>
            <a:chExt cx="7298436" cy="39334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298437" cy="3933444"/>
            </a:xfrm>
            <a:custGeom>
              <a:avLst/>
              <a:gdLst/>
              <a:ahLst/>
              <a:cxnLst/>
              <a:rect l="l" t="t" r="r" b="b"/>
              <a:pathLst>
                <a:path w="7298437" h="3933444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7132193" y="0"/>
                  </a:lnTo>
                  <a:cubicBezTo>
                    <a:pt x="7224014" y="0"/>
                    <a:pt x="7298437" y="74422"/>
                    <a:pt x="7298437" y="166243"/>
                  </a:cubicBezTo>
                  <a:lnTo>
                    <a:pt x="7298437" y="3767201"/>
                  </a:lnTo>
                  <a:cubicBezTo>
                    <a:pt x="7298437" y="3859022"/>
                    <a:pt x="7224014" y="3933444"/>
                    <a:pt x="7132193" y="3933444"/>
                  </a:cubicBezTo>
                  <a:lnTo>
                    <a:pt x="166243" y="3933444"/>
                  </a:lnTo>
                  <a:cubicBezTo>
                    <a:pt x="74422" y="3933444"/>
                    <a:pt x="0" y="3859022"/>
                    <a:pt x="0" y="376720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148" r="-19148"/>
              </a:stretch>
            </a:blip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2960" y="5843016"/>
            <a:ext cx="5280660" cy="411480"/>
            <a:chOff x="0" y="0"/>
            <a:chExt cx="7040880" cy="548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040880" cy="548640"/>
            </a:xfrm>
            <a:custGeom>
              <a:avLst/>
              <a:gdLst/>
              <a:ahLst/>
              <a:cxnLst/>
              <a:rect l="l" t="t" r="r" b="b"/>
              <a:pathLst>
                <a:path w="7040880" h="548640">
                  <a:moveTo>
                    <a:pt x="0" y="0"/>
                  </a:moveTo>
                  <a:lnTo>
                    <a:pt x="7040880" y="0"/>
                  </a:lnTo>
                  <a:lnTo>
                    <a:pt x="7040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057" b="-20005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70408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Windows victim — first agent enrollment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423279" y="2857119"/>
            <a:ext cx="5464302" cy="2913126"/>
            <a:chOff x="0" y="0"/>
            <a:chExt cx="7285736" cy="388416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285736" cy="3884168"/>
            </a:xfrm>
            <a:custGeom>
              <a:avLst/>
              <a:gdLst/>
              <a:ahLst/>
              <a:cxnLst/>
              <a:rect l="l" t="t" r="r" b="b"/>
              <a:pathLst>
                <a:path w="7285736" h="3884168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7120128" y="0"/>
                  </a:lnTo>
                  <a:cubicBezTo>
                    <a:pt x="7211568" y="0"/>
                    <a:pt x="7285736" y="74168"/>
                    <a:pt x="7285736" y="165608"/>
                  </a:cubicBezTo>
                  <a:lnTo>
                    <a:pt x="7285736" y="3718560"/>
                  </a:lnTo>
                  <a:cubicBezTo>
                    <a:pt x="7285736" y="3810000"/>
                    <a:pt x="7211568" y="3884168"/>
                    <a:pt x="7120128" y="3884168"/>
                  </a:cubicBezTo>
                  <a:lnTo>
                    <a:pt x="165608" y="3884168"/>
                  </a:lnTo>
                  <a:cubicBezTo>
                    <a:pt x="74168" y="3884168"/>
                    <a:pt x="0" y="3810000"/>
                    <a:pt x="0" y="3718560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515100" y="2948940"/>
            <a:ext cx="5280660" cy="2729484"/>
            <a:chOff x="0" y="0"/>
            <a:chExt cx="7040880" cy="3639312"/>
          </a:xfrm>
        </p:grpSpPr>
        <p:sp>
          <p:nvSpPr>
            <p:cNvPr id="25" name="Freeform 25" descr="clean_assets/setting_up_windows_server.png"/>
            <p:cNvSpPr/>
            <p:nvPr/>
          </p:nvSpPr>
          <p:spPr>
            <a:xfrm>
              <a:off x="0" y="0"/>
              <a:ext cx="7040880" cy="3639312"/>
            </a:xfrm>
            <a:custGeom>
              <a:avLst/>
              <a:gdLst/>
              <a:ahLst/>
              <a:cxnLst/>
              <a:rect l="l" t="t" r="r" b="b"/>
              <a:pathLst>
                <a:path w="7040880" h="3639312">
                  <a:moveTo>
                    <a:pt x="0" y="0"/>
                  </a:moveTo>
                  <a:lnTo>
                    <a:pt x="7040880" y="0"/>
                  </a:lnTo>
                  <a:lnTo>
                    <a:pt x="7040880" y="3639312"/>
                  </a:lnTo>
                  <a:lnTo>
                    <a:pt x="0" y="3639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1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18516" y="2852356"/>
            <a:ext cx="5473827" cy="2922651"/>
            <a:chOff x="0" y="0"/>
            <a:chExt cx="7298436" cy="389686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298437" cy="3896868"/>
            </a:xfrm>
            <a:custGeom>
              <a:avLst/>
              <a:gdLst/>
              <a:ahLst/>
              <a:cxnLst/>
              <a:rect l="l" t="t" r="r" b="b"/>
              <a:pathLst>
                <a:path w="7298437" h="3896868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7132193" y="0"/>
                  </a:lnTo>
                  <a:cubicBezTo>
                    <a:pt x="7224014" y="0"/>
                    <a:pt x="7298437" y="74422"/>
                    <a:pt x="7298437" y="166243"/>
                  </a:cubicBezTo>
                  <a:lnTo>
                    <a:pt x="7298437" y="3730625"/>
                  </a:lnTo>
                  <a:cubicBezTo>
                    <a:pt x="7298437" y="3822446"/>
                    <a:pt x="7224014" y="3896868"/>
                    <a:pt x="7132193" y="3896868"/>
                  </a:cubicBezTo>
                  <a:lnTo>
                    <a:pt x="166243" y="3896868"/>
                  </a:lnTo>
                  <a:cubicBezTo>
                    <a:pt x="74422" y="3896868"/>
                    <a:pt x="0" y="3822446"/>
                    <a:pt x="0" y="373062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505" r="-18505"/>
              </a:stretch>
            </a:blip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515100" y="5815584"/>
            <a:ext cx="5280660" cy="411480"/>
            <a:chOff x="0" y="0"/>
            <a:chExt cx="7040880" cy="548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040880" cy="548640"/>
            </a:xfrm>
            <a:custGeom>
              <a:avLst/>
              <a:gdLst/>
              <a:ahLst/>
              <a:cxnLst/>
              <a:rect l="l" t="t" r="r" b="b"/>
              <a:pathLst>
                <a:path w="7040880" h="548640">
                  <a:moveTo>
                    <a:pt x="0" y="0"/>
                  </a:moveTo>
                  <a:lnTo>
                    <a:pt x="7040880" y="0"/>
                  </a:lnTo>
                  <a:lnTo>
                    <a:pt x="7040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057" b="-20005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70408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Windows Server — agent install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115419" y="2857119"/>
            <a:ext cx="5464302" cy="2693670"/>
            <a:chOff x="0" y="0"/>
            <a:chExt cx="7285736" cy="35915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285736" cy="3591560"/>
            </a:xfrm>
            <a:custGeom>
              <a:avLst/>
              <a:gdLst/>
              <a:ahLst/>
              <a:cxnLst/>
              <a:rect l="l" t="t" r="r" b="b"/>
              <a:pathLst>
                <a:path w="7285736" h="3591560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7120001" y="0"/>
                  </a:lnTo>
                  <a:cubicBezTo>
                    <a:pt x="7211568" y="0"/>
                    <a:pt x="7285736" y="74168"/>
                    <a:pt x="7285736" y="165735"/>
                  </a:cubicBezTo>
                  <a:lnTo>
                    <a:pt x="7285736" y="3425825"/>
                  </a:lnTo>
                  <a:cubicBezTo>
                    <a:pt x="7285736" y="3517392"/>
                    <a:pt x="7211568" y="3591560"/>
                    <a:pt x="7120001" y="3591560"/>
                  </a:cubicBezTo>
                  <a:lnTo>
                    <a:pt x="165735" y="3591560"/>
                  </a:lnTo>
                  <a:cubicBezTo>
                    <a:pt x="74168" y="3591560"/>
                    <a:pt x="0" y="3517392"/>
                    <a:pt x="0" y="3425825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207240" y="2948940"/>
            <a:ext cx="5280660" cy="2510028"/>
            <a:chOff x="0" y="0"/>
            <a:chExt cx="7040880" cy="3346704"/>
          </a:xfrm>
        </p:grpSpPr>
        <p:sp>
          <p:nvSpPr>
            <p:cNvPr id="34" name="Freeform 34" descr="clean_assets/configure_windows.png"/>
            <p:cNvSpPr/>
            <p:nvPr/>
          </p:nvSpPr>
          <p:spPr>
            <a:xfrm>
              <a:off x="0" y="0"/>
              <a:ext cx="7040880" cy="3346704"/>
            </a:xfrm>
            <a:custGeom>
              <a:avLst/>
              <a:gdLst/>
              <a:ahLst/>
              <a:cxnLst/>
              <a:rect l="l" t="t" r="r" b="b"/>
              <a:pathLst>
                <a:path w="7040880" h="3346704">
                  <a:moveTo>
                    <a:pt x="0" y="0"/>
                  </a:moveTo>
                  <a:lnTo>
                    <a:pt x="7040880" y="0"/>
                  </a:lnTo>
                  <a:lnTo>
                    <a:pt x="7040880" y="3346704"/>
                  </a:lnTo>
                  <a:lnTo>
                    <a:pt x="0" y="3346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2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110656" y="2852356"/>
            <a:ext cx="5473827" cy="2703195"/>
            <a:chOff x="0" y="0"/>
            <a:chExt cx="7298436" cy="360426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298436" cy="3604260"/>
            </a:xfrm>
            <a:custGeom>
              <a:avLst/>
              <a:gdLst/>
              <a:ahLst/>
              <a:cxnLst/>
              <a:rect l="l" t="t" r="r" b="b"/>
              <a:pathLst>
                <a:path w="7298436" h="3604260">
                  <a:moveTo>
                    <a:pt x="0" y="166370"/>
                  </a:moveTo>
                  <a:cubicBezTo>
                    <a:pt x="0" y="74422"/>
                    <a:pt x="74422" y="0"/>
                    <a:pt x="166370" y="0"/>
                  </a:cubicBezTo>
                  <a:lnTo>
                    <a:pt x="7132066" y="0"/>
                  </a:lnTo>
                  <a:cubicBezTo>
                    <a:pt x="7223887" y="0"/>
                    <a:pt x="7298436" y="74422"/>
                    <a:pt x="7298436" y="166370"/>
                  </a:cubicBezTo>
                  <a:lnTo>
                    <a:pt x="7298436" y="3437890"/>
                  </a:lnTo>
                  <a:cubicBezTo>
                    <a:pt x="7298436" y="3529711"/>
                    <a:pt x="7224014" y="3604260"/>
                    <a:pt x="7132066" y="3604260"/>
                  </a:cubicBezTo>
                  <a:lnTo>
                    <a:pt x="166370" y="3604260"/>
                  </a:lnTo>
                  <a:cubicBezTo>
                    <a:pt x="74422" y="3604260"/>
                    <a:pt x="0" y="3529838"/>
                    <a:pt x="0" y="343789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61" r="-13361"/>
              </a:stretch>
            </a:blip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207240" y="5596128"/>
            <a:ext cx="5280660" cy="411480"/>
            <a:chOff x="0" y="0"/>
            <a:chExt cx="7040880" cy="5486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040880" cy="548640"/>
            </a:xfrm>
            <a:custGeom>
              <a:avLst/>
              <a:gdLst/>
              <a:ahLst/>
              <a:cxnLst/>
              <a:rect l="l" t="t" r="r" b="b"/>
              <a:pathLst>
                <a:path w="7040880" h="548640">
                  <a:moveTo>
                    <a:pt x="0" y="0"/>
                  </a:moveTo>
                  <a:lnTo>
                    <a:pt x="7040880" y="0"/>
                  </a:lnTo>
                  <a:lnTo>
                    <a:pt x="7040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057" b="-20005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70408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Agent configuration — manager address set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13435" y="6917055"/>
            <a:ext cx="5299710" cy="1596390"/>
            <a:chOff x="0" y="0"/>
            <a:chExt cx="7066280" cy="212852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066280" cy="2128520"/>
            </a:xfrm>
            <a:custGeom>
              <a:avLst/>
              <a:gdLst/>
              <a:ahLst/>
              <a:cxnLst/>
              <a:rect l="l" t="t" r="r" b="b"/>
              <a:pathLst>
                <a:path w="7066280" h="212852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6918198" y="0"/>
                  </a:lnTo>
                  <a:cubicBezTo>
                    <a:pt x="6999986" y="0"/>
                    <a:pt x="7066280" y="66294"/>
                    <a:pt x="7066280" y="148082"/>
                  </a:cubicBezTo>
                  <a:lnTo>
                    <a:pt x="7066280" y="1980438"/>
                  </a:lnTo>
                  <a:cubicBezTo>
                    <a:pt x="7066280" y="2062226"/>
                    <a:pt x="6999986" y="2128520"/>
                    <a:pt x="69181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24712" y="7091172"/>
            <a:ext cx="4732020" cy="438912"/>
            <a:chOff x="0" y="0"/>
            <a:chExt cx="6309360" cy="58521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309360" cy="585216"/>
            </a:xfrm>
            <a:custGeom>
              <a:avLst/>
              <a:gdLst/>
              <a:ahLst/>
              <a:cxnLst/>
              <a:rect l="l" t="t" r="r" b="b"/>
              <a:pathLst>
                <a:path w="6309360" h="585216">
                  <a:moveTo>
                    <a:pt x="0" y="0"/>
                  </a:moveTo>
                  <a:lnTo>
                    <a:pt x="6309360" y="0"/>
                  </a:lnTo>
                  <a:lnTo>
                    <a:pt x="63093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073" b="-1600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630936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F5F7F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mohamedmassoud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24712" y="7557516"/>
            <a:ext cx="2743200" cy="411480"/>
            <a:chOff x="0" y="0"/>
            <a:chExt cx="3657600" cy="5486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657600" cy="548640"/>
            </a:xfrm>
            <a:custGeom>
              <a:avLst/>
              <a:gdLst/>
              <a:ahLst/>
              <a:cxnLst/>
              <a:rect l="l" t="t" r="r" b="b"/>
              <a:pathLst>
                <a:path w="3657600" h="54864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00" b="-799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36576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22D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Ubuntu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24712" y="7886700"/>
            <a:ext cx="4732020" cy="480060"/>
            <a:chOff x="0" y="0"/>
            <a:chExt cx="6309360" cy="64008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309360" cy="640080"/>
            </a:xfrm>
            <a:custGeom>
              <a:avLst/>
              <a:gdLst/>
              <a:ahLst/>
              <a:cxnLst/>
              <a:rect l="l" t="t" r="r" b="b"/>
              <a:pathLst>
                <a:path w="6309360" h="640080">
                  <a:moveTo>
                    <a:pt x="0" y="0"/>
                  </a:moveTo>
                  <a:lnTo>
                    <a:pt x="6309360" y="0"/>
                  </a:lnTo>
                  <a:lnTo>
                    <a:pt x="6309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2066" b="-14206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630936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SSH brute-force target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505575" y="6917055"/>
            <a:ext cx="5299710" cy="1596390"/>
            <a:chOff x="0" y="0"/>
            <a:chExt cx="7066280" cy="21285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066280" cy="2128520"/>
            </a:xfrm>
            <a:custGeom>
              <a:avLst/>
              <a:gdLst/>
              <a:ahLst/>
              <a:cxnLst/>
              <a:rect l="l" t="t" r="r" b="b"/>
              <a:pathLst>
                <a:path w="7066280" h="212852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6918198" y="0"/>
                  </a:lnTo>
                  <a:cubicBezTo>
                    <a:pt x="6999986" y="0"/>
                    <a:pt x="7066280" y="66294"/>
                    <a:pt x="7066280" y="148082"/>
                  </a:cubicBezTo>
                  <a:lnTo>
                    <a:pt x="7066280" y="1980438"/>
                  </a:lnTo>
                  <a:cubicBezTo>
                    <a:pt x="7066280" y="2062226"/>
                    <a:pt x="6999986" y="2128520"/>
                    <a:pt x="69181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816852" y="7091172"/>
            <a:ext cx="4732020" cy="438912"/>
            <a:chOff x="0" y="0"/>
            <a:chExt cx="6309360" cy="58521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309360" cy="585216"/>
            </a:xfrm>
            <a:custGeom>
              <a:avLst/>
              <a:gdLst/>
              <a:ahLst/>
              <a:cxnLst/>
              <a:rect l="l" t="t" r="r" b="b"/>
              <a:pathLst>
                <a:path w="6309360" h="585216">
                  <a:moveTo>
                    <a:pt x="0" y="0"/>
                  </a:moveTo>
                  <a:lnTo>
                    <a:pt x="6309360" y="0"/>
                  </a:lnTo>
                  <a:lnTo>
                    <a:pt x="63093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073" b="-1600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630936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F5F7F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karim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816852" y="7557516"/>
            <a:ext cx="2743200" cy="411480"/>
            <a:chOff x="0" y="0"/>
            <a:chExt cx="3657600" cy="5486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657600" cy="548640"/>
            </a:xfrm>
            <a:custGeom>
              <a:avLst/>
              <a:gdLst/>
              <a:ahLst/>
              <a:cxnLst/>
              <a:rect l="l" t="t" r="r" b="b"/>
              <a:pathLst>
                <a:path w="3657600" h="54864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00" b="-799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36576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22D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Windows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816852" y="7886700"/>
            <a:ext cx="4732020" cy="480060"/>
            <a:chOff x="0" y="0"/>
            <a:chExt cx="6309360" cy="64008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309360" cy="640080"/>
            </a:xfrm>
            <a:custGeom>
              <a:avLst/>
              <a:gdLst/>
              <a:ahLst/>
              <a:cxnLst/>
              <a:rect l="l" t="t" r="r" b="b"/>
              <a:pathLst>
                <a:path w="6309360" h="640080">
                  <a:moveTo>
                    <a:pt x="0" y="0"/>
                  </a:moveTo>
                  <a:lnTo>
                    <a:pt x="6309360" y="0"/>
                  </a:lnTo>
                  <a:lnTo>
                    <a:pt x="6309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2066" b="-14206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630936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PowerShell target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2197715" y="6917055"/>
            <a:ext cx="5299710" cy="1596390"/>
            <a:chOff x="0" y="0"/>
            <a:chExt cx="7066280" cy="212852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066280" cy="2128520"/>
            </a:xfrm>
            <a:custGeom>
              <a:avLst/>
              <a:gdLst/>
              <a:ahLst/>
              <a:cxnLst/>
              <a:rect l="l" t="t" r="r" b="b"/>
              <a:pathLst>
                <a:path w="7066280" h="212852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6918198" y="0"/>
                  </a:lnTo>
                  <a:cubicBezTo>
                    <a:pt x="6999986" y="0"/>
                    <a:pt x="7066280" y="66294"/>
                    <a:pt x="7066280" y="148082"/>
                  </a:cubicBezTo>
                  <a:lnTo>
                    <a:pt x="7066280" y="1980438"/>
                  </a:lnTo>
                  <a:cubicBezTo>
                    <a:pt x="7066280" y="2062226"/>
                    <a:pt x="6999986" y="2128520"/>
                    <a:pt x="691819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2508992" y="7091172"/>
            <a:ext cx="4732020" cy="438912"/>
            <a:chOff x="0" y="0"/>
            <a:chExt cx="6309360" cy="58521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309360" cy="585216"/>
            </a:xfrm>
            <a:custGeom>
              <a:avLst/>
              <a:gdLst/>
              <a:ahLst/>
              <a:cxnLst/>
              <a:rect l="l" t="t" r="r" b="b"/>
              <a:pathLst>
                <a:path w="6309360" h="585216">
                  <a:moveTo>
                    <a:pt x="0" y="0"/>
                  </a:moveTo>
                  <a:lnTo>
                    <a:pt x="6309360" y="0"/>
                  </a:lnTo>
                  <a:lnTo>
                    <a:pt x="63093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0073" b="-1600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47625"/>
              <a:ext cx="630936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F5F7FA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muhamedbushnak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2508992" y="7557516"/>
            <a:ext cx="2743200" cy="411480"/>
            <a:chOff x="0" y="0"/>
            <a:chExt cx="3657600" cy="54864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3657600" cy="548640"/>
            </a:xfrm>
            <a:custGeom>
              <a:avLst/>
              <a:gdLst/>
              <a:ahLst/>
              <a:cxnLst/>
              <a:rect l="l" t="t" r="r" b="b"/>
              <a:pathLst>
                <a:path w="3657600" h="54864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900" b="-799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36576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22D3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Windows Server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2508992" y="7886700"/>
            <a:ext cx="4732020" cy="480060"/>
            <a:chOff x="0" y="0"/>
            <a:chExt cx="6309360" cy="64008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309360" cy="640080"/>
            </a:xfrm>
            <a:custGeom>
              <a:avLst/>
              <a:gdLst/>
              <a:ahLst/>
              <a:cxnLst/>
              <a:rect l="l" t="t" r="r" b="b"/>
              <a:pathLst>
                <a:path w="6309360" h="640080">
                  <a:moveTo>
                    <a:pt x="0" y="0"/>
                  </a:moveTo>
                  <a:lnTo>
                    <a:pt x="6309360" y="0"/>
                  </a:lnTo>
                  <a:lnTo>
                    <a:pt x="6309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2066" b="-14206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630936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C2 target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85800" y="9793224"/>
            <a:ext cx="6858000" cy="384048"/>
            <a:chOff x="0" y="0"/>
            <a:chExt cx="9144000" cy="512064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9144000" cy="512064"/>
            </a:xfrm>
            <a:custGeom>
              <a:avLst/>
              <a:gdLst/>
              <a:ahLst/>
              <a:cxnLst/>
              <a:rect l="l" t="t" r="r" b="b"/>
              <a:pathLst>
                <a:path w="9144000" h="512064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28575"/>
              <a:ext cx="91440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spc="149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WAZUH + SHUFFLE SOC LAB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6870680" y="9793224"/>
            <a:ext cx="754380" cy="384048"/>
            <a:chOff x="0" y="0"/>
            <a:chExt cx="1005840" cy="512064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005840" cy="512064"/>
            </a:xfrm>
            <a:custGeom>
              <a:avLst/>
              <a:gdLst/>
              <a:ahLst/>
              <a:cxnLst/>
              <a:rect l="l" t="t" r="r" b="b"/>
              <a:pathLst>
                <a:path w="1005840" h="512064">
                  <a:moveTo>
                    <a:pt x="0" y="0"/>
                  </a:moveTo>
                  <a:lnTo>
                    <a:pt x="1005840" y="0"/>
                  </a:lnTo>
                  <a:lnTo>
                    <a:pt x="10058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r="-153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28575"/>
              <a:ext cx="100584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6275" y="566547"/>
            <a:ext cx="1870710" cy="457962"/>
            <a:chOff x="0" y="0"/>
            <a:chExt cx="2494280" cy="6106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280" cy="610616"/>
            </a:xfrm>
            <a:custGeom>
              <a:avLst/>
              <a:gdLst/>
              <a:ahLst/>
              <a:cxnLst/>
              <a:rect l="l" t="t" r="r" b="b"/>
              <a:pathLst>
                <a:path w="249428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2188972" y="0"/>
                  </a:lnTo>
                  <a:cubicBezTo>
                    <a:pt x="2357628" y="0"/>
                    <a:pt x="2494280" y="136652"/>
                    <a:pt x="2494280" y="305308"/>
                  </a:cubicBezTo>
                  <a:cubicBezTo>
                    <a:pt x="2494280" y="473964"/>
                    <a:pt x="2357628" y="610616"/>
                    <a:pt x="218897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FF6B6B">
                <a:alpha val="1961"/>
              </a:srgbClr>
            </a:solidFill>
            <a:ln w="19050" cap="sq">
              <a:solidFill>
                <a:srgbClr val="FF6B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576072"/>
            <a:ext cx="1851660" cy="438912"/>
            <a:chOff x="0" y="0"/>
            <a:chExt cx="2468880" cy="585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8880" cy="585216"/>
            </a:xfrm>
            <a:custGeom>
              <a:avLst/>
              <a:gdLst/>
              <a:ahLst/>
              <a:cxnLst/>
              <a:rect l="l" t="t" r="r" b="b"/>
              <a:pathLst>
                <a:path w="2468880" h="585216">
                  <a:moveTo>
                    <a:pt x="0" y="0"/>
                  </a:moveTo>
                  <a:lnTo>
                    <a:pt x="2468880" y="0"/>
                  </a:lnTo>
                  <a:lnTo>
                    <a:pt x="2468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02" b="-32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6888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 spc="150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ATTACKS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1069848"/>
            <a:ext cx="15773400" cy="960120"/>
            <a:chOff x="0" y="0"/>
            <a:chExt cx="2103120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Three attack scenarios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8906" y="2665095"/>
            <a:ext cx="5368290" cy="5916930"/>
            <a:chOff x="0" y="0"/>
            <a:chExt cx="7157720" cy="78892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157720" cy="7889240"/>
            </a:xfrm>
            <a:custGeom>
              <a:avLst/>
              <a:gdLst/>
              <a:ahLst/>
              <a:cxnLst/>
              <a:rect l="l" t="t" r="r" b="b"/>
              <a:pathLst>
                <a:path w="7157720" h="788924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974205" y="0"/>
                  </a:lnTo>
                  <a:cubicBezTo>
                    <a:pt x="7075551" y="0"/>
                    <a:pt x="7157720" y="82169"/>
                    <a:pt x="7157720" y="183515"/>
                  </a:cubicBezTo>
                  <a:lnTo>
                    <a:pt x="7157720" y="7705725"/>
                  </a:lnTo>
                  <a:cubicBezTo>
                    <a:pt x="7157720" y="7807071"/>
                    <a:pt x="7075551" y="7889240"/>
                    <a:pt x="6974205" y="7889240"/>
                  </a:cubicBezTo>
                  <a:lnTo>
                    <a:pt x="183515" y="7889240"/>
                  </a:lnTo>
                  <a:cubicBezTo>
                    <a:pt x="82169" y="7889240"/>
                    <a:pt x="0" y="7807071"/>
                    <a:pt x="0" y="7705725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FF6B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05624" y="3071812"/>
            <a:ext cx="988695" cy="988695"/>
            <a:chOff x="0" y="0"/>
            <a:chExt cx="1318260" cy="13182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18260" cy="1318260"/>
            </a:xfrm>
            <a:custGeom>
              <a:avLst/>
              <a:gdLst/>
              <a:ahLst/>
              <a:cxnLst/>
              <a:rect l="l" t="t" r="r" b="b"/>
              <a:pathLst>
                <a:path w="1318260" h="1318260">
                  <a:moveTo>
                    <a:pt x="0" y="659130"/>
                  </a:moveTo>
                  <a:cubicBezTo>
                    <a:pt x="0" y="295148"/>
                    <a:pt x="295148" y="0"/>
                    <a:pt x="659130" y="0"/>
                  </a:cubicBezTo>
                  <a:cubicBezTo>
                    <a:pt x="1023112" y="0"/>
                    <a:pt x="1318260" y="295148"/>
                    <a:pt x="1318260" y="659130"/>
                  </a:cubicBezTo>
                  <a:cubicBezTo>
                    <a:pt x="1318260" y="1023112"/>
                    <a:pt x="1023112" y="1318260"/>
                    <a:pt x="659130" y="1318260"/>
                  </a:cubicBezTo>
                  <a:cubicBezTo>
                    <a:pt x="295148" y="1318260"/>
                    <a:pt x="0" y="1023112"/>
                    <a:pt x="0" y="659130"/>
                  </a:cubicBezTo>
                  <a:close/>
                </a:path>
              </a:pathLst>
            </a:custGeom>
            <a:solidFill>
              <a:srgbClr val="FF6B6B">
                <a:alpha val="1176"/>
              </a:srgbClr>
            </a:solidFill>
            <a:ln w="28575" cap="sq">
              <a:solidFill>
                <a:srgbClr val="FF6B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19911" y="3086100"/>
            <a:ext cx="960120" cy="960120"/>
            <a:chOff x="0" y="0"/>
            <a:chExt cx="1280160" cy="12801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280160" cy="13373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19911" y="4389120"/>
            <a:ext cx="4526280" cy="754380"/>
            <a:chOff x="0" y="0"/>
            <a:chExt cx="6035040" cy="10058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Command &amp; Control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19911" y="5170932"/>
            <a:ext cx="2331720" cy="438912"/>
            <a:chOff x="0" y="0"/>
            <a:chExt cx="3108960" cy="5852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08960" cy="585216"/>
            </a:xfrm>
            <a:custGeom>
              <a:avLst/>
              <a:gdLst/>
              <a:ahLst/>
              <a:cxnLst/>
              <a:rect l="l" t="t" r="r" b="b"/>
              <a:pathLst>
                <a:path w="3108960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816352" y="0"/>
                  </a:lnTo>
                  <a:cubicBezTo>
                    <a:pt x="2977896" y="0"/>
                    <a:pt x="3108960" y="131064"/>
                    <a:pt x="3108960" y="292608"/>
                  </a:cubicBezTo>
                  <a:cubicBezTo>
                    <a:pt x="3108960" y="454152"/>
                    <a:pt x="2977896" y="585216"/>
                    <a:pt x="2816352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F6B6B">
                <a:alpha val="1961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19911" y="5170932"/>
            <a:ext cx="2331720" cy="438912"/>
            <a:chOff x="0" y="0"/>
            <a:chExt cx="3108960" cy="58521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108960" cy="585216"/>
            </a:xfrm>
            <a:custGeom>
              <a:avLst/>
              <a:gdLst/>
              <a:ahLst/>
              <a:cxnLst/>
              <a:rect l="l" t="t" r="r" b="b"/>
              <a:pathLst>
                <a:path w="3108960" h="585216">
                  <a:moveTo>
                    <a:pt x="0" y="0"/>
                  </a:moveTo>
                  <a:lnTo>
                    <a:pt x="3108960" y="0"/>
                  </a:lnTo>
                  <a:lnTo>
                    <a:pt x="3108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514" b="-5351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310896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Windows Server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19911" y="5897880"/>
            <a:ext cx="4526280" cy="2468880"/>
            <a:chOff x="0" y="0"/>
            <a:chExt cx="6035040" cy="32918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035040" cy="3291840"/>
            </a:xfrm>
            <a:custGeom>
              <a:avLst/>
              <a:gdLst/>
              <a:ahLst/>
              <a:cxnLst/>
              <a:rect l="l" t="t" r="r" b="b"/>
              <a:pathLst>
                <a:path w="6035040" h="3291840">
                  <a:moveTo>
                    <a:pt x="0" y="0"/>
                  </a:moveTo>
                  <a:lnTo>
                    <a:pt x="6035040" y="0"/>
                  </a:lnTo>
                  <a:lnTo>
                    <a:pt x="60350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r="-1998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66675"/>
              <a:ext cx="6035040" cy="3358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9"/>
                </a:lnSpc>
              </a:pPr>
              <a:r>
                <a:rPr lang="en-US" sz="172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PsExec-style remote execution attempt against the Windows Server host.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459626" y="2665095"/>
            <a:ext cx="5368290" cy="5916930"/>
            <a:chOff x="0" y="0"/>
            <a:chExt cx="7157720" cy="78892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157720" cy="7889240"/>
            </a:xfrm>
            <a:custGeom>
              <a:avLst/>
              <a:gdLst/>
              <a:ahLst/>
              <a:cxnLst/>
              <a:rect l="l" t="t" r="r" b="b"/>
              <a:pathLst>
                <a:path w="7157720" h="788924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974205" y="0"/>
                  </a:lnTo>
                  <a:cubicBezTo>
                    <a:pt x="7075551" y="0"/>
                    <a:pt x="7157720" y="82169"/>
                    <a:pt x="7157720" y="183515"/>
                  </a:cubicBezTo>
                  <a:lnTo>
                    <a:pt x="7157720" y="7705725"/>
                  </a:lnTo>
                  <a:cubicBezTo>
                    <a:pt x="7157720" y="7807071"/>
                    <a:pt x="7075551" y="7889240"/>
                    <a:pt x="6974205" y="7889240"/>
                  </a:cubicBezTo>
                  <a:lnTo>
                    <a:pt x="183515" y="7889240"/>
                  </a:lnTo>
                  <a:cubicBezTo>
                    <a:pt x="82169" y="7889240"/>
                    <a:pt x="0" y="7807071"/>
                    <a:pt x="0" y="7705725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FF6B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66344" y="3071812"/>
            <a:ext cx="988695" cy="988695"/>
            <a:chOff x="0" y="0"/>
            <a:chExt cx="1318260" cy="13182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18260" cy="1318260"/>
            </a:xfrm>
            <a:custGeom>
              <a:avLst/>
              <a:gdLst/>
              <a:ahLst/>
              <a:cxnLst/>
              <a:rect l="l" t="t" r="r" b="b"/>
              <a:pathLst>
                <a:path w="1318260" h="1318260">
                  <a:moveTo>
                    <a:pt x="0" y="659130"/>
                  </a:moveTo>
                  <a:cubicBezTo>
                    <a:pt x="0" y="295148"/>
                    <a:pt x="295148" y="0"/>
                    <a:pt x="659130" y="0"/>
                  </a:cubicBezTo>
                  <a:cubicBezTo>
                    <a:pt x="1023112" y="0"/>
                    <a:pt x="1318260" y="295148"/>
                    <a:pt x="1318260" y="659130"/>
                  </a:cubicBezTo>
                  <a:cubicBezTo>
                    <a:pt x="1318260" y="1023112"/>
                    <a:pt x="1023112" y="1318260"/>
                    <a:pt x="659130" y="1318260"/>
                  </a:cubicBezTo>
                  <a:cubicBezTo>
                    <a:pt x="295148" y="1318260"/>
                    <a:pt x="0" y="1023112"/>
                    <a:pt x="0" y="659130"/>
                  </a:cubicBezTo>
                  <a:close/>
                </a:path>
              </a:pathLst>
            </a:custGeom>
            <a:solidFill>
              <a:srgbClr val="FF6B6B">
                <a:alpha val="1176"/>
              </a:srgbClr>
            </a:solidFill>
            <a:ln w="28575" cap="sq">
              <a:solidFill>
                <a:srgbClr val="FF6B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880631" y="3086100"/>
            <a:ext cx="960120" cy="960120"/>
            <a:chOff x="0" y="0"/>
            <a:chExt cx="1280160" cy="12801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1280160" cy="13373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880631" y="4389120"/>
            <a:ext cx="4526280" cy="754380"/>
            <a:chOff x="0" y="0"/>
            <a:chExt cx="6035040" cy="10058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Suspicious PowerShell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880631" y="5170932"/>
            <a:ext cx="2331720" cy="438912"/>
            <a:chOff x="0" y="0"/>
            <a:chExt cx="3108960" cy="58521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108960" cy="585216"/>
            </a:xfrm>
            <a:custGeom>
              <a:avLst/>
              <a:gdLst/>
              <a:ahLst/>
              <a:cxnLst/>
              <a:rect l="l" t="t" r="r" b="b"/>
              <a:pathLst>
                <a:path w="3108960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816352" y="0"/>
                  </a:lnTo>
                  <a:cubicBezTo>
                    <a:pt x="2977896" y="0"/>
                    <a:pt x="3108960" y="131064"/>
                    <a:pt x="3108960" y="292608"/>
                  </a:cubicBezTo>
                  <a:cubicBezTo>
                    <a:pt x="3108960" y="454152"/>
                    <a:pt x="2977896" y="585216"/>
                    <a:pt x="2816352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F6B6B">
                <a:alpha val="1961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880631" y="5170932"/>
            <a:ext cx="2331720" cy="438912"/>
            <a:chOff x="0" y="0"/>
            <a:chExt cx="3108960" cy="58521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108960" cy="585216"/>
            </a:xfrm>
            <a:custGeom>
              <a:avLst/>
              <a:gdLst/>
              <a:ahLst/>
              <a:cxnLst/>
              <a:rect l="l" t="t" r="r" b="b"/>
              <a:pathLst>
                <a:path w="3108960" h="585216">
                  <a:moveTo>
                    <a:pt x="0" y="0"/>
                  </a:moveTo>
                  <a:lnTo>
                    <a:pt x="3108960" y="0"/>
                  </a:lnTo>
                  <a:lnTo>
                    <a:pt x="3108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514" b="-5351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310896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Windows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880631" y="5897880"/>
            <a:ext cx="4526280" cy="2468880"/>
            <a:chOff x="0" y="0"/>
            <a:chExt cx="6035040" cy="329184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035040" cy="3291840"/>
            </a:xfrm>
            <a:custGeom>
              <a:avLst/>
              <a:gdLst/>
              <a:ahLst/>
              <a:cxnLst/>
              <a:rect l="l" t="t" r="r" b="b"/>
              <a:pathLst>
                <a:path w="6035040" h="3291840">
                  <a:moveTo>
                    <a:pt x="0" y="0"/>
                  </a:moveTo>
                  <a:lnTo>
                    <a:pt x="6035040" y="0"/>
                  </a:lnTo>
                  <a:lnTo>
                    <a:pt x="60350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r="-1998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66675"/>
              <a:ext cx="6035040" cy="3358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9"/>
                </a:lnSpc>
              </a:pPr>
              <a:r>
                <a:rPr lang="en-US" sz="172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ExecutionPolicy bypass with an IEX / DownloadString cradle pulling a remote payload.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220346" y="2665095"/>
            <a:ext cx="5368290" cy="5916930"/>
            <a:chOff x="0" y="0"/>
            <a:chExt cx="7157720" cy="78892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7157720" cy="7889240"/>
            </a:xfrm>
            <a:custGeom>
              <a:avLst/>
              <a:gdLst/>
              <a:ahLst/>
              <a:cxnLst/>
              <a:rect l="l" t="t" r="r" b="b"/>
              <a:pathLst>
                <a:path w="7157720" h="788924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974205" y="0"/>
                  </a:lnTo>
                  <a:cubicBezTo>
                    <a:pt x="7075551" y="0"/>
                    <a:pt x="7157720" y="82169"/>
                    <a:pt x="7157720" y="183515"/>
                  </a:cubicBezTo>
                  <a:lnTo>
                    <a:pt x="7157720" y="7705725"/>
                  </a:lnTo>
                  <a:cubicBezTo>
                    <a:pt x="7157720" y="7807071"/>
                    <a:pt x="7075551" y="7889240"/>
                    <a:pt x="6974205" y="7889240"/>
                  </a:cubicBezTo>
                  <a:lnTo>
                    <a:pt x="183515" y="7889240"/>
                  </a:lnTo>
                  <a:cubicBezTo>
                    <a:pt x="82169" y="7889240"/>
                    <a:pt x="0" y="7807071"/>
                    <a:pt x="0" y="7705725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FF6B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627064" y="3071812"/>
            <a:ext cx="988695" cy="988695"/>
            <a:chOff x="0" y="0"/>
            <a:chExt cx="1318260" cy="131826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318260" cy="1318260"/>
            </a:xfrm>
            <a:custGeom>
              <a:avLst/>
              <a:gdLst/>
              <a:ahLst/>
              <a:cxnLst/>
              <a:rect l="l" t="t" r="r" b="b"/>
              <a:pathLst>
                <a:path w="1318260" h="1318260">
                  <a:moveTo>
                    <a:pt x="0" y="659130"/>
                  </a:moveTo>
                  <a:cubicBezTo>
                    <a:pt x="0" y="295148"/>
                    <a:pt x="295148" y="0"/>
                    <a:pt x="659130" y="0"/>
                  </a:cubicBezTo>
                  <a:cubicBezTo>
                    <a:pt x="1023112" y="0"/>
                    <a:pt x="1318260" y="295148"/>
                    <a:pt x="1318260" y="659130"/>
                  </a:cubicBezTo>
                  <a:cubicBezTo>
                    <a:pt x="1318260" y="1023112"/>
                    <a:pt x="1023112" y="1318260"/>
                    <a:pt x="659130" y="1318260"/>
                  </a:cubicBezTo>
                  <a:cubicBezTo>
                    <a:pt x="295148" y="1318260"/>
                    <a:pt x="0" y="1023112"/>
                    <a:pt x="0" y="659130"/>
                  </a:cubicBezTo>
                  <a:close/>
                </a:path>
              </a:pathLst>
            </a:custGeom>
            <a:solidFill>
              <a:srgbClr val="FF6B6B">
                <a:alpha val="1176"/>
              </a:srgbClr>
            </a:solidFill>
            <a:ln w="28575" cap="sq">
              <a:solidFill>
                <a:srgbClr val="FF6B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641351" y="3086100"/>
            <a:ext cx="960120" cy="960120"/>
            <a:chOff x="0" y="0"/>
            <a:chExt cx="1280160" cy="128016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57150"/>
              <a:ext cx="1280160" cy="13373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 b="1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2641351" y="4389120"/>
            <a:ext cx="4526280" cy="754380"/>
            <a:chOff x="0" y="0"/>
            <a:chExt cx="6035040" cy="10058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035040" cy="1005840"/>
            </a:xfrm>
            <a:custGeom>
              <a:avLst/>
              <a:gdLst/>
              <a:ahLst/>
              <a:cxnLst/>
              <a:rect l="l" t="t" r="r" b="b"/>
              <a:pathLst>
                <a:path w="6035040" h="1005840">
                  <a:moveTo>
                    <a:pt x="0" y="0"/>
                  </a:moveTo>
                  <a:lnTo>
                    <a:pt x="6035040" y="0"/>
                  </a:lnTo>
                  <a:lnTo>
                    <a:pt x="6035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6035040" cy="101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SSH Brute Force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2641351" y="5170932"/>
            <a:ext cx="2331720" cy="438912"/>
            <a:chOff x="0" y="0"/>
            <a:chExt cx="3108960" cy="58521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108960" cy="585216"/>
            </a:xfrm>
            <a:custGeom>
              <a:avLst/>
              <a:gdLst/>
              <a:ahLst/>
              <a:cxnLst/>
              <a:rect l="l" t="t" r="r" b="b"/>
              <a:pathLst>
                <a:path w="3108960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816352" y="0"/>
                  </a:lnTo>
                  <a:cubicBezTo>
                    <a:pt x="2977896" y="0"/>
                    <a:pt x="3108960" y="131064"/>
                    <a:pt x="3108960" y="292608"/>
                  </a:cubicBezTo>
                  <a:cubicBezTo>
                    <a:pt x="3108960" y="454152"/>
                    <a:pt x="2977896" y="585216"/>
                    <a:pt x="2816352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FF6B6B">
                <a:alpha val="1961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2641351" y="5170932"/>
            <a:ext cx="2331720" cy="438912"/>
            <a:chOff x="0" y="0"/>
            <a:chExt cx="3108960" cy="58521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108960" cy="585216"/>
            </a:xfrm>
            <a:custGeom>
              <a:avLst/>
              <a:gdLst/>
              <a:ahLst/>
              <a:cxnLst/>
              <a:rect l="l" t="t" r="r" b="b"/>
              <a:pathLst>
                <a:path w="3108960" h="585216">
                  <a:moveTo>
                    <a:pt x="0" y="0"/>
                  </a:moveTo>
                  <a:lnTo>
                    <a:pt x="3108960" y="0"/>
                  </a:lnTo>
                  <a:lnTo>
                    <a:pt x="3108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514" b="-5351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310896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Ubuntu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2641351" y="5897880"/>
            <a:ext cx="4526280" cy="2468880"/>
            <a:chOff x="0" y="0"/>
            <a:chExt cx="6035040" cy="329184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035040" cy="3291840"/>
            </a:xfrm>
            <a:custGeom>
              <a:avLst/>
              <a:gdLst/>
              <a:ahLst/>
              <a:cxnLst/>
              <a:rect l="l" t="t" r="r" b="b"/>
              <a:pathLst>
                <a:path w="6035040" h="3291840">
                  <a:moveTo>
                    <a:pt x="0" y="0"/>
                  </a:moveTo>
                  <a:lnTo>
                    <a:pt x="6035040" y="0"/>
                  </a:lnTo>
                  <a:lnTo>
                    <a:pt x="60350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r="-1998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66675"/>
              <a:ext cx="6035040" cy="3358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9"/>
                </a:lnSpc>
              </a:pPr>
              <a:r>
                <a:rPr lang="en-US" sz="172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Nmap recon followed by a Hydra credential-stuffing run against the Ubuntu victim's SSH service.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85800" y="9793224"/>
            <a:ext cx="6858000" cy="384048"/>
            <a:chOff x="0" y="0"/>
            <a:chExt cx="9144000" cy="512064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9144000" cy="512064"/>
            </a:xfrm>
            <a:custGeom>
              <a:avLst/>
              <a:gdLst/>
              <a:ahLst/>
              <a:cxnLst/>
              <a:rect l="l" t="t" r="r" b="b"/>
              <a:pathLst>
                <a:path w="9144000" h="512064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28575"/>
              <a:ext cx="91440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spc="149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WAZUH + SHUFFLE SOC LAB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6870680" y="9793224"/>
            <a:ext cx="754380" cy="384048"/>
            <a:chOff x="0" y="0"/>
            <a:chExt cx="1005840" cy="512064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005840" cy="512064"/>
            </a:xfrm>
            <a:custGeom>
              <a:avLst/>
              <a:gdLst/>
              <a:ahLst/>
              <a:cxnLst/>
              <a:rect l="l" t="t" r="r" b="b"/>
              <a:pathLst>
                <a:path w="1005840" h="512064">
                  <a:moveTo>
                    <a:pt x="0" y="0"/>
                  </a:moveTo>
                  <a:lnTo>
                    <a:pt x="1005840" y="0"/>
                  </a:lnTo>
                  <a:lnTo>
                    <a:pt x="10058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r="-153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28575"/>
              <a:ext cx="100584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6275" y="566547"/>
            <a:ext cx="1870710" cy="457962"/>
            <a:chOff x="0" y="0"/>
            <a:chExt cx="2494280" cy="6106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280" cy="610616"/>
            </a:xfrm>
            <a:custGeom>
              <a:avLst/>
              <a:gdLst/>
              <a:ahLst/>
              <a:cxnLst/>
              <a:rect l="l" t="t" r="r" b="b"/>
              <a:pathLst>
                <a:path w="249428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2188972" y="0"/>
                  </a:lnTo>
                  <a:cubicBezTo>
                    <a:pt x="2357628" y="0"/>
                    <a:pt x="2494280" y="136652"/>
                    <a:pt x="2494280" y="305308"/>
                  </a:cubicBezTo>
                  <a:cubicBezTo>
                    <a:pt x="2494280" y="473964"/>
                    <a:pt x="2357628" y="610616"/>
                    <a:pt x="218897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FF6B6B">
                <a:alpha val="1961"/>
              </a:srgbClr>
            </a:solidFill>
            <a:ln w="19050" cap="sq">
              <a:solidFill>
                <a:srgbClr val="FF6B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576072"/>
            <a:ext cx="1851660" cy="438912"/>
            <a:chOff x="0" y="0"/>
            <a:chExt cx="2468880" cy="585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8880" cy="585216"/>
            </a:xfrm>
            <a:custGeom>
              <a:avLst/>
              <a:gdLst/>
              <a:ahLst/>
              <a:cxnLst/>
              <a:rect l="l" t="t" r="r" b="b"/>
              <a:pathLst>
                <a:path w="2468880" h="585216">
                  <a:moveTo>
                    <a:pt x="0" y="0"/>
                  </a:moveTo>
                  <a:lnTo>
                    <a:pt x="2468880" y="0"/>
                  </a:lnTo>
                  <a:lnTo>
                    <a:pt x="2468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02" b="-32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6888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 spc="150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ATTACKS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1069848"/>
            <a:ext cx="15773400" cy="960120"/>
            <a:chOff x="0" y="0"/>
            <a:chExt cx="2103120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Attack execution — command &amp; control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947672"/>
            <a:ext cx="16184880" cy="548640"/>
            <a:chOff x="0" y="0"/>
            <a:chExt cx="2157984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4808" b="-5248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57984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Mohamed Bushnak — PsExec-style remote command attempt against the Windows Server host.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31139" y="2925699"/>
            <a:ext cx="16505682" cy="2515362"/>
            <a:chOff x="0" y="0"/>
            <a:chExt cx="22007576" cy="335381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007576" cy="3353816"/>
            </a:xfrm>
            <a:custGeom>
              <a:avLst/>
              <a:gdLst/>
              <a:ahLst/>
              <a:cxnLst/>
              <a:rect l="l" t="t" r="r" b="b"/>
              <a:pathLst>
                <a:path w="22007576" h="3353816">
                  <a:moveTo>
                    <a:pt x="0" y="165862"/>
                  </a:moveTo>
                  <a:cubicBezTo>
                    <a:pt x="0" y="74295"/>
                    <a:pt x="74295" y="0"/>
                    <a:pt x="165862" y="0"/>
                  </a:cubicBezTo>
                  <a:lnTo>
                    <a:pt x="21841713" y="0"/>
                  </a:lnTo>
                  <a:cubicBezTo>
                    <a:pt x="21933280" y="0"/>
                    <a:pt x="22007576" y="74295"/>
                    <a:pt x="22007576" y="165862"/>
                  </a:cubicBezTo>
                  <a:lnTo>
                    <a:pt x="22007576" y="3187954"/>
                  </a:lnTo>
                  <a:cubicBezTo>
                    <a:pt x="22007576" y="3279521"/>
                    <a:pt x="21933280" y="3353816"/>
                    <a:pt x="21841713" y="3353816"/>
                  </a:cubicBezTo>
                  <a:lnTo>
                    <a:pt x="165862" y="3353816"/>
                  </a:lnTo>
                  <a:cubicBezTo>
                    <a:pt x="74295" y="3353816"/>
                    <a:pt x="0" y="3279521"/>
                    <a:pt x="0" y="3187954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22960" y="3017520"/>
            <a:ext cx="16322040" cy="2331720"/>
            <a:chOff x="0" y="0"/>
            <a:chExt cx="21762720" cy="3108960"/>
          </a:xfrm>
        </p:grpSpPr>
        <p:sp>
          <p:nvSpPr>
            <p:cNvPr id="16" name="Freeform 16" descr="clean_assets/WhatsApp_Image_2026-08-23_at_30748_AM.png"/>
            <p:cNvSpPr/>
            <p:nvPr/>
          </p:nvSpPr>
          <p:spPr>
            <a:xfrm>
              <a:off x="0" y="0"/>
              <a:ext cx="21762720" cy="3108960"/>
            </a:xfrm>
            <a:custGeom>
              <a:avLst/>
              <a:gdLst/>
              <a:ahLst/>
              <a:cxnLst/>
              <a:rect l="l" t="t" r="r" b="b"/>
              <a:pathLst>
                <a:path w="21762720" h="3108960">
                  <a:moveTo>
                    <a:pt x="0" y="0"/>
                  </a:moveTo>
                  <a:lnTo>
                    <a:pt x="21762720" y="0"/>
                  </a:lnTo>
                  <a:lnTo>
                    <a:pt x="21762720" y="3108960"/>
                  </a:lnTo>
                  <a:lnTo>
                    <a:pt x="0" y="310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3484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6377" y="2920936"/>
            <a:ext cx="16515207" cy="2524887"/>
            <a:chOff x="0" y="0"/>
            <a:chExt cx="22020276" cy="336651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020276" cy="3366516"/>
            </a:xfrm>
            <a:custGeom>
              <a:avLst/>
              <a:gdLst/>
              <a:ahLst/>
              <a:cxnLst/>
              <a:rect l="l" t="t" r="r" b="b"/>
              <a:pathLst>
                <a:path w="22020276" h="3366516">
                  <a:moveTo>
                    <a:pt x="0" y="166497"/>
                  </a:moveTo>
                  <a:cubicBezTo>
                    <a:pt x="0" y="74549"/>
                    <a:pt x="74549" y="0"/>
                    <a:pt x="166497" y="0"/>
                  </a:cubicBezTo>
                  <a:lnTo>
                    <a:pt x="21853779" y="0"/>
                  </a:lnTo>
                  <a:cubicBezTo>
                    <a:pt x="21945727" y="0"/>
                    <a:pt x="22020276" y="74549"/>
                    <a:pt x="22020276" y="166497"/>
                  </a:cubicBezTo>
                  <a:lnTo>
                    <a:pt x="22020276" y="3200019"/>
                  </a:lnTo>
                  <a:cubicBezTo>
                    <a:pt x="22020276" y="3291967"/>
                    <a:pt x="21945727" y="3366516"/>
                    <a:pt x="21853779" y="3366516"/>
                  </a:cubicBezTo>
                  <a:lnTo>
                    <a:pt x="166497" y="3366516"/>
                  </a:lnTo>
                  <a:cubicBezTo>
                    <a:pt x="74549" y="3366516"/>
                    <a:pt x="0" y="3291967"/>
                    <a:pt x="0" y="3200019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451" b="-77451"/>
              </a:stretch>
            </a:blipFill>
            <a:ln w="28575" cap="sq">
              <a:solidFill>
                <a:srgbClr val="FF6B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2960" y="5486400"/>
            <a:ext cx="16322040" cy="411480"/>
            <a:chOff x="0" y="0"/>
            <a:chExt cx="21762720" cy="548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762720" cy="548640"/>
            </a:xfrm>
            <a:custGeom>
              <a:avLst/>
              <a:gdLst/>
              <a:ahLst/>
              <a:cxnLst/>
              <a:rect l="l" t="t" r="r" b="b"/>
              <a:pathLst>
                <a:path w="21762720" h="54864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2906" b="-7229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217627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PsExec attempt — logged against the Windows Server target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13435" y="5956935"/>
            <a:ext cx="5299710" cy="1870710"/>
            <a:chOff x="0" y="0"/>
            <a:chExt cx="7066280" cy="24942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066280" cy="2494280"/>
            </a:xfrm>
            <a:custGeom>
              <a:avLst/>
              <a:gdLst/>
              <a:ahLst/>
              <a:cxnLst/>
              <a:rect l="l" t="t" r="r" b="b"/>
              <a:pathLst>
                <a:path w="7066280" h="2494280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6900037" y="0"/>
                  </a:lnTo>
                  <a:cubicBezTo>
                    <a:pt x="6991858" y="0"/>
                    <a:pt x="7066280" y="74422"/>
                    <a:pt x="7066280" y="166243"/>
                  </a:cubicBezTo>
                  <a:lnTo>
                    <a:pt x="7066280" y="2328037"/>
                  </a:lnTo>
                  <a:cubicBezTo>
                    <a:pt x="7066280" y="2419858"/>
                    <a:pt x="6991858" y="2494280"/>
                    <a:pt x="6900037" y="2494280"/>
                  </a:cubicBezTo>
                  <a:lnTo>
                    <a:pt x="166243" y="2494280"/>
                  </a:lnTo>
                  <a:cubicBezTo>
                    <a:pt x="74422" y="2494280"/>
                    <a:pt x="0" y="2419858"/>
                    <a:pt x="0" y="2328037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97280" y="6172200"/>
            <a:ext cx="4732020" cy="411480"/>
            <a:chOff x="0" y="0"/>
            <a:chExt cx="6309360" cy="5486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09360" cy="548640"/>
            </a:xfrm>
            <a:custGeom>
              <a:avLst/>
              <a:gdLst/>
              <a:ahLst/>
              <a:cxnLst/>
              <a:rect l="l" t="t" r="r" b="b"/>
              <a:pathLst>
                <a:path w="6309360" h="548640">
                  <a:moveTo>
                    <a:pt x="0" y="0"/>
                  </a:moveTo>
                  <a:lnTo>
                    <a:pt x="6309360" y="0"/>
                  </a:lnTo>
                  <a:lnTo>
                    <a:pt x="6309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077" b="-17407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630936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97280" y="6652260"/>
            <a:ext cx="4732020" cy="1028700"/>
            <a:chOff x="0" y="0"/>
            <a:chExt cx="6309360" cy="13716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309360" cy="1371600"/>
            </a:xfrm>
            <a:custGeom>
              <a:avLst/>
              <a:gdLst/>
              <a:ahLst/>
              <a:cxnLst/>
              <a:rect l="l" t="t" r="r" b="b"/>
              <a:pathLst>
                <a:path w="6309360" h="1371600">
                  <a:moveTo>
                    <a:pt x="0" y="0"/>
                  </a:moveTo>
                  <a:lnTo>
                    <a:pt x="6309360" y="0"/>
                  </a:lnTo>
                  <a:lnTo>
                    <a:pt x="63093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631" b="-396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6309360" cy="141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muhamedbushnak — Windows Server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78143" y="5956935"/>
            <a:ext cx="5299710" cy="1870710"/>
            <a:chOff x="0" y="0"/>
            <a:chExt cx="7066280" cy="249428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066280" cy="2494280"/>
            </a:xfrm>
            <a:custGeom>
              <a:avLst/>
              <a:gdLst/>
              <a:ahLst/>
              <a:cxnLst/>
              <a:rect l="l" t="t" r="r" b="b"/>
              <a:pathLst>
                <a:path w="7066280" h="2494280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6900037" y="0"/>
                  </a:lnTo>
                  <a:cubicBezTo>
                    <a:pt x="6991858" y="0"/>
                    <a:pt x="7066280" y="74422"/>
                    <a:pt x="7066280" y="166243"/>
                  </a:cubicBezTo>
                  <a:lnTo>
                    <a:pt x="7066280" y="2328037"/>
                  </a:lnTo>
                  <a:cubicBezTo>
                    <a:pt x="7066280" y="2419858"/>
                    <a:pt x="6991858" y="2494280"/>
                    <a:pt x="6900037" y="2494280"/>
                  </a:cubicBezTo>
                  <a:lnTo>
                    <a:pt x="166243" y="2494280"/>
                  </a:lnTo>
                  <a:cubicBezTo>
                    <a:pt x="74422" y="2494280"/>
                    <a:pt x="0" y="2419858"/>
                    <a:pt x="0" y="2328037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61988" y="6172200"/>
            <a:ext cx="4732020" cy="411480"/>
            <a:chOff x="0" y="0"/>
            <a:chExt cx="6309360" cy="5486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309360" cy="548640"/>
            </a:xfrm>
            <a:custGeom>
              <a:avLst/>
              <a:gdLst/>
              <a:ahLst/>
              <a:cxnLst/>
              <a:rect l="l" t="t" r="r" b="b"/>
              <a:pathLst>
                <a:path w="6309360" h="548640">
                  <a:moveTo>
                    <a:pt x="0" y="0"/>
                  </a:moveTo>
                  <a:lnTo>
                    <a:pt x="6309360" y="0"/>
                  </a:lnTo>
                  <a:lnTo>
                    <a:pt x="6309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077" b="-17407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630936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Technique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761988" y="6652260"/>
            <a:ext cx="4732020" cy="1028700"/>
            <a:chOff x="0" y="0"/>
            <a:chExt cx="6309360" cy="13716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309360" cy="1371600"/>
            </a:xfrm>
            <a:custGeom>
              <a:avLst/>
              <a:gdLst/>
              <a:ahLst/>
              <a:cxnLst/>
              <a:rect l="l" t="t" r="r" b="b"/>
              <a:pathLst>
                <a:path w="6309360" h="1371600">
                  <a:moveTo>
                    <a:pt x="0" y="0"/>
                  </a:moveTo>
                  <a:lnTo>
                    <a:pt x="6309360" y="0"/>
                  </a:lnTo>
                  <a:lnTo>
                    <a:pt x="63093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631" b="-396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6309360" cy="141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Remote service execution (PsExec-style)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142851" y="5956935"/>
            <a:ext cx="5299710" cy="1870710"/>
            <a:chOff x="0" y="0"/>
            <a:chExt cx="7066280" cy="24942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066280" cy="2494280"/>
            </a:xfrm>
            <a:custGeom>
              <a:avLst/>
              <a:gdLst/>
              <a:ahLst/>
              <a:cxnLst/>
              <a:rect l="l" t="t" r="r" b="b"/>
              <a:pathLst>
                <a:path w="7066280" h="2494280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6900037" y="0"/>
                  </a:lnTo>
                  <a:cubicBezTo>
                    <a:pt x="6991858" y="0"/>
                    <a:pt x="7066280" y="74422"/>
                    <a:pt x="7066280" y="166243"/>
                  </a:cubicBezTo>
                  <a:lnTo>
                    <a:pt x="7066280" y="2328037"/>
                  </a:lnTo>
                  <a:cubicBezTo>
                    <a:pt x="7066280" y="2419858"/>
                    <a:pt x="6991858" y="2494280"/>
                    <a:pt x="6900037" y="2494280"/>
                  </a:cubicBezTo>
                  <a:lnTo>
                    <a:pt x="166243" y="2494280"/>
                  </a:lnTo>
                  <a:cubicBezTo>
                    <a:pt x="74422" y="2494280"/>
                    <a:pt x="0" y="2419858"/>
                    <a:pt x="0" y="2328037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426696" y="6172200"/>
            <a:ext cx="4732020" cy="411480"/>
            <a:chOff x="0" y="0"/>
            <a:chExt cx="6309360" cy="54864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309360" cy="548640"/>
            </a:xfrm>
            <a:custGeom>
              <a:avLst/>
              <a:gdLst/>
              <a:ahLst/>
              <a:cxnLst/>
              <a:rect l="l" t="t" r="r" b="b"/>
              <a:pathLst>
                <a:path w="6309360" h="548640">
                  <a:moveTo>
                    <a:pt x="0" y="0"/>
                  </a:moveTo>
                  <a:lnTo>
                    <a:pt x="6309360" y="0"/>
                  </a:lnTo>
                  <a:lnTo>
                    <a:pt x="6309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077" b="-17407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630936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 spc="150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Outcome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426696" y="6652260"/>
            <a:ext cx="4732020" cy="1028700"/>
            <a:chOff x="0" y="0"/>
            <a:chExt cx="6309360" cy="13716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309360" cy="1371600"/>
            </a:xfrm>
            <a:custGeom>
              <a:avLst/>
              <a:gdLst/>
              <a:ahLst/>
              <a:cxnLst/>
              <a:rect l="l" t="t" r="r" b="b"/>
              <a:pathLst>
                <a:path w="6309360" h="1371600">
                  <a:moveTo>
                    <a:pt x="0" y="0"/>
                  </a:moveTo>
                  <a:lnTo>
                    <a:pt x="6309360" y="0"/>
                  </a:lnTo>
                  <a:lnTo>
                    <a:pt x="63093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631" b="-396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6309360" cy="141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Logon-type failure recorded and correlated in Wazuh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5800" y="9793224"/>
            <a:ext cx="6858000" cy="384048"/>
            <a:chOff x="0" y="0"/>
            <a:chExt cx="9144000" cy="51206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144000" cy="512064"/>
            </a:xfrm>
            <a:custGeom>
              <a:avLst/>
              <a:gdLst/>
              <a:ahLst/>
              <a:cxnLst/>
              <a:rect l="l" t="t" r="r" b="b"/>
              <a:pathLst>
                <a:path w="9144000" h="512064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28575"/>
              <a:ext cx="91440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spc="149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WAZUH + SHUFFLE SOC LAB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6870680" y="9793224"/>
            <a:ext cx="754380" cy="384048"/>
            <a:chOff x="0" y="0"/>
            <a:chExt cx="1005840" cy="51206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05840" cy="512064"/>
            </a:xfrm>
            <a:custGeom>
              <a:avLst/>
              <a:gdLst/>
              <a:ahLst/>
              <a:cxnLst/>
              <a:rect l="l" t="t" r="r" b="b"/>
              <a:pathLst>
                <a:path w="1005840" h="512064">
                  <a:moveTo>
                    <a:pt x="0" y="0"/>
                  </a:moveTo>
                  <a:lnTo>
                    <a:pt x="1005840" y="0"/>
                  </a:lnTo>
                  <a:lnTo>
                    <a:pt x="10058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r="-153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28575"/>
              <a:ext cx="100584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6275" y="566547"/>
            <a:ext cx="1870710" cy="457962"/>
            <a:chOff x="0" y="0"/>
            <a:chExt cx="2494280" cy="6106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280" cy="610616"/>
            </a:xfrm>
            <a:custGeom>
              <a:avLst/>
              <a:gdLst/>
              <a:ahLst/>
              <a:cxnLst/>
              <a:rect l="l" t="t" r="r" b="b"/>
              <a:pathLst>
                <a:path w="249428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2188972" y="0"/>
                  </a:lnTo>
                  <a:cubicBezTo>
                    <a:pt x="2357628" y="0"/>
                    <a:pt x="2494280" y="136652"/>
                    <a:pt x="2494280" y="305308"/>
                  </a:cubicBezTo>
                  <a:cubicBezTo>
                    <a:pt x="2494280" y="473964"/>
                    <a:pt x="2357628" y="610616"/>
                    <a:pt x="218897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FF6B6B">
                <a:alpha val="1961"/>
              </a:srgbClr>
            </a:solidFill>
            <a:ln w="19050" cap="sq">
              <a:solidFill>
                <a:srgbClr val="FF6B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576072"/>
            <a:ext cx="1851660" cy="438912"/>
            <a:chOff x="0" y="0"/>
            <a:chExt cx="2468880" cy="585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8880" cy="585216"/>
            </a:xfrm>
            <a:custGeom>
              <a:avLst/>
              <a:gdLst/>
              <a:ahLst/>
              <a:cxnLst/>
              <a:rect l="l" t="t" r="r" b="b"/>
              <a:pathLst>
                <a:path w="2468880" h="585216">
                  <a:moveTo>
                    <a:pt x="0" y="0"/>
                  </a:moveTo>
                  <a:lnTo>
                    <a:pt x="2468880" y="0"/>
                  </a:lnTo>
                  <a:lnTo>
                    <a:pt x="2468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02" b="-32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6888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 spc="150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ATTACKS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1069848"/>
            <a:ext cx="15773400" cy="960120"/>
            <a:chOff x="0" y="0"/>
            <a:chExt cx="2103120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Attack execution — suspicious PowerShell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947672"/>
            <a:ext cx="16184880" cy="548640"/>
            <a:chOff x="0" y="0"/>
            <a:chExt cx="2157984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4808" b="-5248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57984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Karim — ExecutionPolicy bypass with an IEX / DownloadString download cradle against the Windows victim.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31139" y="3062859"/>
            <a:ext cx="8207502" cy="3064002"/>
            <a:chOff x="0" y="0"/>
            <a:chExt cx="10943336" cy="40853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43336" cy="4085336"/>
            </a:xfrm>
            <a:custGeom>
              <a:avLst/>
              <a:gdLst/>
              <a:ahLst/>
              <a:cxnLst/>
              <a:rect l="l" t="t" r="r" b="b"/>
              <a:pathLst>
                <a:path w="10943336" h="408533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10777727" y="0"/>
                  </a:lnTo>
                  <a:cubicBezTo>
                    <a:pt x="10869168" y="0"/>
                    <a:pt x="10943336" y="74168"/>
                    <a:pt x="10943336" y="165608"/>
                  </a:cubicBezTo>
                  <a:lnTo>
                    <a:pt x="10943336" y="3919728"/>
                  </a:lnTo>
                  <a:cubicBezTo>
                    <a:pt x="10943336" y="4011168"/>
                    <a:pt x="10869168" y="4085336"/>
                    <a:pt x="10777727" y="4085336"/>
                  </a:cubicBezTo>
                  <a:lnTo>
                    <a:pt x="165608" y="4085336"/>
                  </a:lnTo>
                  <a:cubicBezTo>
                    <a:pt x="74168" y="4085336"/>
                    <a:pt x="0" y="4011168"/>
                    <a:pt x="0" y="3919728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22960" y="3154680"/>
            <a:ext cx="8023860" cy="2880360"/>
            <a:chOff x="0" y="0"/>
            <a:chExt cx="10698480" cy="3840480"/>
          </a:xfrm>
        </p:grpSpPr>
        <p:sp>
          <p:nvSpPr>
            <p:cNvPr id="16" name="Freeform 16" descr="clean_assets/316c846b-1d56-48bc-97a3-b4ff84b255b8.png"/>
            <p:cNvSpPr/>
            <p:nvPr/>
          </p:nvSpPr>
          <p:spPr>
            <a:xfrm>
              <a:off x="0" y="0"/>
              <a:ext cx="10698480" cy="3840480"/>
            </a:xfrm>
            <a:custGeom>
              <a:avLst/>
              <a:gdLst/>
              <a:ahLst/>
              <a:cxnLst/>
              <a:rect l="l" t="t" r="r" b="b"/>
              <a:pathLst>
                <a:path w="10698480" h="3840480">
                  <a:moveTo>
                    <a:pt x="0" y="0"/>
                  </a:moveTo>
                  <a:lnTo>
                    <a:pt x="10698480" y="0"/>
                  </a:lnTo>
                  <a:lnTo>
                    <a:pt x="10698480" y="3840480"/>
                  </a:lnTo>
                  <a:lnTo>
                    <a:pt x="0" y="3840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33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6377" y="3058096"/>
            <a:ext cx="8217027" cy="3073527"/>
            <a:chOff x="0" y="0"/>
            <a:chExt cx="10956036" cy="409803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56036" cy="4098036"/>
            </a:xfrm>
            <a:custGeom>
              <a:avLst/>
              <a:gdLst/>
              <a:ahLst/>
              <a:cxnLst/>
              <a:rect l="l" t="t" r="r" b="b"/>
              <a:pathLst>
                <a:path w="10956036" h="4098036">
                  <a:moveTo>
                    <a:pt x="0" y="166116"/>
                  </a:moveTo>
                  <a:cubicBezTo>
                    <a:pt x="0" y="74422"/>
                    <a:pt x="74422" y="0"/>
                    <a:pt x="166116" y="0"/>
                  </a:cubicBezTo>
                  <a:lnTo>
                    <a:pt x="10789920" y="0"/>
                  </a:lnTo>
                  <a:cubicBezTo>
                    <a:pt x="10881613" y="0"/>
                    <a:pt x="10956036" y="74422"/>
                    <a:pt x="10956036" y="166116"/>
                  </a:cubicBezTo>
                  <a:lnTo>
                    <a:pt x="10956036" y="3931920"/>
                  </a:lnTo>
                  <a:cubicBezTo>
                    <a:pt x="10956036" y="4023614"/>
                    <a:pt x="10881613" y="4098036"/>
                    <a:pt x="10789920" y="4098036"/>
                  </a:cubicBezTo>
                  <a:lnTo>
                    <a:pt x="166116" y="4098036"/>
                  </a:lnTo>
                  <a:cubicBezTo>
                    <a:pt x="74422" y="4098036"/>
                    <a:pt x="0" y="4023614"/>
                    <a:pt x="0" y="393192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2" b="-2092"/>
              </a:stretch>
            </a:blipFill>
            <a:ln w="28575" cap="sq">
              <a:solidFill>
                <a:srgbClr val="FF6B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2960" y="6172200"/>
            <a:ext cx="8023860" cy="411480"/>
            <a:chOff x="0" y="0"/>
            <a:chExt cx="10698480" cy="548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698480" cy="548640"/>
            </a:xfrm>
            <a:custGeom>
              <a:avLst/>
              <a:gdLst/>
              <a:ahLst/>
              <a:cxnLst/>
              <a:rect l="l" t="t" r="r" b="b"/>
              <a:pathLst>
                <a:path w="10698480" h="548640">
                  <a:moveTo>
                    <a:pt x="0" y="0"/>
                  </a:moveTo>
                  <a:lnTo>
                    <a:pt x="10698480" y="0"/>
                  </a:lnTo>
                  <a:lnTo>
                    <a:pt x="10698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9958" b="-3299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106984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PowerShell execution — bypass flag set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303639" y="3062859"/>
            <a:ext cx="8207502" cy="2035302"/>
            <a:chOff x="0" y="0"/>
            <a:chExt cx="10943336" cy="271373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943336" cy="2713736"/>
            </a:xfrm>
            <a:custGeom>
              <a:avLst/>
              <a:gdLst/>
              <a:ahLst/>
              <a:cxnLst/>
              <a:rect l="l" t="t" r="r" b="b"/>
              <a:pathLst>
                <a:path w="10943336" h="2713736">
                  <a:moveTo>
                    <a:pt x="0" y="166116"/>
                  </a:moveTo>
                  <a:cubicBezTo>
                    <a:pt x="0" y="74422"/>
                    <a:pt x="74422" y="0"/>
                    <a:pt x="166116" y="0"/>
                  </a:cubicBezTo>
                  <a:lnTo>
                    <a:pt x="10777220" y="0"/>
                  </a:lnTo>
                  <a:cubicBezTo>
                    <a:pt x="10868913" y="0"/>
                    <a:pt x="10943336" y="74422"/>
                    <a:pt x="10943336" y="166116"/>
                  </a:cubicBezTo>
                  <a:lnTo>
                    <a:pt x="10943336" y="2547620"/>
                  </a:lnTo>
                  <a:cubicBezTo>
                    <a:pt x="10943336" y="2639314"/>
                    <a:pt x="10868913" y="2713736"/>
                    <a:pt x="10777220" y="2713736"/>
                  </a:cubicBezTo>
                  <a:lnTo>
                    <a:pt x="166116" y="2713736"/>
                  </a:lnTo>
                  <a:cubicBezTo>
                    <a:pt x="74422" y="2713736"/>
                    <a:pt x="0" y="2639314"/>
                    <a:pt x="0" y="2547620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395460" y="3154680"/>
            <a:ext cx="8023860" cy="1851660"/>
            <a:chOff x="0" y="0"/>
            <a:chExt cx="10698480" cy="2468880"/>
          </a:xfrm>
        </p:grpSpPr>
        <p:sp>
          <p:nvSpPr>
            <p:cNvPr id="25" name="Freeform 25" descr="clean_assets/354b5b62-daea-4a7a-ae23-3e36e6896f0a.png"/>
            <p:cNvSpPr/>
            <p:nvPr/>
          </p:nvSpPr>
          <p:spPr>
            <a:xfrm>
              <a:off x="0" y="0"/>
              <a:ext cx="10698480" cy="2468880"/>
            </a:xfrm>
            <a:custGeom>
              <a:avLst/>
              <a:gdLst/>
              <a:ahLst/>
              <a:cxnLst/>
              <a:rect l="l" t="t" r="r" b="b"/>
              <a:pathLst>
                <a:path w="10698480" h="2468880">
                  <a:moveTo>
                    <a:pt x="0" y="0"/>
                  </a:moveTo>
                  <a:lnTo>
                    <a:pt x="10698480" y="0"/>
                  </a:lnTo>
                  <a:lnTo>
                    <a:pt x="10698480" y="2468880"/>
                  </a:lnTo>
                  <a:lnTo>
                    <a:pt x="0" y="2468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323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98876" y="3058096"/>
            <a:ext cx="8217027" cy="2044827"/>
            <a:chOff x="0" y="0"/>
            <a:chExt cx="10956036" cy="272643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956036" cy="2726436"/>
            </a:xfrm>
            <a:custGeom>
              <a:avLst/>
              <a:gdLst/>
              <a:ahLst/>
              <a:cxnLst/>
              <a:rect l="l" t="t" r="r" b="b"/>
              <a:pathLst>
                <a:path w="10956036" h="2726436">
                  <a:moveTo>
                    <a:pt x="0" y="166878"/>
                  </a:moveTo>
                  <a:cubicBezTo>
                    <a:pt x="0" y="74676"/>
                    <a:pt x="74676" y="0"/>
                    <a:pt x="166878" y="0"/>
                  </a:cubicBezTo>
                  <a:lnTo>
                    <a:pt x="10789158" y="0"/>
                  </a:lnTo>
                  <a:cubicBezTo>
                    <a:pt x="10881360" y="0"/>
                    <a:pt x="10956036" y="74676"/>
                    <a:pt x="10956036" y="166878"/>
                  </a:cubicBezTo>
                  <a:lnTo>
                    <a:pt x="10956036" y="2559558"/>
                  </a:lnTo>
                  <a:cubicBezTo>
                    <a:pt x="10956036" y="2651760"/>
                    <a:pt x="10881360" y="2726436"/>
                    <a:pt x="10789158" y="2726436"/>
                  </a:cubicBezTo>
                  <a:lnTo>
                    <a:pt x="166878" y="2726436"/>
                  </a:lnTo>
                  <a:cubicBezTo>
                    <a:pt x="74676" y="2726436"/>
                    <a:pt x="0" y="2651760"/>
                    <a:pt x="0" y="255955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299" b="-28299"/>
              </a:stretch>
            </a:blipFill>
            <a:ln w="28575" cap="sq">
              <a:solidFill>
                <a:srgbClr val="FF6B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395460" y="5143500"/>
            <a:ext cx="8023860" cy="411480"/>
            <a:chOff x="0" y="0"/>
            <a:chExt cx="10698480" cy="548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698480" cy="548640"/>
            </a:xfrm>
            <a:custGeom>
              <a:avLst/>
              <a:gdLst/>
              <a:ahLst/>
              <a:cxnLst/>
              <a:rect l="l" t="t" r="r" b="b"/>
              <a:pathLst>
                <a:path w="10698480" h="548640">
                  <a:moveTo>
                    <a:pt x="0" y="0"/>
                  </a:moveTo>
                  <a:lnTo>
                    <a:pt x="10698480" y="0"/>
                  </a:lnTo>
                  <a:lnTo>
                    <a:pt x="10698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9958" b="-3299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106984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Download cradle triggering the payload fetch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31139" y="6560439"/>
            <a:ext cx="16505682" cy="2035302"/>
            <a:chOff x="0" y="0"/>
            <a:chExt cx="22007576" cy="271373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2007576" cy="2713736"/>
            </a:xfrm>
            <a:custGeom>
              <a:avLst/>
              <a:gdLst/>
              <a:ahLst/>
              <a:cxnLst/>
              <a:rect l="l" t="t" r="r" b="b"/>
              <a:pathLst>
                <a:path w="22007576" h="2713736">
                  <a:moveTo>
                    <a:pt x="0" y="166116"/>
                  </a:moveTo>
                  <a:cubicBezTo>
                    <a:pt x="0" y="74422"/>
                    <a:pt x="74422" y="0"/>
                    <a:pt x="166116" y="0"/>
                  </a:cubicBezTo>
                  <a:lnTo>
                    <a:pt x="21841461" y="0"/>
                  </a:lnTo>
                  <a:cubicBezTo>
                    <a:pt x="21933154" y="0"/>
                    <a:pt x="22007576" y="74422"/>
                    <a:pt x="22007576" y="166116"/>
                  </a:cubicBezTo>
                  <a:lnTo>
                    <a:pt x="22007576" y="2547620"/>
                  </a:lnTo>
                  <a:cubicBezTo>
                    <a:pt x="22007576" y="2639314"/>
                    <a:pt x="21933154" y="2713736"/>
                    <a:pt x="21841461" y="2713736"/>
                  </a:cubicBezTo>
                  <a:lnTo>
                    <a:pt x="166116" y="2713736"/>
                  </a:lnTo>
                  <a:cubicBezTo>
                    <a:pt x="74422" y="2713736"/>
                    <a:pt x="0" y="2639314"/>
                    <a:pt x="0" y="2547620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22960" y="6652260"/>
            <a:ext cx="16322040" cy="1851660"/>
            <a:chOff x="0" y="0"/>
            <a:chExt cx="21762720" cy="2468880"/>
          </a:xfrm>
        </p:grpSpPr>
        <p:sp>
          <p:nvSpPr>
            <p:cNvPr id="34" name="Freeform 34" descr="clean_assets/a7fad0e9-c730-49dd-b9c5-3dc585cf3dd5.png"/>
            <p:cNvSpPr/>
            <p:nvPr/>
          </p:nvSpPr>
          <p:spPr>
            <a:xfrm>
              <a:off x="0" y="0"/>
              <a:ext cx="21762720" cy="2468880"/>
            </a:xfrm>
            <a:custGeom>
              <a:avLst/>
              <a:gdLst/>
              <a:ahLst/>
              <a:cxnLst/>
              <a:rect l="l" t="t" r="r" b="b"/>
              <a:pathLst>
                <a:path w="21762720" h="2468880">
                  <a:moveTo>
                    <a:pt x="0" y="0"/>
                  </a:moveTo>
                  <a:lnTo>
                    <a:pt x="21762720" y="0"/>
                  </a:lnTo>
                  <a:lnTo>
                    <a:pt x="21762720" y="2468880"/>
                  </a:lnTo>
                  <a:lnTo>
                    <a:pt x="0" y="2468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10039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26377" y="6555676"/>
            <a:ext cx="16515207" cy="2044827"/>
            <a:chOff x="0" y="0"/>
            <a:chExt cx="22020276" cy="272643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2020276" cy="2726436"/>
            </a:xfrm>
            <a:custGeom>
              <a:avLst/>
              <a:gdLst/>
              <a:ahLst/>
              <a:cxnLst/>
              <a:rect l="l" t="t" r="r" b="b"/>
              <a:pathLst>
                <a:path w="22020276" h="2726436">
                  <a:moveTo>
                    <a:pt x="0" y="166878"/>
                  </a:moveTo>
                  <a:cubicBezTo>
                    <a:pt x="0" y="74676"/>
                    <a:pt x="74676" y="0"/>
                    <a:pt x="166878" y="0"/>
                  </a:cubicBezTo>
                  <a:lnTo>
                    <a:pt x="21853398" y="0"/>
                  </a:lnTo>
                  <a:cubicBezTo>
                    <a:pt x="21945600" y="0"/>
                    <a:pt x="22020276" y="74676"/>
                    <a:pt x="22020276" y="166878"/>
                  </a:cubicBezTo>
                  <a:lnTo>
                    <a:pt x="22020276" y="2559558"/>
                  </a:lnTo>
                  <a:cubicBezTo>
                    <a:pt x="22020276" y="2651760"/>
                    <a:pt x="21945600" y="2726436"/>
                    <a:pt x="21853398" y="2726436"/>
                  </a:cubicBezTo>
                  <a:lnTo>
                    <a:pt x="166878" y="2726436"/>
                  </a:lnTo>
                  <a:cubicBezTo>
                    <a:pt x="74676" y="2726436"/>
                    <a:pt x="0" y="2651760"/>
                    <a:pt x="0" y="255955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372" b="-107372"/>
              </a:stretch>
            </a:blipFill>
            <a:ln w="28575" cap="sq">
              <a:solidFill>
                <a:srgbClr val="FF6B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22960" y="8641080"/>
            <a:ext cx="16322040" cy="411480"/>
            <a:chOff x="0" y="0"/>
            <a:chExt cx="21762720" cy="5486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762720" cy="548640"/>
            </a:xfrm>
            <a:custGeom>
              <a:avLst/>
              <a:gdLst/>
              <a:ahLst/>
              <a:cxnLst/>
              <a:rect l="l" t="t" r="r" b="b"/>
              <a:pathLst>
                <a:path w="21762720" h="54864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2906" b="-7229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217627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Full command line captured for the script block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85800" y="9793224"/>
            <a:ext cx="6858000" cy="384048"/>
            <a:chOff x="0" y="0"/>
            <a:chExt cx="9144000" cy="51206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144000" cy="512064"/>
            </a:xfrm>
            <a:custGeom>
              <a:avLst/>
              <a:gdLst/>
              <a:ahLst/>
              <a:cxnLst/>
              <a:rect l="l" t="t" r="r" b="b"/>
              <a:pathLst>
                <a:path w="9144000" h="512064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91440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spc="149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WAZUH + SHUFFLE SOC LAB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6870680" y="9793224"/>
            <a:ext cx="754380" cy="384048"/>
            <a:chOff x="0" y="0"/>
            <a:chExt cx="1005840" cy="51206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05840" cy="512064"/>
            </a:xfrm>
            <a:custGeom>
              <a:avLst/>
              <a:gdLst/>
              <a:ahLst/>
              <a:cxnLst/>
              <a:rect l="l" t="t" r="r" b="b"/>
              <a:pathLst>
                <a:path w="1005840" h="512064">
                  <a:moveTo>
                    <a:pt x="0" y="0"/>
                  </a:moveTo>
                  <a:lnTo>
                    <a:pt x="1005840" y="0"/>
                  </a:lnTo>
                  <a:lnTo>
                    <a:pt x="10058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r="-153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100584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29390" y="5410009"/>
            <a:ext cx="16615410" cy="5912279"/>
            <a:chOff x="0" y="0"/>
            <a:chExt cx="22153880" cy="788303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2153880" cy="7883039"/>
            </a:xfrm>
            <a:custGeom>
              <a:avLst/>
              <a:gdLst/>
              <a:ahLst/>
              <a:cxnLst/>
              <a:rect l="l" t="t" r="r" b="b"/>
              <a:pathLst>
                <a:path w="22153880" h="7883039">
                  <a:moveTo>
                    <a:pt x="0" y="266506"/>
                  </a:moveTo>
                  <a:cubicBezTo>
                    <a:pt x="0" y="119352"/>
                    <a:pt x="98679" y="0"/>
                    <a:pt x="220345" y="0"/>
                  </a:cubicBezTo>
                  <a:lnTo>
                    <a:pt x="21933536" y="0"/>
                  </a:lnTo>
                  <a:cubicBezTo>
                    <a:pt x="22055201" y="0"/>
                    <a:pt x="22153880" y="119352"/>
                    <a:pt x="22153880" y="266506"/>
                  </a:cubicBezTo>
                  <a:lnTo>
                    <a:pt x="22153880" y="7616533"/>
                  </a:lnTo>
                  <a:cubicBezTo>
                    <a:pt x="22153880" y="7763687"/>
                    <a:pt x="22055201" y="7883039"/>
                    <a:pt x="21933536" y="7883039"/>
                  </a:cubicBezTo>
                  <a:lnTo>
                    <a:pt x="220345" y="7883039"/>
                  </a:lnTo>
                  <a:cubicBezTo>
                    <a:pt x="98679" y="7883039"/>
                    <a:pt x="0" y="7763687"/>
                    <a:pt x="0" y="761653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19" b="3901"/>
              </a:stretch>
            </a:blipFill>
            <a:ln w="19050" cap="sq">
              <a:solidFill>
                <a:srgbClr val="263354"/>
              </a:solidFill>
              <a:prstDash val="dash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6275" y="566547"/>
            <a:ext cx="1870710" cy="457962"/>
            <a:chOff x="0" y="0"/>
            <a:chExt cx="2494280" cy="6106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280" cy="610616"/>
            </a:xfrm>
            <a:custGeom>
              <a:avLst/>
              <a:gdLst/>
              <a:ahLst/>
              <a:cxnLst/>
              <a:rect l="l" t="t" r="r" b="b"/>
              <a:pathLst>
                <a:path w="249428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2188972" y="0"/>
                  </a:lnTo>
                  <a:cubicBezTo>
                    <a:pt x="2357628" y="0"/>
                    <a:pt x="2494280" y="136652"/>
                    <a:pt x="2494280" y="305308"/>
                  </a:cubicBezTo>
                  <a:cubicBezTo>
                    <a:pt x="2494280" y="473964"/>
                    <a:pt x="2357628" y="610616"/>
                    <a:pt x="218897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FF6B6B">
                <a:alpha val="1961"/>
              </a:srgbClr>
            </a:solidFill>
            <a:ln w="19050" cap="sq">
              <a:solidFill>
                <a:srgbClr val="FF6B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576072"/>
            <a:ext cx="1851660" cy="438912"/>
            <a:chOff x="0" y="0"/>
            <a:chExt cx="2468880" cy="585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8880" cy="585216"/>
            </a:xfrm>
            <a:custGeom>
              <a:avLst/>
              <a:gdLst/>
              <a:ahLst/>
              <a:cxnLst/>
              <a:rect l="l" t="t" r="r" b="b"/>
              <a:pathLst>
                <a:path w="2468880" h="585216">
                  <a:moveTo>
                    <a:pt x="0" y="0"/>
                  </a:moveTo>
                  <a:lnTo>
                    <a:pt x="2468880" y="0"/>
                  </a:lnTo>
                  <a:lnTo>
                    <a:pt x="2468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02" b="-32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6888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 spc="150">
                  <a:solidFill>
                    <a:srgbClr val="FF6B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ATTACKS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1069848"/>
            <a:ext cx="15773400" cy="960120"/>
            <a:chOff x="0" y="0"/>
            <a:chExt cx="2103120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Attack execution — SSH brute force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947672"/>
            <a:ext cx="16184880" cy="548640"/>
            <a:chOff x="0" y="0"/>
            <a:chExt cx="2157984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4808" b="-5248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57984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Mohamed Massoud — Nmap reconnaissance followed by Hydra against the Ubuntu victim's SSH service.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31139" y="3062859"/>
            <a:ext cx="16505682" cy="2995422"/>
            <a:chOff x="0" y="0"/>
            <a:chExt cx="22007576" cy="399389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007576" cy="3993896"/>
            </a:xfrm>
            <a:custGeom>
              <a:avLst/>
              <a:gdLst/>
              <a:ahLst/>
              <a:cxnLst/>
              <a:rect l="l" t="t" r="r" b="b"/>
              <a:pathLst>
                <a:path w="22007576" h="399389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21841969" y="0"/>
                  </a:lnTo>
                  <a:cubicBezTo>
                    <a:pt x="21933408" y="0"/>
                    <a:pt x="22007576" y="74168"/>
                    <a:pt x="22007576" y="165608"/>
                  </a:cubicBezTo>
                  <a:lnTo>
                    <a:pt x="22007576" y="3828288"/>
                  </a:lnTo>
                  <a:cubicBezTo>
                    <a:pt x="22007576" y="3919728"/>
                    <a:pt x="21933408" y="3993896"/>
                    <a:pt x="21841969" y="3993896"/>
                  </a:cubicBezTo>
                  <a:lnTo>
                    <a:pt x="165608" y="3993896"/>
                  </a:lnTo>
                  <a:cubicBezTo>
                    <a:pt x="74168" y="3993896"/>
                    <a:pt x="0" y="3919728"/>
                    <a:pt x="0" y="3828288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22960" y="3154680"/>
            <a:ext cx="16322040" cy="2811780"/>
            <a:chOff x="0" y="0"/>
            <a:chExt cx="21762720" cy="3749040"/>
          </a:xfrm>
        </p:grpSpPr>
        <p:sp>
          <p:nvSpPr>
            <p:cNvPr id="16" name="Freeform 16" descr="clean_assets/WhatsApp_Image_2026-08-23_at_20301_AM.png"/>
            <p:cNvSpPr/>
            <p:nvPr/>
          </p:nvSpPr>
          <p:spPr>
            <a:xfrm>
              <a:off x="0" y="0"/>
              <a:ext cx="21762720" cy="3749040"/>
            </a:xfrm>
            <a:custGeom>
              <a:avLst/>
              <a:gdLst/>
              <a:ahLst/>
              <a:cxnLst/>
              <a:rect l="l" t="t" r="r" b="b"/>
              <a:pathLst>
                <a:path w="21762720" h="3749040">
                  <a:moveTo>
                    <a:pt x="0" y="0"/>
                  </a:moveTo>
                  <a:lnTo>
                    <a:pt x="21762720" y="0"/>
                  </a:lnTo>
                  <a:lnTo>
                    <a:pt x="21762720" y="3749040"/>
                  </a:lnTo>
                  <a:lnTo>
                    <a:pt x="0" y="3749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7414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6377" y="3058096"/>
            <a:ext cx="16515207" cy="3004947"/>
            <a:chOff x="0" y="0"/>
            <a:chExt cx="22020276" cy="40065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020276" cy="4006596"/>
            </a:xfrm>
            <a:custGeom>
              <a:avLst/>
              <a:gdLst/>
              <a:ahLst/>
              <a:cxnLst/>
              <a:rect l="l" t="t" r="r" b="b"/>
              <a:pathLst>
                <a:path w="22020276" h="4006596">
                  <a:moveTo>
                    <a:pt x="0" y="166116"/>
                  </a:moveTo>
                  <a:cubicBezTo>
                    <a:pt x="0" y="74422"/>
                    <a:pt x="74422" y="0"/>
                    <a:pt x="166116" y="0"/>
                  </a:cubicBezTo>
                  <a:lnTo>
                    <a:pt x="21854161" y="0"/>
                  </a:lnTo>
                  <a:cubicBezTo>
                    <a:pt x="21945981" y="0"/>
                    <a:pt x="22020276" y="74422"/>
                    <a:pt x="22020276" y="166116"/>
                  </a:cubicBezTo>
                  <a:lnTo>
                    <a:pt x="22020276" y="3840480"/>
                  </a:lnTo>
                  <a:cubicBezTo>
                    <a:pt x="22020276" y="3932301"/>
                    <a:pt x="21945854" y="4006596"/>
                    <a:pt x="21854161" y="4006596"/>
                  </a:cubicBezTo>
                  <a:lnTo>
                    <a:pt x="166116" y="4006596"/>
                  </a:lnTo>
                  <a:cubicBezTo>
                    <a:pt x="74422" y="4006596"/>
                    <a:pt x="0" y="3932174"/>
                    <a:pt x="0" y="384048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089" b="-57089"/>
              </a:stretch>
            </a:blipFill>
            <a:ln w="28575" cap="sq">
              <a:solidFill>
                <a:srgbClr val="FF6B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2960" y="6103620"/>
            <a:ext cx="16322040" cy="411480"/>
            <a:chOff x="0" y="0"/>
            <a:chExt cx="21762720" cy="548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762720" cy="548640"/>
            </a:xfrm>
            <a:custGeom>
              <a:avLst/>
              <a:gdLst/>
              <a:ahLst/>
              <a:cxnLst/>
              <a:rect l="l" t="t" r="r" b="b"/>
              <a:pathLst>
                <a:path w="21762720" h="54864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2906" b="-7229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217627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Nmap scan — open SSH service identified on the Ubuntu target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31139" y="6423279"/>
            <a:ext cx="16505682" cy="2721102"/>
            <a:chOff x="0" y="0"/>
            <a:chExt cx="22007576" cy="362813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007576" cy="3628136"/>
            </a:xfrm>
            <a:custGeom>
              <a:avLst/>
              <a:gdLst/>
              <a:ahLst/>
              <a:cxnLst/>
              <a:rect l="l" t="t" r="r" b="b"/>
              <a:pathLst>
                <a:path w="22007576" h="3628136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21841840" y="0"/>
                  </a:lnTo>
                  <a:cubicBezTo>
                    <a:pt x="21933407" y="0"/>
                    <a:pt x="22007576" y="74168"/>
                    <a:pt x="22007576" y="165735"/>
                  </a:cubicBezTo>
                  <a:lnTo>
                    <a:pt x="22007576" y="3462401"/>
                  </a:lnTo>
                  <a:cubicBezTo>
                    <a:pt x="22007576" y="3553968"/>
                    <a:pt x="21933407" y="3628136"/>
                    <a:pt x="21841840" y="3628136"/>
                  </a:cubicBezTo>
                  <a:lnTo>
                    <a:pt x="165735" y="3628136"/>
                  </a:lnTo>
                  <a:cubicBezTo>
                    <a:pt x="74168" y="3628136"/>
                    <a:pt x="0" y="3553968"/>
                    <a:pt x="0" y="3462401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22960" y="6515100"/>
            <a:ext cx="16322040" cy="2537460"/>
            <a:chOff x="0" y="0"/>
            <a:chExt cx="21762720" cy="3383280"/>
          </a:xfrm>
        </p:grpSpPr>
        <p:sp>
          <p:nvSpPr>
            <p:cNvPr id="25" name="Freeform 25" descr="clean_assets/WhatsApp_Image_2026-08-23_at_20547_AM.png"/>
            <p:cNvSpPr/>
            <p:nvPr/>
          </p:nvSpPr>
          <p:spPr>
            <a:xfrm>
              <a:off x="0" y="0"/>
              <a:ext cx="21762720" cy="3383280"/>
            </a:xfrm>
            <a:custGeom>
              <a:avLst/>
              <a:gdLst/>
              <a:ahLst/>
              <a:cxnLst/>
              <a:rect l="l" t="t" r="r" b="b"/>
              <a:pathLst>
                <a:path w="21762720" h="3383280">
                  <a:moveTo>
                    <a:pt x="0" y="0"/>
                  </a:moveTo>
                  <a:lnTo>
                    <a:pt x="21762720" y="0"/>
                  </a:lnTo>
                  <a:lnTo>
                    <a:pt x="21762720" y="3383280"/>
                  </a:lnTo>
                  <a:lnTo>
                    <a:pt x="0" y="338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6952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26377" y="6418516"/>
            <a:ext cx="16515207" cy="2730627"/>
            <a:chOff x="0" y="0"/>
            <a:chExt cx="22020276" cy="364083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2020276" cy="3640836"/>
            </a:xfrm>
            <a:custGeom>
              <a:avLst/>
              <a:gdLst/>
              <a:ahLst/>
              <a:cxnLst/>
              <a:rect l="l" t="t" r="r" b="b"/>
              <a:pathLst>
                <a:path w="22020276" h="3640836">
                  <a:moveTo>
                    <a:pt x="0" y="166370"/>
                  </a:moveTo>
                  <a:cubicBezTo>
                    <a:pt x="0" y="74422"/>
                    <a:pt x="74422" y="0"/>
                    <a:pt x="166370" y="0"/>
                  </a:cubicBezTo>
                  <a:lnTo>
                    <a:pt x="21853906" y="0"/>
                  </a:lnTo>
                  <a:cubicBezTo>
                    <a:pt x="21945727" y="0"/>
                    <a:pt x="22020276" y="74422"/>
                    <a:pt x="22020276" y="166370"/>
                  </a:cubicBezTo>
                  <a:lnTo>
                    <a:pt x="22020276" y="3474466"/>
                  </a:lnTo>
                  <a:cubicBezTo>
                    <a:pt x="22020276" y="3566287"/>
                    <a:pt x="21945854" y="3640836"/>
                    <a:pt x="21853906" y="3640836"/>
                  </a:cubicBezTo>
                  <a:lnTo>
                    <a:pt x="166370" y="3640836"/>
                  </a:lnTo>
                  <a:cubicBezTo>
                    <a:pt x="74549" y="3640836"/>
                    <a:pt x="0" y="3566414"/>
                    <a:pt x="0" y="347446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848" b="-67848"/>
              </a:stretch>
            </a:blipFill>
            <a:ln w="28575" cap="sq">
              <a:solidFill>
                <a:srgbClr val="FF6B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22960" y="9189720"/>
            <a:ext cx="16322040" cy="411480"/>
            <a:chOff x="0" y="0"/>
            <a:chExt cx="21762720" cy="548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762720" cy="548640"/>
            </a:xfrm>
            <a:custGeom>
              <a:avLst/>
              <a:gdLst/>
              <a:ahLst/>
              <a:cxnLst/>
              <a:rect l="l" t="t" r="r" b="b"/>
              <a:pathLst>
                <a:path w="21762720" h="54864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2906" b="-7229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217627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Hydra — valid credential recovered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5800" y="9793224"/>
            <a:ext cx="6858000" cy="384048"/>
            <a:chOff x="0" y="0"/>
            <a:chExt cx="9144000" cy="51206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144000" cy="512064"/>
            </a:xfrm>
            <a:custGeom>
              <a:avLst/>
              <a:gdLst/>
              <a:ahLst/>
              <a:cxnLst/>
              <a:rect l="l" t="t" r="r" b="b"/>
              <a:pathLst>
                <a:path w="9144000" h="512064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91440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spc="149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WAZUH + SHUFFLE SOC LAB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870680" y="9793224"/>
            <a:ext cx="754380" cy="384048"/>
            <a:chOff x="0" y="0"/>
            <a:chExt cx="1005840" cy="51206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05840" cy="512064"/>
            </a:xfrm>
            <a:custGeom>
              <a:avLst/>
              <a:gdLst/>
              <a:ahLst/>
              <a:cxnLst/>
              <a:rect l="l" t="t" r="r" b="b"/>
              <a:pathLst>
                <a:path w="1005840" h="512064">
                  <a:moveTo>
                    <a:pt x="0" y="0"/>
                  </a:moveTo>
                  <a:lnTo>
                    <a:pt x="1005840" y="0"/>
                  </a:lnTo>
                  <a:lnTo>
                    <a:pt x="10058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r="-153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100584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6275" y="566547"/>
            <a:ext cx="1870710" cy="457962"/>
            <a:chOff x="0" y="0"/>
            <a:chExt cx="2494280" cy="6106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280" cy="610616"/>
            </a:xfrm>
            <a:custGeom>
              <a:avLst/>
              <a:gdLst/>
              <a:ahLst/>
              <a:cxnLst/>
              <a:rect l="l" t="t" r="r" b="b"/>
              <a:pathLst>
                <a:path w="249428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2188972" y="0"/>
                  </a:lnTo>
                  <a:cubicBezTo>
                    <a:pt x="2357628" y="0"/>
                    <a:pt x="2494280" y="136652"/>
                    <a:pt x="2494280" y="305308"/>
                  </a:cubicBezTo>
                  <a:cubicBezTo>
                    <a:pt x="2494280" y="473964"/>
                    <a:pt x="2357628" y="610616"/>
                    <a:pt x="218897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FBBF24">
                <a:alpha val="1961"/>
              </a:srgbClr>
            </a:solidFill>
            <a:ln w="19050" cap="sq">
              <a:solidFill>
                <a:srgbClr val="FBBF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576072"/>
            <a:ext cx="1851660" cy="438912"/>
            <a:chOff x="0" y="0"/>
            <a:chExt cx="2468880" cy="585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8880" cy="585216"/>
            </a:xfrm>
            <a:custGeom>
              <a:avLst/>
              <a:gdLst/>
              <a:ahLst/>
              <a:cxnLst/>
              <a:rect l="l" t="t" r="r" b="b"/>
              <a:pathLst>
                <a:path w="2468880" h="585216">
                  <a:moveTo>
                    <a:pt x="0" y="0"/>
                  </a:moveTo>
                  <a:lnTo>
                    <a:pt x="2468880" y="0"/>
                  </a:lnTo>
                  <a:lnTo>
                    <a:pt x="2468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02" b="-32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6888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 spc="150">
                  <a:solidFill>
                    <a:srgbClr val="FBBF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EVENTS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1069848"/>
            <a:ext cx="15773400" cy="960120"/>
            <a:chOff x="0" y="0"/>
            <a:chExt cx="2103120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Detection — all three scenarios in Wazuh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947672"/>
            <a:ext cx="16184880" cy="548640"/>
            <a:chOff x="0" y="0"/>
            <a:chExt cx="2157984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4808" b="-5248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57984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attack technique was correlated into a rule match and surfaced live in the dashboard.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31139" y="2719959"/>
            <a:ext cx="8207502" cy="2721102"/>
            <a:chOff x="0" y="0"/>
            <a:chExt cx="10943336" cy="362813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43336" cy="3628136"/>
            </a:xfrm>
            <a:custGeom>
              <a:avLst/>
              <a:gdLst/>
              <a:ahLst/>
              <a:cxnLst/>
              <a:rect l="l" t="t" r="r" b="b"/>
              <a:pathLst>
                <a:path w="10943336" h="3628136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10777601" y="0"/>
                  </a:lnTo>
                  <a:cubicBezTo>
                    <a:pt x="10869168" y="0"/>
                    <a:pt x="10943336" y="74168"/>
                    <a:pt x="10943336" y="165735"/>
                  </a:cubicBezTo>
                  <a:lnTo>
                    <a:pt x="10943336" y="3462401"/>
                  </a:lnTo>
                  <a:cubicBezTo>
                    <a:pt x="10943336" y="3553968"/>
                    <a:pt x="10869168" y="3628136"/>
                    <a:pt x="10777601" y="3628136"/>
                  </a:cubicBezTo>
                  <a:lnTo>
                    <a:pt x="165735" y="3628136"/>
                  </a:lnTo>
                  <a:cubicBezTo>
                    <a:pt x="74168" y="3628136"/>
                    <a:pt x="0" y="3553968"/>
                    <a:pt x="0" y="3462401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22960" y="2811780"/>
            <a:ext cx="8023860" cy="2537460"/>
            <a:chOff x="0" y="0"/>
            <a:chExt cx="10698480" cy="3383280"/>
          </a:xfrm>
        </p:grpSpPr>
        <p:sp>
          <p:nvSpPr>
            <p:cNvPr id="16" name="Freeform 16" descr="clean_assets/brute_force_ssh_events_in_wazuh.png"/>
            <p:cNvSpPr/>
            <p:nvPr/>
          </p:nvSpPr>
          <p:spPr>
            <a:xfrm>
              <a:off x="0" y="0"/>
              <a:ext cx="10698480" cy="3383280"/>
            </a:xfrm>
            <a:custGeom>
              <a:avLst/>
              <a:gdLst/>
              <a:ahLst/>
              <a:cxnLst/>
              <a:rect l="l" t="t" r="r" b="b"/>
              <a:pathLst>
                <a:path w="10698480" h="3383280">
                  <a:moveTo>
                    <a:pt x="0" y="0"/>
                  </a:moveTo>
                  <a:lnTo>
                    <a:pt x="10698480" y="0"/>
                  </a:lnTo>
                  <a:lnTo>
                    <a:pt x="10698480" y="3383280"/>
                  </a:lnTo>
                  <a:lnTo>
                    <a:pt x="0" y="338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722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6377" y="2715196"/>
            <a:ext cx="8217027" cy="2730627"/>
            <a:chOff x="0" y="0"/>
            <a:chExt cx="10956036" cy="364083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56036" cy="3640836"/>
            </a:xfrm>
            <a:custGeom>
              <a:avLst/>
              <a:gdLst/>
              <a:ahLst/>
              <a:cxnLst/>
              <a:rect l="l" t="t" r="r" b="b"/>
              <a:pathLst>
                <a:path w="10956036" h="3640836">
                  <a:moveTo>
                    <a:pt x="0" y="166370"/>
                  </a:moveTo>
                  <a:cubicBezTo>
                    <a:pt x="0" y="74422"/>
                    <a:pt x="74422" y="0"/>
                    <a:pt x="166370" y="0"/>
                  </a:cubicBezTo>
                  <a:lnTo>
                    <a:pt x="10789666" y="0"/>
                  </a:lnTo>
                  <a:cubicBezTo>
                    <a:pt x="10881487" y="0"/>
                    <a:pt x="10956036" y="74422"/>
                    <a:pt x="10956036" y="166370"/>
                  </a:cubicBezTo>
                  <a:lnTo>
                    <a:pt x="10956036" y="3474466"/>
                  </a:lnTo>
                  <a:cubicBezTo>
                    <a:pt x="10956036" y="3566287"/>
                    <a:pt x="10881614" y="3640836"/>
                    <a:pt x="10789666" y="3640836"/>
                  </a:cubicBezTo>
                  <a:lnTo>
                    <a:pt x="166370" y="3640836"/>
                  </a:lnTo>
                  <a:cubicBezTo>
                    <a:pt x="74549" y="3640836"/>
                    <a:pt x="0" y="3566414"/>
                    <a:pt x="0" y="347446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4" b="-8634"/>
              </a:stretch>
            </a:blipFill>
            <a:ln w="28575" cap="sq">
              <a:solidFill>
                <a:srgbClr val="FBBF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2960" y="5486400"/>
            <a:ext cx="8023860" cy="411480"/>
            <a:chOff x="0" y="0"/>
            <a:chExt cx="10698480" cy="548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698480" cy="548640"/>
            </a:xfrm>
            <a:custGeom>
              <a:avLst/>
              <a:gdLst/>
              <a:ahLst/>
              <a:cxnLst/>
              <a:rect l="l" t="t" r="r" b="b"/>
              <a:pathLst>
                <a:path w="10698480" h="548640">
                  <a:moveTo>
                    <a:pt x="0" y="0"/>
                  </a:moveTo>
                  <a:lnTo>
                    <a:pt x="10698480" y="0"/>
                  </a:lnTo>
                  <a:lnTo>
                    <a:pt x="10698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9958" b="-3299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106984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SSH brute force — rules 5710 · 5712 · 5763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303639" y="2719959"/>
            <a:ext cx="8207502" cy="2721102"/>
            <a:chOff x="0" y="0"/>
            <a:chExt cx="10943336" cy="362813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943336" cy="3628136"/>
            </a:xfrm>
            <a:custGeom>
              <a:avLst/>
              <a:gdLst/>
              <a:ahLst/>
              <a:cxnLst/>
              <a:rect l="l" t="t" r="r" b="b"/>
              <a:pathLst>
                <a:path w="10943336" h="3628136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10777601" y="0"/>
                  </a:lnTo>
                  <a:cubicBezTo>
                    <a:pt x="10869168" y="0"/>
                    <a:pt x="10943336" y="74168"/>
                    <a:pt x="10943336" y="165735"/>
                  </a:cubicBezTo>
                  <a:lnTo>
                    <a:pt x="10943336" y="3462401"/>
                  </a:lnTo>
                  <a:cubicBezTo>
                    <a:pt x="10943336" y="3553968"/>
                    <a:pt x="10869168" y="3628136"/>
                    <a:pt x="10777601" y="3628136"/>
                  </a:cubicBezTo>
                  <a:lnTo>
                    <a:pt x="165735" y="3628136"/>
                  </a:lnTo>
                  <a:cubicBezTo>
                    <a:pt x="74168" y="3628136"/>
                    <a:pt x="0" y="3553968"/>
                    <a:pt x="0" y="3462401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395460" y="2811780"/>
            <a:ext cx="8023860" cy="2537460"/>
            <a:chOff x="0" y="0"/>
            <a:chExt cx="10698480" cy="3383280"/>
          </a:xfrm>
        </p:grpSpPr>
        <p:sp>
          <p:nvSpPr>
            <p:cNvPr id="25" name="Freeform 25" descr="clean_assets/suspicious_powershell_detect_on_wazuh.png"/>
            <p:cNvSpPr/>
            <p:nvPr/>
          </p:nvSpPr>
          <p:spPr>
            <a:xfrm>
              <a:off x="0" y="0"/>
              <a:ext cx="10698480" cy="3383280"/>
            </a:xfrm>
            <a:custGeom>
              <a:avLst/>
              <a:gdLst/>
              <a:ahLst/>
              <a:cxnLst/>
              <a:rect l="l" t="t" r="r" b="b"/>
              <a:pathLst>
                <a:path w="10698480" h="3383280">
                  <a:moveTo>
                    <a:pt x="0" y="0"/>
                  </a:moveTo>
                  <a:lnTo>
                    <a:pt x="10698480" y="0"/>
                  </a:lnTo>
                  <a:lnTo>
                    <a:pt x="10698480" y="3383280"/>
                  </a:lnTo>
                  <a:lnTo>
                    <a:pt x="0" y="3383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3401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98876" y="2715196"/>
            <a:ext cx="8217027" cy="2730627"/>
            <a:chOff x="0" y="0"/>
            <a:chExt cx="10956036" cy="364083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956036" cy="3640836"/>
            </a:xfrm>
            <a:custGeom>
              <a:avLst/>
              <a:gdLst/>
              <a:ahLst/>
              <a:cxnLst/>
              <a:rect l="l" t="t" r="r" b="b"/>
              <a:pathLst>
                <a:path w="10956036" h="3640836">
                  <a:moveTo>
                    <a:pt x="0" y="166370"/>
                  </a:moveTo>
                  <a:cubicBezTo>
                    <a:pt x="0" y="74422"/>
                    <a:pt x="74422" y="0"/>
                    <a:pt x="166370" y="0"/>
                  </a:cubicBezTo>
                  <a:lnTo>
                    <a:pt x="10789666" y="0"/>
                  </a:lnTo>
                  <a:cubicBezTo>
                    <a:pt x="10881487" y="0"/>
                    <a:pt x="10956036" y="74422"/>
                    <a:pt x="10956036" y="166370"/>
                  </a:cubicBezTo>
                  <a:lnTo>
                    <a:pt x="10956036" y="3474466"/>
                  </a:lnTo>
                  <a:cubicBezTo>
                    <a:pt x="10956036" y="3566287"/>
                    <a:pt x="10881614" y="3640836"/>
                    <a:pt x="10789666" y="3640836"/>
                  </a:cubicBezTo>
                  <a:lnTo>
                    <a:pt x="166370" y="3640836"/>
                  </a:lnTo>
                  <a:cubicBezTo>
                    <a:pt x="74549" y="3640836"/>
                    <a:pt x="0" y="3566414"/>
                    <a:pt x="0" y="347446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4" b="-8634"/>
              </a:stretch>
            </a:blipFill>
            <a:ln w="28575" cap="sq">
              <a:solidFill>
                <a:srgbClr val="FBBF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395460" y="5486400"/>
            <a:ext cx="8023860" cy="411480"/>
            <a:chOff x="0" y="0"/>
            <a:chExt cx="10698480" cy="548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698480" cy="548640"/>
            </a:xfrm>
            <a:custGeom>
              <a:avLst/>
              <a:gdLst/>
              <a:ahLst/>
              <a:cxnLst/>
              <a:rect l="l" t="t" r="r" b="b"/>
              <a:pathLst>
                <a:path w="10698480" h="548640">
                  <a:moveTo>
                    <a:pt x="0" y="0"/>
                  </a:moveTo>
                  <a:lnTo>
                    <a:pt x="10698480" y="0"/>
                  </a:lnTo>
                  <a:lnTo>
                    <a:pt x="10698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9958" b="-3299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106984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Suspicious PowerShell — EncodedCommand / IEX pattern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31139" y="6286119"/>
            <a:ext cx="16505682" cy="581406"/>
            <a:chOff x="0" y="0"/>
            <a:chExt cx="22007576" cy="77520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2007576" cy="775208"/>
            </a:xfrm>
            <a:custGeom>
              <a:avLst/>
              <a:gdLst/>
              <a:ahLst/>
              <a:cxnLst/>
              <a:rect l="l" t="t" r="r" b="b"/>
              <a:pathLst>
                <a:path w="22007576" h="775208">
                  <a:moveTo>
                    <a:pt x="0" y="170180"/>
                  </a:moveTo>
                  <a:cubicBezTo>
                    <a:pt x="0" y="76200"/>
                    <a:pt x="76200" y="0"/>
                    <a:pt x="170180" y="0"/>
                  </a:cubicBezTo>
                  <a:lnTo>
                    <a:pt x="21837396" y="0"/>
                  </a:lnTo>
                  <a:cubicBezTo>
                    <a:pt x="21931376" y="0"/>
                    <a:pt x="22007576" y="76200"/>
                    <a:pt x="22007576" y="170180"/>
                  </a:cubicBezTo>
                  <a:lnTo>
                    <a:pt x="22007576" y="605028"/>
                  </a:lnTo>
                  <a:cubicBezTo>
                    <a:pt x="22007576" y="699008"/>
                    <a:pt x="21931376" y="775208"/>
                    <a:pt x="21837396" y="775208"/>
                  </a:cubicBezTo>
                  <a:lnTo>
                    <a:pt x="170180" y="775208"/>
                  </a:lnTo>
                  <a:cubicBezTo>
                    <a:pt x="76200" y="775208"/>
                    <a:pt x="0" y="699008"/>
                    <a:pt x="0" y="605028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22960" y="6377940"/>
            <a:ext cx="16322040" cy="397764"/>
            <a:chOff x="0" y="0"/>
            <a:chExt cx="21762720" cy="530352"/>
          </a:xfrm>
        </p:grpSpPr>
        <p:sp>
          <p:nvSpPr>
            <p:cNvPr id="34" name="Freeform 34" descr="clean_assets/muhamedbushnak_command_and_control_attack_event_in_wazuh.png"/>
            <p:cNvSpPr/>
            <p:nvPr/>
          </p:nvSpPr>
          <p:spPr>
            <a:xfrm>
              <a:off x="0" y="0"/>
              <a:ext cx="21762720" cy="530352"/>
            </a:xfrm>
            <a:custGeom>
              <a:avLst/>
              <a:gdLst/>
              <a:ahLst/>
              <a:cxnLst/>
              <a:rect l="l" t="t" r="r" b="b"/>
              <a:pathLst>
                <a:path w="21762720" h="530352">
                  <a:moveTo>
                    <a:pt x="0" y="0"/>
                  </a:moveTo>
                  <a:lnTo>
                    <a:pt x="21762720" y="0"/>
                  </a:lnTo>
                  <a:lnTo>
                    <a:pt x="21762720" y="530352"/>
                  </a:lnTo>
                  <a:lnTo>
                    <a:pt x="0" y="530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73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26377" y="6281356"/>
            <a:ext cx="16515207" cy="590931"/>
            <a:chOff x="0" y="0"/>
            <a:chExt cx="22020276" cy="78790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2020276" cy="787908"/>
            </a:xfrm>
            <a:custGeom>
              <a:avLst/>
              <a:gdLst/>
              <a:ahLst/>
              <a:cxnLst/>
              <a:rect l="l" t="t" r="r" b="b"/>
              <a:pathLst>
                <a:path w="22020276" h="787908">
                  <a:moveTo>
                    <a:pt x="0" y="172974"/>
                  </a:moveTo>
                  <a:cubicBezTo>
                    <a:pt x="0" y="77470"/>
                    <a:pt x="77470" y="0"/>
                    <a:pt x="172974" y="0"/>
                  </a:cubicBezTo>
                  <a:lnTo>
                    <a:pt x="21847302" y="0"/>
                  </a:lnTo>
                  <a:cubicBezTo>
                    <a:pt x="21942806" y="0"/>
                    <a:pt x="22020276" y="77470"/>
                    <a:pt x="22020276" y="172974"/>
                  </a:cubicBezTo>
                  <a:lnTo>
                    <a:pt x="22020276" y="614934"/>
                  </a:lnTo>
                  <a:cubicBezTo>
                    <a:pt x="22020276" y="710438"/>
                    <a:pt x="21942806" y="787908"/>
                    <a:pt x="21847302" y="787908"/>
                  </a:cubicBezTo>
                  <a:lnTo>
                    <a:pt x="172974" y="787908"/>
                  </a:lnTo>
                  <a:cubicBezTo>
                    <a:pt x="77470" y="787908"/>
                    <a:pt x="0" y="710438"/>
                    <a:pt x="0" y="614934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4563" b="-494563"/>
              </a:stretch>
            </a:blipFill>
            <a:ln w="28575" cap="sq">
              <a:solidFill>
                <a:srgbClr val="FBBF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22960" y="6912864"/>
            <a:ext cx="16322040" cy="411480"/>
            <a:chOff x="0" y="0"/>
            <a:chExt cx="21762720" cy="5486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762720" cy="548640"/>
            </a:xfrm>
            <a:custGeom>
              <a:avLst/>
              <a:gdLst/>
              <a:ahLst/>
              <a:cxnLst/>
              <a:rect l="l" t="t" r="r" b="b"/>
              <a:pathLst>
                <a:path w="21762720" h="54864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2906" b="-7229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217627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C2 — rule 92650, level 12 — New Windows Service Created (muhamedbushnak)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85800" y="9793224"/>
            <a:ext cx="6858000" cy="384048"/>
            <a:chOff x="0" y="0"/>
            <a:chExt cx="9144000" cy="51206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144000" cy="512064"/>
            </a:xfrm>
            <a:custGeom>
              <a:avLst/>
              <a:gdLst/>
              <a:ahLst/>
              <a:cxnLst/>
              <a:rect l="l" t="t" r="r" b="b"/>
              <a:pathLst>
                <a:path w="9144000" h="512064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91440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spc="149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WAZUH + SHUFFLE SOC LAB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6870680" y="9793224"/>
            <a:ext cx="754380" cy="384048"/>
            <a:chOff x="0" y="0"/>
            <a:chExt cx="1005840" cy="51206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05840" cy="512064"/>
            </a:xfrm>
            <a:custGeom>
              <a:avLst/>
              <a:gdLst/>
              <a:ahLst/>
              <a:cxnLst/>
              <a:rect l="l" t="t" r="r" b="b"/>
              <a:pathLst>
                <a:path w="1005840" h="512064">
                  <a:moveTo>
                    <a:pt x="0" y="0"/>
                  </a:moveTo>
                  <a:lnTo>
                    <a:pt x="1005840" y="0"/>
                  </a:lnTo>
                  <a:lnTo>
                    <a:pt x="10058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r="-153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100584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6275" y="566547"/>
            <a:ext cx="1870710" cy="457962"/>
            <a:chOff x="0" y="0"/>
            <a:chExt cx="2494280" cy="6106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280" cy="610616"/>
            </a:xfrm>
            <a:custGeom>
              <a:avLst/>
              <a:gdLst/>
              <a:ahLst/>
              <a:cxnLst/>
              <a:rect l="l" t="t" r="r" b="b"/>
              <a:pathLst>
                <a:path w="249428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2188972" y="0"/>
                  </a:lnTo>
                  <a:cubicBezTo>
                    <a:pt x="2357628" y="0"/>
                    <a:pt x="2494280" y="136652"/>
                    <a:pt x="2494280" y="305308"/>
                  </a:cubicBezTo>
                  <a:cubicBezTo>
                    <a:pt x="2494280" y="473964"/>
                    <a:pt x="2357628" y="610616"/>
                    <a:pt x="218897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34D399">
                <a:alpha val="1961"/>
              </a:srgbClr>
            </a:solidFill>
            <a:ln w="19050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576072"/>
            <a:ext cx="1851660" cy="438912"/>
            <a:chOff x="0" y="0"/>
            <a:chExt cx="2468880" cy="585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8880" cy="585216"/>
            </a:xfrm>
            <a:custGeom>
              <a:avLst/>
              <a:gdLst/>
              <a:ahLst/>
              <a:cxnLst/>
              <a:rect l="l" t="t" r="r" b="b"/>
              <a:pathLst>
                <a:path w="2468880" h="585216">
                  <a:moveTo>
                    <a:pt x="0" y="0"/>
                  </a:moveTo>
                  <a:lnTo>
                    <a:pt x="2468880" y="0"/>
                  </a:lnTo>
                  <a:lnTo>
                    <a:pt x="2468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02" b="-32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6888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 spc="150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RESPONSE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1069848"/>
            <a:ext cx="15773400" cy="960120"/>
            <a:chOff x="0" y="0"/>
            <a:chExt cx="2103120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Alert path: Wazuh → Shuffle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947672"/>
            <a:ext cx="16184880" cy="548640"/>
            <a:chOff x="0" y="0"/>
            <a:chExt cx="2157984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4808" b="-5248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57984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qualifying rule match is posted as JSON to Shuffle's webhook, parsed, and routed through an automated workflow.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13435" y="2802255"/>
            <a:ext cx="3585210" cy="1184910"/>
            <a:chOff x="0" y="0"/>
            <a:chExt cx="4780280" cy="15798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780280" cy="1579880"/>
            </a:xfrm>
            <a:custGeom>
              <a:avLst/>
              <a:gdLst/>
              <a:ahLst/>
              <a:cxnLst/>
              <a:rect l="l" t="t" r="r" b="b"/>
              <a:pathLst>
                <a:path w="4780280" h="157988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4631563" y="0"/>
                  </a:lnTo>
                  <a:cubicBezTo>
                    <a:pt x="4713732" y="0"/>
                    <a:pt x="4780280" y="66548"/>
                    <a:pt x="4780280" y="148717"/>
                  </a:cubicBezTo>
                  <a:lnTo>
                    <a:pt x="4780280" y="1431163"/>
                  </a:lnTo>
                  <a:cubicBezTo>
                    <a:pt x="4780280" y="1513332"/>
                    <a:pt x="4713732" y="1579880"/>
                    <a:pt x="4631563" y="1579880"/>
                  </a:cubicBezTo>
                  <a:lnTo>
                    <a:pt x="148717" y="1579880"/>
                  </a:lnTo>
                  <a:cubicBezTo>
                    <a:pt x="66548" y="1579880"/>
                    <a:pt x="0" y="1513332"/>
                    <a:pt x="0" y="1431163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22960" y="2921508"/>
            <a:ext cx="3566160" cy="438912"/>
            <a:chOff x="0" y="0"/>
            <a:chExt cx="4754880" cy="58521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54880" cy="585216"/>
            </a:xfrm>
            <a:custGeom>
              <a:avLst/>
              <a:gdLst/>
              <a:ahLst/>
              <a:cxnLst/>
              <a:rect l="l" t="t" r="r" b="b"/>
              <a:pathLst>
                <a:path w="4754880" h="585216">
                  <a:moveTo>
                    <a:pt x="0" y="0"/>
                  </a:moveTo>
                  <a:lnTo>
                    <a:pt x="4754880" y="0"/>
                  </a:lnTo>
                  <a:lnTo>
                    <a:pt x="4754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5" b="-1083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475488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5F7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22960" y="3387852"/>
            <a:ext cx="3566160" cy="411480"/>
            <a:chOff x="0" y="0"/>
            <a:chExt cx="4754880" cy="5486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754880" cy="548640"/>
            </a:xfrm>
            <a:custGeom>
              <a:avLst/>
              <a:gdLst/>
              <a:ahLst/>
              <a:cxnLst/>
              <a:rect l="l" t="t" r="r" b="b"/>
              <a:pathLst>
                <a:path w="4754880" h="54864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870" b="-1188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47548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Rule match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89120" y="2811780"/>
            <a:ext cx="603504" cy="1165860"/>
            <a:chOff x="0" y="0"/>
            <a:chExt cx="804672" cy="15544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04672" cy="1554480"/>
            </a:xfrm>
            <a:custGeom>
              <a:avLst/>
              <a:gdLst/>
              <a:ahLst/>
              <a:cxnLst/>
              <a:rect l="l" t="t" r="r" b="b"/>
              <a:pathLst>
                <a:path w="804672" h="1554480">
                  <a:moveTo>
                    <a:pt x="0" y="0"/>
                  </a:moveTo>
                  <a:lnTo>
                    <a:pt x="804672" y="0"/>
                  </a:lnTo>
                  <a:lnTo>
                    <a:pt x="804672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7859" r="-1978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804672" cy="1592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983099" y="2802255"/>
            <a:ext cx="3585210" cy="1184910"/>
            <a:chOff x="0" y="0"/>
            <a:chExt cx="4780280" cy="15798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780280" cy="1579880"/>
            </a:xfrm>
            <a:custGeom>
              <a:avLst/>
              <a:gdLst/>
              <a:ahLst/>
              <a:cxnLst/>
              <a:rect l="l" t="t" r="r" b="b"/>
              <a:pathLst>
                <a:path w="4780280" h="157988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4631563" y="0"/>
                  </a:lnTo>
                  <a:cubicBezTo>
                    <a:pt x="4713732" y="0"/>
                    <a:pt x="4780280" y="66548"/>
                    <a:pt x="4780280" y="148717"/>
                  </a:cubicBezTo>
                  <a:lnTo>
                    <a:pt x="4780280" y="1431163"/>
                  </a:lnTo>
                  <a:cubicBezTo>
                    <a:pt x="4780280" y="1513332"/>
                    <a:pt x="4713732" y="1579880"/>
                    <a:pt x="4631563" y="1579880"/>
                  </a:cubicBezTo>
                  <a:lnTo>
                    <a:pt x="148717" y="1579880"/>
                  </a:lnTo>
                  <a:cubicBezTo>
                    <a:pt x="66548" y="1579880"/>
                    <a:pt x="0" y="1513332"/>
                    <a:pt x="0" y="1431163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992624" y="2921508"/>
            <a:ext cx="3566160" cy="438912"/>
            <a:chOff x="0" y="0"/>
            <a:chExt cx="4754880" cy="58521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754880" cy="585216"/>
            </a:xfrm>
            <a:custGeom>
              <a:avLst/>
              <a:gdLst/>
              <a:ahLst/>
              <a:cxnLst/>
              <a:rect l="l" t="t" r="r" b="b"/>
              <a:pathLst>
                <a:path w="4754880" h="585216">
                  <a:moveTo>
                    <a:pt x="0" y="0"/>
                  </a:moveTo>
                  <a:lnTo>
                    <a:pt x="4754880" y="0"/>
                  </a:lnTo>
                  <a:lnTo>
                    <a:pt x="4754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5" b="-1083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475488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5F7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Webhook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992624" y="3387852"/>
            <a:ext cx="3566160" cy="411480"/>
            <a:chOff x="0" y="0"/>
            <a:chExt cx="4754880" cy="5486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754880" cy="548640"/>
            </a:xfrm>
            <a:custGeom>
              <a:avLst/>
              <a:gdLst/>
              <a:ahLst/>
              <a:cxnLst/>
              <a:rect l="l" t="t" r="r" b="b"/>
              <a:pathLst>
                <a:path w="4754880" h="54864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870" b="-1188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7548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JSON · Tailscale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558784" y="2811780"/>
            <a:ext cx="603504" cy="1165860"/>
            <a:chOff x="0" y="0"/>
            <a:chExt cx="804672" cy="15544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04672" cy="1554480"/>
            </a:xfrm>
            <a:custGeom>
              <a:avLst/>
              <a:gdLst/>
              <a:ahLst/>
              <a:cxnLst/>
              <a:rect l="l" t="t" r="r" b="b"/>
              <a:pathLst>
                <a:path w="804672" h="1554480">
                  <a:moveTo>
                    <a:pt x="0" y="0"/>
                  </a:moveTo>
                  <a:lnTo>
                    <a:pt x="804672" y="0"/>
                  </a:lnTo>
                  <a:lnTo>
                    <a:pt x="804672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7859" r="-1978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804672" cy="1592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152763" y="2802255"/>
            <a:ext cx="3585210" cy="1184910"/>
            <a:chOff x="0" y="0"/>
            <a:chExt cx="4780280" cy="15798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780280" cy="1579880"/>
            </a:xfrm>
            <a:custGeom>
              <a:avLst/>
              <a:gdLst/>
              <a:ahLst/>
              <a:cxnLst/>
              <a:rect l="l" t="t" r="r" b="b"/>
              <a:pathLst>
                <a:path w="4780280" h="157988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4631563" y="0"/>
                  </a:lnTo>
                  <a:cubicBezTo>
                    <a:pt x="4713732" y="0"/>
                    <a:pt x="4780280" y="66548"/>
                    <a:pt x="4780280" y="148717"/>
                  </a:cubicBezTo>
                  <a:lnTo>
                    <a:pt x="4780280" y="1431163"/>
                  </a:lnTo>
                  <a:cubicBezTo>
                    <a:pt x="4780280" y="1513332"/>
                    <a:pt x="4713732" y="1579880"/>
                    <a:pt x="4631563" y="1579880"/>
                  </a:cubicBezTo>
                  <a:lnTo>
                    <a:pt x="148717" y="1579880"/>
                  </a:lnTo>
                  <a:cubicBezTo>
                    <a:pt x="66548" y="1579880"/>
                    <a:pt x="0" y="1513332"/>
                    <a:pt x="0" y="1431163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62288" y="2921508"/>
            <a:ext cx="3566160" cy="438912"/>
            <a:chOff x="0" y="0"/>
            <a:chExt cx="4754880" cy="58521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754880" cy="585216"/>
            </a:xfrm>
            <a:custGeom>
              <a:avLst/>
              <a:gdLst/>
              <a:ahLst/>
              <a:cxnLst/>
              <a:rect l="l" t="t" r="r" b="b"/>
              <a:pathLst>
                <a:path w="4754880" h="585216">
                  <a:moveTo>
                    <a:pt x="0" y="0"/>
                  </a:moveTo>
                  <a:lnTo>
                    <a:pt x="4754880" y="0"/>
                  </a:lnTo>
                  <a:lnTo>
                    <a:pt x="4754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5" b="-1083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475488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5F7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Workflow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162288" y="3387852"/>
            <a:ext cx="3566160" cy="411480"/>
            <a:chOff x="0" y="0"/>
            <a:chExt cx="4754880" cy="54864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754880" cy="548640"/>
            </a:xfrm>
            <a:custGeom>
              <a:avLst/>
              <a:gdLst/>
              <a:ahLst/>
              <a:cxnLst/>
              <a:rect l="l" t="t" r="r" b="b"/>
              <a:pathLst>
                <a:path w="4754880" h="54864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870" b="-1188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47548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Shuffle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728448" y="2811780"/>
            <a:ext cx="603504" cy="1165860"/>
            <a:chOff x="0" y="0"/>
            <a:chExt cx="804672" cy="155448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04672" cy="1554480"/>
            </a:xfrm>
            <a:custGeom>
              <a:avLst/>
              <a:gdLst/>
              <a:ahLst/>
              <a:cxnLst/>
              <a:rect l="l" t="t" r="r" b="b"/>
              <a:pathLst>
                <a:path w="804672" h="1554480">
                  <a:moveTo>
                    <a:pt x="0" y="0"/>
                  </a:moveTo>
                  <a:lnTo>
                    <a:pt x="804672" y="0"/>
                  </a:lnTo>
                  <a:lnTo>
                    <a:pt x="804672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7859" r="-1978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804672" cy="15925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322427" y="2802255"/>
            <a:ext cx="3585210" cy="1184910"/>
            <a:chOff x="0" y="0"/>
            <a:chExt cx="4780280" cy="15798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780280" cy="1579880"/>
            </a:xfrm>
            <a:custGeom>
              <a:avLst/>
              <a:gdLst/>
              <a:ahLst/>
              <a:cxnLst/>
              <a:rect l="l" t="t" r="r" b="b"/>
              <a:pathLst>
                <a:path w="4780280" h="157988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4631563" y="0"/>
                  </a:lnTo>
                  <a:cubicBezTo>
                    <a:pt x="4713732" y="0"/>
                    <a:pt x="4780280" y="66548"/>
                    <a:pt x="4780280" y="148717"/>
                  </a:cubicBezTo>
                  <a:lnTo>
                    <a:pt x="4780280" y="1431163"/>
                  </a:lnTo>
                  <a:cubicBezTo>
                    <a:pt x="4780280" y="1513332"/>
                    <a:pt x="4713732" y="1579880"/>
                    <a:pt x="4631563" y="1579880"/>
                  </a:cubicBezTo>
                  <a:lnTo>
                    <a:pt x="148717" y="1579880"/>
                  </a:lnTo>
                  <a:cubicBezTo>
                    <a:pt x="66548" y="1579880"/>
                    <a:pt x="0" y="1513332"/>
                    <a:pt x="0" y="1431163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3331952" y="2921508"/>
            <a:ext cx="3566160" cy="438912"/>
            <a:chOff x="0" y="0"/>
            <a:chExt cx="4754880" cy="58521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754880" cy="585216"/>
            </a:xfrm>
            <a:custGeom>
              <a:avLst/>
              <a:gdLst/>
              <a:ahLst/>
              <a:cxnLst/>
              <a:rect l="l" t="t" r="r" b="b"/>
              <a:pathLst>
                <a:path w="4754880" h="585216">
                  <a:moveTo>
                    <a:pt x="0" y="0"/>
                  </a:moveTo>
                  <a:lnTo>
                    <a:pt x="4754880" y="0"/>
                  </a:lnTo>
                  <a:lnTo>
                    <a:pt x="4754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5" b="-1083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475488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5F7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Action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3331952" y="3387852"/>
            <a:ext cx="3566160" cy="411480"/>
            <a:chOff x="0" y="0"/>
            <a:chExt cx="4754880" cy="5486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4754880" cy="548640"/>
            </a:xfrm>
            <a:custGeom>
              <a:avLst/>
              <a:gdLst/>
              <a:ahLst/>
              <a:cxnLst/>
              <a:rect l="l" t="t" r="r" b="b"/>
              <a:pathLst>
                <a:path w="4754880" h="54864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870" b="-1188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47548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 / notify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31139" y="4503039"/>
            <a:ext cx="8207502" cy="2515362"/>
            <a:chOff x="0" y="0"/>
            <a:chExt cx="10943336" cy="335381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943336" cy="3353816"/>
            </a:xfrm>
            <a:custGeom>
              <a:avLst/>
              <a:gdLst/>
              <a:ahLst/>
              <a:cxnLst/>
              <a:rect l="l" t="t" r="r" b="b"/>
              <a:pathLst>
                <a:path w="10943336" h="3353816">
                  <a:moveTo>
                    <a:pt x="0" y="165862"/>
                  </a:moveTo>
                  <a:cubicBezTo>
                    <a:pt x="0" y="74295"/>
                    <a:pt x="74295" y="0"/>
                    <a:pt x="165862" y="0"/>
                  </a:cubicBezTo>
                  <a:lnTo>
                    <a:pt x="10777474" y="0"/>
                  </a:lnTo>
                  <a:cubicBezTo>
                    <a:pt x="10869041" y="0"/>
                    <a:pt x="10943336" y="74295"/>
                    <a:pt x="10943336" y="165862"/>
                  </a:cubicBezTo>
                  <a:lnTo>
                    <a:pt x="10943336" y="3187954"/>
                  </a:lnTo>
                  <a:cubicBezTo>
                    <a:pt x="10943336" y="3279521"/>
                    <a:pt x="10869041" y="3353816"/>
                    <a:pt x="10777474" y="3353816"/>
                  </a:cubicBezTo>
                  <a:lnTo>
                    <a:pt x="165862" y="3353816"/>
                  </a:lnTo>
                  <a:cubicBezTo>
                    <a:pt x="74295" y="3353816"/>
                    <a:pt x="0" y="3279521"/>
                    <a:pt x="0" y="3187954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22960" y="4594860"/>
            <a:ext cx="8023860" cy="2331720"/>
            <a:chOff x="0" y="0"/>
            <a:chExt cx="10698480" cy="3108960"/>
          </a:xfrm>
        </p:grpSpPr>
        <p:sp>
          <p:nvSpPr>
            <p:cNvPr id="57" name="Freeform 57" descr="clean_assets/shuffle_workflow_branching_new.png"/>
            <p:cNvSpPr/>
            <p:nvPr/>
          </p:nvSpPr>
          <p:spPr>
            <a:xfrm>
              <a:off x="0" y="0"/>
              <a:ext cx="10698480" cy="3108960"/>
            </a:xfrm>
            <a:custGeom>
              <a:avLst/>
              <a:gdLst/>
              <a:ahLst/>
              <a:cxnLst/>
              <a:rect l="l" t="t" r="r" b="b"/>
              <a:pathLst>
                <a:path w="10698480" h="3108960">
                  <a:moveTo>
                    <a:pt x="0" y="0"/>
                  </a:moveTo>
                  <a:lnTo>
                    <a:pt x="10698480" y="0"/>
                  </a:lnTo>
                  <a:lnTo>
                    <a:pt x="10698480" y="3108960"/>
                  </a:lnTo>
                  <a:lnTo>
                    <a:pt x="0" y="3108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824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26377" y="4498276"/>
            <a:ext cx="8217027" cy="2524887"/>
            <a:chOff x="0" y="0"/>
            <a:chExt cx="10956036" cy="336651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0956036" cy="3366516"/>
            </a:xfrm>
            <a:custGeom>
              <a:avLst/>
              <a:gdLst/>
              <a:ahLst/>
              <a:cxnLst/>
              <a:rect l="l" t="t" r="r" b="b"/>
              <a:pathLst>
                <a:path w="10956036" h="3366516">
                  <a:moveTo>
                    <a:pt x="0" y="166497"/>
                  </a:moveTo>
                  <a:cubicBezTo>
                    <a:pt x="0" y="74549"/>
                    <a:pt x="74549" y="0"/>
                    <a:pt x="166497" y="0"/>
                  </a:cubicBezTo>
                  <a:lnTo>
                    <a:pt x="10789539" y="0"/>
                  </a:lnTo>
                  <a:cubicBezTo>
                    <a:pt x="10881487" y="0"/>
                    <a:pt x="10956036" y="74549"/>
                    <a:pt x="10956036" y="166497"/>
                  </a:cubicBezTo>
                  <a:lnTo>
                    <a:pt x="10956036" y="3200019"/>
                  </a:lnTo>
                  <a:cubicBezTo>
                    <a:pt x="10956036" y="3291967"/>
                    <a:pt x="10881487" y="3366516"/>
                    <a:pt x="10789539" y="3366516"/>
                  </a:cubicBezTo>
                  <a:lnTo>
                    <a:pt x="166497" y="3366516"/>
                  </a:lnTo>
                  <a:cubicBezTo>
                    <a:pt x="74549" y="3366516"/>
                    <a:pt x="0" y="3291967"/>
                    <a:pt x="0" y="3200019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12" b="-13412"/>
              </a:stretch>
            </a:blip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22960" y="7063740"/>
            <a:ext cx="8023860" cy="411480"/>
            <a:chOff x="0" y="0"/>
            <a:chExt cx="10698480" cy="54864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0698480" cy="548640"/>
            </a:xfrm>
            <a:custGeom>
              <a:avLst/>
              <a:gdLst/>
              <a:ahLst/>
              <a:cxnLst/>
              <a:rect l="l" t="t" r="r" b="b"/>
              <a:pathLst>
                <a:path w="10698480" h="548640">
                  <a:moveTo>
                    <a:pt x="0" y="0"/>
                  </a:moveTo>
                  <a:lnTo>
                    <a:pt x="10698480" y="0"/>
                  </a:lnTo>
                  <a:lnTo>
                    <a:pt x="10698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9958" b="-3299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28575"/>
              <a:ext cx="106984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Shuffle workflow — branching by rule, VirusTotal enrichment, dual Wazuh actions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303639" y="4503039"/>
            <a:ext cx="8207502" cy="4504182"/>
            <a:chOff x="0" y="0"/>
            <a:chExt cx="10943336" cy="6005576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0943336" cy="6005576"/>
            </a:xfrm>
            <a:custGeom>
              <a:avLst/>
              <a:gdLst/>
              <a:ahLst/>
              <a:cxnLst/>
              <a:rect l="l" t="t" r="r" b="b"/>
              <a:pathLst>
                <a:path w="10943336" h="6005576">
                  <a:moveTo>
                    <a:pt x="0" y="165227"/>
                  </a:moveTo>
                  <a:cubicBezTo>
                    <a:pt x="0" y="74041"/>
                    <a:pt x="74041" y="0"/>
                    <a:pt x="165227" y="0"/>
                  </a:cubicBezTo>
                  <a:lnTo>
                    <a:pt x="10778109" y="0"/>
                  </a:lnTo>
                  <a:cubicBezTo>
                    <a:pt x="10869422" y="0"/>
                    <a:pt x="10943336" y="74041"/>
                    <a:pt x="10943336" y="165227"/>
                  </a:cubicBezTo>
                  <a:lnTo>
                    <a:pt x="10943336" y="5840349"/>
                  </a:lnTo>
                  <a:cubicBezTo>
                    <a:pt x="10943336" y="5931662"/>
                    <a:pt x="10869295" y="6005576"/>
                    <a:pt x="10778109" y="6005576"/>
                  </a:cubicBezTo>
                  <a:lnTo>
                    <a:pt x="165227" y="6005576"/>
                  </a:lnTo>
                  <a:cubicBezTo>
                    <a:pt x="74041" y="6005576"/>
                    <a:pt x="0" y="5931535"/>
                    <a:pt x="0" y="5840349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395460" y="4594860"/>
            <a:ext cx="8023860" cy="4320540"/>
            <a:chOff x="0" y="0"/>
            <a:chExt cx="10698480" cy="5760720"/>
          </a:xfrm>
        </p:grpSpPr>
        <p:sp>
          <p:nvSpPr>
            <p:cNvPr id="66" name="Freeform 66" descr="clean_assets/integrate_wazuh_with_shuffle.png"/>
            <p:cNvSpPr/>
            <p:nvPr/>
          </p:nvSpPr>
          <p:spPr>
            <a:xfrm>
              <a:off x="0" y="0"/>
              <a:ext cx="10698480" cy="5760720"/>
            </a:xfrm>
            <a:custGeom>
              <a:avLst/>
              <a:gdLst/>
              <a:ahLst/>
              <a:cxnLst/>
              <a:rect l="l" t="t" r="r" b="b"/>
              <a:pathLst>
                <a:path w="10698480" h="5760720">
                  <a:moveTo>
                    <a:pt x="0" y="0"/>
                  </a:moveTo>
                  <a:lnTo>
                    <a:pt x="10698480" y="0"/>
                  </a:lnTo>
                  <a:lnTo>
                    <a:pt x="10698480" y="5760720"/>
                  </a:lnTo>
                  <a:lnTo>
                    <a:pt x="0" y="576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487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298876" y="4498276"/>
            <a:ext cx="8217027" cy="4513707"/>
            <a:chOff x="0" y="0"/>
            <a:chExt cx="10956036" cy="601827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0956036" cy="6018276"/>
            </a:xfrm>
            <a:custGeom>
              <a:avLst/>
              <a:gdLst/>
              <a:ahLst/>
              <a:cxnLst/>
              <a:rect l="l" t="t" r="r" b="b"/>
              <a:pathLst>
                <a:path w="10956036" h="601827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10790427" y="0"/>
                  </a:lnTo>
                  <a:cubicBezTo>
                    <a:pt x="10881868" y="0"/>
                    <a:pt x="10956036" y="74168"/>
                    <a:pt x="10956036" y="165608"/>
                  </a:cubicBezTo>
                  <a:lnTo>
                    <a:pt x="10956036" y="5852668"/>
                  </a:lnTo>
                  <a:cubicBezTo>
                    <a:pt x="10956036" y="5944108"/>
                    <a:pt x="10881868" y="6018276"/>
                    <a:pt x="10790427" y="6018276"/>
                  </a:cubicBezTo>
                  <a:lnTo>
                    <a:pt x="165608" y="6018276"/>
                  </a:lnTo>
                  <a:cubicBezTo>
                    <a:pt x="74168" y="6018276"/>
                    <a:pt x="0" y="5944108"/>
                    <a:pt x="0" y="585266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478" r="-20478"/>
              </a:stretch>
            </a:blip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395460" y="9052560"/>
            <a:ext cx="8023860" cy="411480"/>
            <a:chOff x="0" y="0"/>
            <a:chExt cx="10698480" cy="54864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0698480" cy="548640"/>
            </a:xfrm>
            <a:custGeom>
              <a:avLst/>
              <a:gdLst/>
              <a:ahLst/>
              <a:cxnLst/>
              <a:rect l="l" t="t" r="r" b="b"/>
              <a:pathLst>
                <a:path w="10698480" h="548640">
                  <a:moveTo>
                    <a:pt x="0" y="0"/>
                  </a:moveTo>
                  <a:lnTo>
                    <a:pt x="10698480" y="0"/>
                  </a:lnTo>
                  <a:lnTo>
                    <a:pt x="10698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9958" b="-3299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28575"/>
              <a:ext cx="106984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ossec.conf — Shuffle integration block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31139" y="7589139"/>
            <a:ext cx="8207502" cy="1623822"/>
            <a:chOff x="0" y="0"/>
            <a:chExt cx="10943336" cy="216509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0943336" cy="2165096"/>
            </a:xfrm>
            <a:custGeom>
              <a:avLst/>
              <a:gdLst/>
              <a:ahLst/>
              <a:cxnLst/>
              <a:rect l="l" t="t" r="r" b="b"/>
              <a:pathLst>
                <a:path w="10943336" h="2165096">
                  <a:moveTo>
                    <a:pt x="0" y="166497"/>
                  </a:moveTo>
                  <a:cubicBezTo>
                    <a:pt x="0" y="74549"/>
                    <a:pt x="74549" y="0"/>
                    <a:pt x="166497" y="0"/>
                  </a:cubicBezTo>
                  <a:lnTo>
                    <a:pt x="10776839" y="0"/>
                  </a:lnTo>
                  <a:cubicBezTo>
                    <a:pt x="10868787" y="0"/>
                    <a:pt x="10943336" y="74549"/>
                    <a:pt x="10943336" y="166497"/>
                  </a:cubicBezTo>
                  <a:lnTo>
                    <a:pt x="10943336" y="1998599"/>
                  </a:lnTo>
                  <a:cubicBezTo>
                    <a:pt x="10943336" y="2090547"/>
                    <a:pt x="10868787" y="2165096"/>
                    <a:pt x="10776839" y="2165096"/>
                  </a:cubicBezTo>
                  <a:lnTo>
                    <a:pt x="166497" y="2165096"/>
                  </a:lnTo>
                  <a:cubicBezTo>
                    <a:pt x="74549" y="2165096"/>
                    <a:pt x="0" y="2090547"/>
                    <a:pt x="0" y="1998599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22960" y="7680960"/>
            <a:ext cx="8023860" cy="1440180"/>
            <a:chOff x="0" y="0"/>
            <a:chExt cx="10698480" cy="1920240"/>
          </a:xfrm>
        </p:grpSpPr>
        <p:sp>
          <p:nvSpPr>
            <p:cNvPr id="75" name="Freeform 75" descr="clean_assets/testing_wazuh_with_shuffle.png"/>
            <p:cNvSpPr/>
            <p:nvPr/>
          </p:nvSpPr>
          <p:spPr>
            <a:xfrm>
              <a:off x="0" y="0"/>
              <a:ext cx="10698480" cy="1920240"/>
            </a:xfrm>
            <a:custGeom>
              <a:avLst/>
              <a:gdLst/>
              <a:ahLst/>
              <a:cxnLst/>
              <a:rect l="l" t="t" r="r" b="b"/>
              <a:pathLst>
                <a:path w="10698480" h="1920240">
                  <a:moveTo>
                    <a:pt x="0" y="0"/>
                  </a:moveTo>
                  <a:lnTo>
                    <a:pt x="10698480" y="0"/>
                  </a:lnTo>
                  <a:lnTo>
                    <a:pt x="10698480" y="1920240"/>
                  </a:lnTo>
                  <a:lnTo>
                    <a:pt x="0" y="1920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600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26377" y="7584376"/>
            <a:ext cx="8217027" cy="1633347"/>
            <a:chOff x="0" y="0"/>
            <a:chExt cx="10956036" cy="2177796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0956036" cy="2177796"/>
            </a:xfrm>
            <a:custGeom>
              <a:avLst/>
              <a:gdLst/>
              <a:ahLst/>
              <a:cxnLst/>
              <a:rect l="l" t="t" r="r" b="b"/>
              <a:pathLst>
                <a:path w="10956036" h="2177796">
                  <a:moveTo>
                    <a:pt x="0" y="167513"/>
                  </a:moveTo>
                  <a:cubicBezTo>
                    <a:pt x="0" y="75057"/>
                    <a:pt x="75057" y="0"/>
                    <a:pt x="167513" y="0"/>
                  </a:cubicBezTo>
                  <a:lnTo>
                    <a:pt x="10788523" y="0"/>
                  </a:lnTo>
                  <a:cubicBezTo>
                    <a:pt x="10880978" y="0"/>
                    <a:pt x="10956036" y="75057"/>
                    <a:pt x="10956036" y="167513"/>
                  </a:cubicBezTo>
                  <a:lnTo>
                    <a:pt x="10956036" y="2010283"/>
                  </a:lnTo>
                  <a:cubicBezTo>
                    <a:pt x="10956036" y="2102739"/>
                    <a:pt x="10880978" y="2177796"/>
                    <a:pt x="10788523" y="2177796"/>
                  </a:cubicBezTo>
                  <a:lnTo>
                    <a:pt x="167513" y="2177796"/>
                  </a:lnTo>
                  <a:cubicBezTo>
                    <a:pt x="75057" y="2177796"/>
                    <a:pt x="0" y="2102739"/>
                    <a:pt x="0" y="201028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025" b="-48025"/>
              </a:stretch>
            </a:blip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822960" y="9258300"/>
            <a:ext cx="8023860" cy="411480"/>
            <a:chOff x="0" y="0"/>
            <a:chExt cx="10698480" cy="54864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0698480" cy="548640"/>
            </a:xfrm>
            <a:custGeom>
              <a:avLst/>
              <a:gdLst/>
              <a:ahLst/>
              <a:cxnLst/>
              <a:rect l="l" t="t" r="r" b="b"/>
              <a:pathLst>
                <a:path w="10698480" h="548640">
                  <a:moveTo>
                    <a:pt x="0" y="0"/>
                  </a:moveTo>
                  <a:lnTo>
                    <a:pt x="10698480" y="0"/>
                  </a:lnTo>
                  <a:lnTo>
                    <a:pt x="10698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9958" b="-32995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28575"/>
              <a:ext cx="1069848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Integration test — alert delivered successfully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685800" y="9793224"/>
            <a:ext cx="6858000" cy="384048"/>
            <a:chOff x="0" y="0"/>
            <a:chExt cx="9144000" cy="512064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9144000" cy="512064"/>
            </a:xfrm>
            <a:custGeom>
              <a:avLst/>
              <a:gdLst/>
              <a:ahLst/>
              <a:cxnLst/>
              <a:rect l="l" t="t" r="r" b="b"/>
              <a:pathLst>
                <a:path w="9144000" h="512064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28575"/>
              <a:ext cx="91440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spc="149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WAZUH + SHUFFLE SOC LAB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16870680" y="9793224"/>
            <a:ext cx="754380" cy="384048"/>
            <a:chOff x="0" y="0"/>
            <a:chExt cx="1005840" cy="512064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005840" cy="512064"/>
            </a:xfrm>
            <a:custGeom>
              <a:avLst/>
              <a:gdLst/>
              <a:ahLst/>
              <a:cxnLst/>
              <a:rect l="l" t="t" r="r" b="b"/>
              <a:pathLst>
                <a:path w="1005840" h="512064">
                  <a:moveTo>
                    <a:pt x="0" y="0"/>
                  </a:moveTo>
                  <a:lnTo>
                    <a:pt x="1005840" y="0"/>
                  </a:lnTo>
                  <a:lnTo>
                    <a:pt x="10058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r="-153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28575"/>
              <a:ext cx="100584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6275" y="566547"/>
            <a:ext cx="1870710" cy="457962"/>
            <a:chOff x="0" y="0"/>
            <a:chExt cx="2494280" cy="6106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280" cy="610616"/>
            </a:xfrm>
            <a:custGeom>
              <a:avLst/>
              <a:gdLst/>
              <a:ahLst/>
              <a:cxnLst/>
              <a:rect l="l" t="t" r="r" b="b"/>
              <a:pathLst>
                <a:path w="249428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2188972" y="0"/>
                  </a:lnTo>
                  <a:cubicBezTo>
                    <a:pt x="2357628" y="0"/>
                    <a:pt x="2494280" y="136652"/>
                    <a:pt x="2494280" y="305308"/>
                  </a:cubicBezTo>
                  <a:cubicBezTo>
                    <a:pt x="2494280" y="473964"/>
                    <a:pt x="2357628" y="610616"/>
                    <a:pt x="218897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34D399">
                <a:alpha val="1961"/>
              </a:srgbClr>
            </a:solidFill>
            <a:ln w="19050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576072"/>
            <a:ext cx="1851660" cy="438912"/>
            <a:chOff x="0" y="0"/>
            <a:chExt cx="2468880" cy="585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8880" cy="585216"/>
            </a:xfrm>
            <a:custGeom>
              <a:avLst/>
              <a:gdLst/>
              <a:ahLst/>
              <a:cxnLst/>
              <a:rect l="l" t="t" r="r" b="b"/>
              <a:pathLst>
                <a:path w="2468880" h="585216">
                  <a:moveTo>
                    <a:pt x="0" y="0"/>
                  </a:moveTo>
                  <a:lnTo>
                    <a:pt x="2468880" y="0"/>
                  </a:lnTo>
                  <a:lnTo>
                    <a:pt x="2468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02" b="-32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6888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 spc="150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RESPONSE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1069848"/>
            <a:ext cx="15773400" cy="960120"/>
            <a:chOff x="0" y="0"/>
            <a:chExt cx="2103120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Shuffle playbook — branching &amp; automated actions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947672"/>
            <a:ext cx="16184880" cy="754380"/>
            <a:chOff x="0" y="0"/>
            <a:chExt cx="21579840" cy="1005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579839" cy="1005840"/>
            </a:xfrm>
            <a:custGeom>
              <a:avLst/>
              <a:gdLst/>
              <a:ahLst/>
              <a:cxnLst/>
              <a:rect l="l" t="t" r="r" b="b"/>
              <a:pathLst>
                <a:path w="21579839" h="1005840">
                  <a:moveTo>
                    <a:pt x="0" y="0"/>
                  </a:moveTo>
                  <a:lnTo>
                    <a:pt x="21579839" y="0"/>
                  </a:lnTo>
                  <a:lnTo>
                    <a:pt x="215798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8042" b="-36804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1579840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Rule ID drives the branch: SSH / RDP findings call the Wazuh active-response API directly through an authenticated session; other findings route through VirusTotal enrichment first.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158871" y="3131439"/>
            <a:ext cx="3434334" cy="4298442"/>
            <a:chOff x="0" y="0"/>
            <a:chExt cx="4579112" cy="573125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579112" cy="5731256"/>
            </a:xfrm>
            <a:custGeom>
              <a:avLst/>
              <a:gdLst/>
              <a:ahLst/>
              <a:cxnLst/>
              <a:rect l="l" t="t" r="r" b="b"/>
              <a:pathLst>
                <a:path w="4579112" h="5731256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4413631" y="0"/>
                  </a:lnTo>
                  <a:cubicBezTo>
                    <a:pt x="4505071" y="0"/>
                    <a:pt x="4579112" y="74041"/>
                    <a:pt x="4579112" y="165481"/>
                  </a:cubicBezTo>
                  <a:lnTo>
                    <a:pt x="4579112" y="5565775"/>
                  </a:lnTo>
                  <a:cubicBezTo>
                    <a:pt x="4579112" y="5657215"/>
                    <a:pt x="4505071" y="5731256"/>
                    <a:pt x="4413631" y="5731256"/>
                  </a:cubicBezTo>
                  <a:lnTo>
                    <a:pt x="165481" y="5731256"/>
                  </a:lnTo>
                  <a:cubicBezTo>
                    <a:pt x="74041" y="5731256"/>
                    <a:pt x="0" y="5657215"/>
                    <a:pt x="0" y="5565775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250692" y="3223260"/>
            <a:ext cx="3250692" cy="4114800"/>
            <a:chOff x="0" y="0"/>
            <a:chExt cx="4334256" cy="5486400"/>
          </a:xfrm>
        </p:grpSpPr>
        <p:sp>
          <p:nvSpPr>
            <p:cNvPr id="16" name="Freeform 16" descr="clean_assets/shuffle_filter_conditions_ssh_win.png"/>
            <p:cNvSpPr/>
            <p:nvPr/>
          </p:nvSpPr>
          <p:spPr>
            <a:xfrm>
              <a:off x="0" y="0"/>
              <a:ext cx="4334256" cy="5486400"/>
            </a:xfrm>
            <a:custGeom>
              <a:avLst/>
              <a:gdLst/>
              <a:ahLst/>
              <a:cxnLst/>
              <a:rect l="l" t="t" r="r" b="b"/>
              <a:pathLst>
                <a:path w="4334256" h="5486400">
                  <a:moveTo>
                    <a:pt x="0" y="0"/>
                  </a:moveTo>
                  <a:lnTo>
                    <a:pt x="4334256" y="0"/>
                  </a:lnTo>
                  <a:lnTo>
                    <a:pt x="4334256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154108" y="3126676"/>
            <a:ext cx="3443859" cy="4307967"/>
            <a:chOff x="0" y="0"/>
            <a:chExt cx="4591812" cy="57439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591812" cy="5743956"/>
            </a:xfrm>
            <a:custGeom>
              <a:avLst/>
              <a:gdLst/>
              <a:ahLst/>
              <a:cxnLst/>
              <a:rect l="l" t="t" r="r" b="b"/>
              <a:pathLst>
                <a:path w="4591812" h="5743956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4425823" y="0"/>
                  </a:lnTo>
                  <a:cubicBezTo>
                    <a:pt x="4517517" y="0"/>
                    <a:pt x="4591812" y="74295"/>
                    <a:pt x="4591812" y="165989"/>
                  </a:cubicBezTo>
                  <a:lnTo>
                    <a:pt x="4591812" y="5577967"/>
                  </a:lnTo>
                  <a:cubicBezTo>
                    <a:pt x="4591812" y="5669661"/>
                    <a:pt x="4517517" y="5743956"/>
                    <a:pt x="4425823" y="5743956"/>
                  </a:cubicBezTo>
                  <a:lnTo>
                    <a:pt x="165989" y="5743956"/>
                  </a:lnTo>
                  <a:cubicBezTo>
                    <a:pt x="74295" y="5743956"/>
                    <a:pt x="0" y="5669661"/>
                    <a:pt x="0" y="5577967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96" r="-110496"/>
              </a:stretch>
            </a:blip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250692" y="7475220"/>
            <a:ext cx="3250692" cy="411480"/>
            <a:chOff x="0" y="0"/>
            <a:chExt cx="4334256" cy="548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334256" cy="548640"/>
            </a:xfrm>
            <a:custGeom>
              <a:avLst/>
              <a:gdLst/>
              <a:ahLst/>
              <a:cxnLst/>
              <a:rect l="l" t="t" r="r" b="b"/>
              <a:pathLst>
                <a:path w="4334256" h="548640">
                  <a:moveTo>
                    <a:pt x="0" y="0"/>
                  </a:moveTo>
                  <a:lnTo>
                    <a:pt x="4334256" y="0"/>
                  </a:lnTo>
                  <a:lnTo>
                    <a:pt x="433425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931" b="-1039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4334256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Branch filters — SSH vs. Windows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89623" y="3131439"/>
            <a:ext cx="2323338" cy="4298442"/>
            <a:chOff x="0" y="0"/>
            <a:chExt cx="3097784" cy="573125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097784" cy="5731256"/>
            </a:xfrm>
            <a:custGeom>
              <a:avLst/>
              <a:gdLst/>
              <a:ahLst/>
              <a:cxnLst/>
              <a:rect l="l" t="t" r="r" b="b"/>
              <a:pathLst>
                <a:path w="3097784" h="5731256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2931795" y="0"/>
                  </a:lnTo>
                  <a:cubicBezTo>
                    <a:pt x="3023489" y="0"/>
                    <a:pt x="3097784" y="74295"/>
                    <a:pt x="3097784" y="165989"/>
                  </a:cubicBezTo>
                  <a:lnTo>
                    <a:pt x="3097784" y="5565267"/>
                  </a:lnTo>
                  <a:cubicBezTo>
                    <a:pt x="3097784" y="5656961"/>
                    <a:pt x="3023489" y="5731256"/>
                    <a:pt x="2931795" y="5731256"/>
                  </a:cubicBezTo>
                  <a:lnTo>
                    <a:pt x="165989" y="5731256"/>
                  </a:lnTo>
                  <a:cubicBezTo>
                    <a:pt x="74295" y="5731256"/>
                    <a:pt x="0" y="5656961"/>
                    <a:pt x="0" y="5565267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981444" y="3223260"/>
            <a:ext cx="2139696" cy="4114800"/>
            <a:chOff x="0" y="0"/>
            <a:chExt cx="2852928" cy="5486400"/>
          </a:xfrm>
        </p:grpSpPr>
        <p:sp>
          <p:nvSpPr>
            <p:cNvPr id="25" name="Freeform 25" descr="clean_assets/shuffle_wazuh_apikey_curl_config.png"/>
            <p:cNvSpPr/>
            <p:nvPr/>
          </p:nvSpPr>
          <p:spPr>
            <a:xfrm>
              <a:off x="0" y="0"/>
              <a:ext cx="2852928" cy="5486400"/>
            </a:xfrm>
            <a:custGeom>
              <a:avLst/>
              <a:gdLst/>
              <a:ahLst/>
              <a:cxnLst/>
              <a:rect l="l" t="t" r="r" b="b"/>
              <a:pathLst>
                <a:path w="2852928" h="5486400">
                  <a:moveTo>
                    <a:pt x="0" y="0"/>
                  </a:moveTo>
                  <a:lnTo>
                    <a:pt x="2852928" y="0"/>
                  </a:lnTo>
                  <a:lnTo>
                    <a:pt x="285292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74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884860" y="3126676"/>
            <a:ext cx="2332863" cy="4307967"/>
            <a:chOff x="0" y="0"/>
            <a:chExt cx="3110484" cy="574395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110484" cy="5743956"/>
            </a:xfrm>
            <a:custGeom>
              <a:avLst/>
              <a:gdLst/>
              <a:ahLst/>
              <a:cxnLst/>
              <a:rect l="l" t="t" r="r" b="b"/>
              <a:pathLst>
                <a:path w="3110484" h="5743956">
                  <a:moveTo>
                    <a:pt x="0" y="166624"/>
                  </a:moveTo>
                  <a:cubicBezTo>
                    <a:pt x="0" y="74549"/>
                    <a:pt x="74549" y="0"/>
                    <a:pt x="166624" y="0"/>
                  </a:cubicBezTo>
                  <a:lnTo>
                    <a:pt x="2943860" y="0"/>
                  </a:lnTo>
                  <a:cubicBezTo>
                    <a:pt x="3035935" y="0"/>
                    <a:pt x="3110484" y="74549"/>
                    <a:pt x="3110484" y="166624"/>
                  </a:cubicBezTo>
                  <a:lnTo>
                    <a:pt x="3110484" y="5577332"/>
                  </a:lnTo>
                  <a:cubicBezTo>
                    <a:pt x="3110484" y="5669407"/>
                    <a:pt x="3035935" y="5743956"/>
                    <a:pt x="2943860" y="5743956"/>
                  </a:cubicBezTo>
                  <a:lnTo>
                    <a:pt x="166624" y="5743956"/>
                  </a:lnTo>
                  <a:cubicBezTo>
                    <a:pt x="74549" y="5743956"/>
                    <a:pt x="0" y="5669407"/>
                    <a:pt x="0" y="557733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6930" r="-186930"/>
              </a:stretch>
            </a:blip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981444" y="7475220"/>
            <a:ext cx="2139696" cy="411480"/>
            <a:chOff x="0" y="0"/>
            <a:chExt cx="2852928" cy="548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852928" cy="548640"/>
            </a:xfrm>
            <a:custGeom>
              <a:avLst/>
              <a:gdLst/>
              <a:ahLst/>
              <a:cxnLst/>
              <a:rect l="l" t="t" r="r" b="b"/>
              <a:pathLst>
                <a:path w="2852928" h="548640">
                  <a:moveTo>
                    <a:pt x="0" y="0"/>
                  </a:moveTo>
                  <a:lnTo>
                    <a:pt x="2852928" y="0"/>
                  </a:lnTo>
                  <a:lnTo>
                    <a:pt x="285292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322" b="-5132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2852928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Wazuh API auth (curl)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09379" y="3131439"/>
            <a:ext cx="5615178" cy="4298442"/>
            <a:chOff x="0" y="0"/>
            <a:chExt cx="7486904" cy="573125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486904" cy="5731256"/>
            </a:xfrm>
            <a:custGeom>
              <a:avLst/>
              <a:gdLst/>
              <a:ahLst/>
              <a:cxnLst/>
              <a:rect l="l" t="t" r="r" b="b"/>
              <a:pathLst>
                <a:path w="7486904" h="5731256">
                  <a:moveTo>
                    <a:pt x="0" y="165354"/>
                  </a:moveTo>
                  <a:cubicBezTo>
                    <a:pt x="0" y="74041"/>
                    <a:pt x="74041" y="0"/>
                    <a:pt x="165354" y="0"/>
                  </a:cubicBezTo>
                  <a:lnTo>
                    <a:pt x="7321550" y="0"/>
                  </a:lnTo>
                  <a:cubicBezTo>
                    <a:pt x="7412863" y="0"/>
                    <a:pt x="7486904" y="74041"/>
                    <a:pt x="7486904" y="165354"/>
                  </a:cubicBezTo>
                  <a:lnTo>
                    <a:pt x="7486904" y="5565902"/>
                  </a:lnTo>
                  <a:cubicBezTo>
                    <a:pt x="7486904" y="5657215"/>
                    <a:pt x="7412863" y="5731256"/>
                    <a:pt x="7321550" y="5731256"/>
                  </a:cubicBezTo>
                  <a:lnTo>
                    <a:pt x="165354" y="5731256"/>
                  </a:lnTo>
                  <a:cubicBezTo>
                    <a:pt x="74041" y="5731256"/>
                    <a:pt x="0" y="5657215"/>
                    <a:pt x="0" y="5565902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601200" y="3223260"/>
            <a:ext cx="5431536" cy="4114800"/>
            <a:chOff x="0" y="0"/>
            <a:chExt cx="7242048" cy="5486400"/>
          </a:xfrm>
        </p:grpSpPr>
        <p:sp>
          <p:nvSpPr>
            <p:cNvPr id="34" name="Freeform 34" descr="clean_assets/shuffle_process_id_apikey_result.png"/>
            <p:cNvSpPr/>
            <p:nvPr/>
          </p:nvSpPr>
          <p:spPr>
            <a:xfrm>
              <a:off x="0" y="0"/>
              <a:ext cx="7242048" cy="5486400"/>
            </a:xfrm>
            <a:custGeom>
              <a:avLst/>
              <a:gdLst/>
              <a:ahLst/>
              <a:cxnLst/>
              <a:rect l="l" t="t" r="r" b="b"/>
              <a:pathLst>
                <a:path w="7242048" h="5486400">
                  <a:moveTo>
                    <a:pt x="0" y="0"/>
                  </a:moveTo>
                  <a:lnTo>
                    <a:pt x="7242048" y="0"/>
                  </a:lnTo>
                  <a:lnTo>
                    <a:pt x="7242048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504616" y="3126676"/>
            <a:ext cx="5624703" cy="4307967"/>
            <a:chOff x="0" y="0"/>
            <a:chExt cx="7499604" cy="574395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499603" cy="5743956"/>
            </a:xfrm>
            <a:custGeom>
              <a:avLst/>
              <a:gdLst/>
              <a:ahLst/>
              <a:cxnLst/>
              <a:rect l="l" t="t" r="r" b="b"/>
              <a:pathLst>
                <a:path w="7499603" h="5743956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7333869" y="0"/>
                  </a:lnTo>
                  <a:cubicBezTo>
                    <a:pt x="7425436" y="0"/>
                    <a:pt x="7499603" y="74168"/>
                    <a:pt x="7499603" y="165735"/>
                  </a:cubicBezTo>
                  <a:lnTo>
                    <a:pt x="7499603" y="5578221"/>
                  </a:lnTo>
                  <a:cubicBezTo>
                    <a:pt x="7499603" y="5669788"/>
                    <a:pt x="7425436" y="5743956"/>
                    <a:pt x="7333869" y="5743956"/>
                  </a:cubicBezTo>
                  <a:lnTo>
                    <a:pt x="165735" y="5743956"/>
                  </a:lnTo>
                  <a:cubicBezTo>
                    <a:pt x="74168" y="5743956"/>
                    <a:pt x="0" y="5669788"/>
                    <a:pt x="0" y="557822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8267" r="-48267"/>
              </a:stretch>
            </a:blip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601200" y="7475220"/>
            <a:ext cx="5431536" cy="411480"/>
            <a:chOff x="0" y="0"/>
            <a:chExt cx="7242048" cy="5486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242048" cy="548640"/>
            </a:xfrm>
            <a:custGeom>
              <a:avLst/>
              <a:gdLst/>
              <a:ahLst/>
              <a:cxnLst/>
              <a:rect l="l" t="t" r="r" b="b"/>
              <a:pathLst>
                <a:path w="7242048" h="548640">
                  <a:moveTo>
                    <a:pt x="0" y="0"/>
                  </a:moveTo>
                  <a:lnTo>
                    <a:pt x="7242048" y="0"/>
                  </a:lnTo>
                  <a:lnTo>
                    <a:pt x="724204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202" b="-207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7242048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Process ID + JWT result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13435" y="8288655"/>
            <a:ext cx="16615410" cy="1047750"/>
            <a:chOff x="0" y="0"/>
            <a:chExt cx="22153880" cy="1397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2153880" cy="1397000"/>
            </a:xfrm>
            <a:custGeom>
              <a:avLst/>
              <a:gdLst/>
              <a:ahLst/>
              <a:cxnLst/>
              <a:rect l="l" t="t" r="r" b="b"/>
              <a:pathLst>
                <a:path w="22153880" h="1397000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22004910" y="0"/>
                  </a:lnTo>
                  <a:cubicBezTo>
                    <a:pt x="22087205" y="0"/>
                    <a:pt x="22153880" y="66675"/>
                    <a:pt x="22153880" y="148971"/>
                  </a:cubicBezTo>
                  <a:lnTo>
                    <a:pt x="22153880" y="1248029"/>
                  </a:lnTo>
                  <a:cubicBezTo>
                    <a:pt x="22153880" y="1330325"/>
                    <a:pt x="22087205" y="1397000"/>
                    <a:pt x="22004910" y="1397000"/>
                  </a:cubicBezTo>
                  <a:lnTo>
                    <a:pt x="148971" y="1397000"/>
                  </a:lnTo>
                  <a:cubicBezTo>
                    <a:pt x="66675" y="1397000"/>
                    <a:pt x="0" y="1330325"/>
                    <a:pt x="0" y="1248029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65860" y="8298180"/>
            <a:ext cx="15910560" cy="1028700"/>
            <a:chOff x="0" y="0"/>
            <a:chExt cx="21214080" cy="13716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214080" cy="1371600"/>
            </a:xfrm>
            <a:custGeom>
              <a:avLst/>
              <a:gdLst/>
              <a:ahLst/>
              <a:cxnLst/>
              <a:rect l="l" t="t" r="r" b="b"/>
              <a:pathLst>
                <a:path w="21214080" h="1371600">
                  <a:moveTo>
                    <a:pt x="0" y="0"/>
                  </a:moveTo>
                  <a:lnTo>
                    <a:pt x="21214080" y="0"/>
                  </a:lnTo>
                  <a:lnTo>
                    <a:pt x="212140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368" b="-25136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57150"/>
              <a:ext cx="21214080" cy="14287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725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Both branches converge back on Wazuh — either firing active-response directly, or after a VirusTotal enrichment step — keeping every action auditable end to end.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85800" y="9793224"/>
            <a:ext cx="6858000" cy="384048"/>
            <a:chOff x="0" y="0"/>
            <a:chExt cx="9144000" cy="51206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144000" cy="512064"/>
            </a:xfrm>
            <a:custGeom>
              <a:avLst/>
              <a:gdLst/>
              <a:ahLst/>
              <a:cxnLst/>
              <a:rect l="l" t="t" r="r" b="b"/>
              <a:pathLst>
                <a:path w="9144000" h="512064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28575"/>
              <a:ext cx="91440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spc="149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WAZUH + SHUFFLE SOC LAB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6870680" y="9793224"/>
            <a:ext cx="754380" cy="384048"/>
            <a:chOff x="0" y="0"/>
            <a:chExt cx="1005840" cy="51206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05840" cy="512064"/>
            </a:xfrm>
            <a:custGeom>
              <a:avLst/>
              <a:gdLst/>
              <a:ahLst/>
              <a:cxnLst/>
              <a:rect l="l" t="t" r="r" b="b"/>
              <a:pathLst>
                <a:path w="1005840" h="512064">
                  <a:moveTo>
                    <a:pt x="0" y="0"/>
                  </a:moveTo>
                  <a:lnTo>
                    <a:pt x="1005840" y="0"/>
                  </a:lnTo>
                  <a:lnTo>
                    <a:pt x="10058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r="-153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28575"/>
              <a:ext cx="100584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6275" y="566547"/>
            <a:ext cx="1870710" cy="457962"/>
            <a:chOff x="0" y="0"/>
            <a:chExt cx="2494280" cy="6106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280" cy="610616"/>
            </a:xfrm>
            <a:custGeom>
              <a:avLst/>
              <a:gdLst/>
              <a:ahLst/>
              <a:cxnLst/>
              <a:rect l="l" t="t" r="r" b="b"/>
              <a:pathLst>
                <a:path w="249428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2188972" y="0"/>
                  </a:lnTo>
                  <a:cubicBezTo>
                    <a:pt x="2357628" y="0"/>
                    <a:pt x="2494280" y="136652"/>
                    <a:pt x="2494280" y="305308"/>
                  </a:cubicBezTo>
                  <a:cubicBezTo>
                    <a:pt x="2494280" y="473964"/>
                    <a:pt x="2357628" y="610616"/>
                    <a:pt x="218897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34D399">
                <a:alpha val="1961"/>
              </a:srgbClr>
            </a:solidFill>
            <a:ln w="19050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576072"/>
            <a:ext cx="1851660" cy="438912"/>
            <a:chOff x="0" y="0"/>
            <a:chExt cx="2468880" cy="585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8880" cy="585216"/>
            </a:xfrm>
            <a:custGeom>
              <a:avLst/>
              <a:gdLst/>
              <a:ahLst/>
              <a:cxnLst/>
              <a:rect l="l" t="t" r="r" b="b"/>
              <a:pathLst>
                <a:path w="2468880" h="585216">
                  <a:moveTo>
                    <a:pt x="0" y="0"/>
                  </a:moveTo>
                  <a:lnTo>
                    <a:pt x="2468880" y="0"/>
                  </a:lnTo>
                  <a:lnTo>
                    <a:pt x="2468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02" b="-32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6888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 spc="150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RESPONSE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1069848"/>
            <a:ext cx="15773400" cy="960120"/>
            <a:chOff x="0" y="0"/>
            <a:chExt cx="2103120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Active response — command &amp; control contained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947672"/>
            <a:ext cx="16184880" cy="685800"/>
            <a:chOff x="0" y="0"/>
            <a:chExt cx="2157984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579839" cy="914400"/>
            </a:xfrm>
            <a:custGeom>
              <a:avLst/>
              <a:gdLst/>
              <a:ahLst/>
              <a:cxnLst/>
              <a:rect l="l" t="t" r="r" b="b"/>
              <a:pathLst>
                <a:path w="21579839" h="914400">
                  <a:moveTo>
                    <a:pt x="0" y="0"/>
                  </a:moveTo>
                  <a:lnTo>
                    <a:pt x="21579839" y="0"/>
                  </a:lnTo>
                  <a:lnTo>
                    <a:pt x="215798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846" b="-40984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157984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 muhamedbushnak · rule 67027 (suspicious process creation) escalates to rule 657 — active-response/bin/netsh blocks the malicious service.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31139" y="2857119"/>
            <a:ext cx="16505682" cy="2268474"/>
            <a:chOff x="0" y="0"/>
            <a:chExt cx="22007576" cy="302463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007576" cy="3024632"/>
            </a:xfrm>
            <a:custGeom>
              <a:avLst/>
              <a:gdLst/>
              <a:ahLst/>
              <a:cxnLst/>
              <a:rect l="l" t="t" r="r" b="b"/>
              <a:pathLst>
                <a:path w="22007576" h="3024632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21841588" y="0"/>
                  </a:lnTo>
                  <a:cubicBezTo>
                    <a:pt x="21933281" y="0"/>
                    <a:pt x="22007576" y="74295"/>
                    <a:pt x="22007576" y="165989"/>
                  </a:cubicBezTo>
                  <a:lnTo>
                    <a:pt x="22007576" y="2858643"/>
                  </a:lnTo>
                  <a:cubicBezTo>
                    <a:pt x="22007576" y="2950337"/>
                    <a:pt x="21933281" y="3024632"/>
                    <a:pt x="21841588" y="3024632"/>
                  </a:cubicBezTo>
                  <a:lnTo>
                    <a:pt x="165989" y="3024632"/>
                  </a:lnTo>
                  <a:cubicBezTo>
                    <a:pt x="74295" y="3024632"/>
                    <a:pt x="0" y="2950337"/>
                    <a:pt x="0" y="2858643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22960" y="2948940"/>
            <a:ext cx="16322040" cy="2084832"/>
            <a:chOff x="0" y="0"/>
            <a:chExt cx="21762720" cy="2779776"/>
          </a:xfrm>
        </p:grpSpPr>
        <p:sp>
          <p:nvSpPr>
            <p:cNvPr id="16" name="Freeform 16" descr="clean_assets/active_response_c2_netsh.png"/>
            <p:cNvSpPr/>
            <p:nvPr/>
          </p:nvSpPr>
          <p:spPr>
            <a:xfrm>
              <a:off x="0" y="0"/>
              <a:ext cx="21762720" cy="2779776"/>
            </a:xfrm>
            <a:custGeom>
              <a:avLst/>
              <a:gdLst/>
              <a:ahLst/>
              <a:cxnLst/>
              <a:rect l="l" t="t" r="r" b="b"/>
              <a:pathLst>
                <a:path w="21762720" h="2779776">
                  <a:moveTo>
                    <a:pt x="0" y="0"/>
                  </a:moveTo>
                  <a:lnTo>
                    <a:pt x="21762720" y="0"/>
                  </a:lnTo>
                  <a:lnTo>
                    <a:pt x="21762720" y="2779776"/>
                  </a:lnTo>
                  <a:lnTo>
                    <a:pt x="0" y="2779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8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6377" y="2852356"/>
            <a:ext cx="16515207" cy="2277999"/>
            <a:chOff x="0" y="0"/>
            <a:chExt cx="22020276" cy="303733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020276" cy="3037332"/>
            </a:xfrm>
            <a:custGeom>
              <a:avLst/>
              <a:gdLst/>
              <a:ahLst/>
              <a:cxnLst/>
              <a:rect l="l" t="t" r="r" b="b"/>
              <a:pathLst>
                <a:path w="22020276" h="3037332">
                  <a:moveTo>
                    <a:pt x="0" y="166751"/>
                  </a:moveTo>
                  <a:cubicBezTo>
                    <a:pt x="0" y="74676"/>
                    <a:pt x="74676" y="0"/>
                    <a:pt x="166751" y="0"/>
                  </a:cubicBezTo>
                  <a:lnTo>
                    <a:pt x="21853525" y="0"/>
                  </a:lnTo>
                  <a:cubicBezTo>
                    <a:pt x="21945600" y="0"/>
                    <a:pt x="22020276" y="74676"/>
                    <a:pt x="22020276" y="166751"/>
                  </a:cubicBezTo>
                  <a:lnTo>
                    <a:pt x="22020276" y="2870581"/>
                  </a:lnTo>
                  <a:cubicBezTo>
                    <a:pt x="22020276" y="2962656"/>
                    <a:pt x="21945600" y="3037332"/>
                    <a:pt x="21853525" y="3037332"/>
                  </a:cubicBezTo>
                  <a:lnTo>
                    <a:pt x="166751" y="3037332"/>
                  </a:lnTo>
                  <a:cubicBezTo>
                    <a:pt x="74676" y="3037332"/>
                    <a:pt x="0" y="2962656"/>
                    <a:pt x="0" y="287058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264" b="-91264"/>
              </a:stretch>
            </a:blip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2960" y="5170932"/>
            <a:ext cx="16322040" cy="411480"/>
            <a:chOff x="0" y="0"/>
            <a:chExt cx="21762720" cy="548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762720" cy="548640"/>
            </a:xfrm>
            <a:custGeom>
              <a:avLst/>
              <a:gdLst/>
              <a:ahLst/>
              <a:cxnLst/>
              <a:rect l="l" t="t" r="r" b="b"/>
              <a:pathLst>
                <a:path w="21762720" h="54864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2906" b="-7229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217627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Wazuh alert log — netsh active-response fired on the Windows Server host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13435" y="5545455"/>
            <a:ext cx="5299710" cy="2076450"/>
            <a:chOff x="0" y="0"/>
            <a:chExt cx="7066280" cy="2768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066280" cy="2768600"/>
            </a:xfrm>
            <a:custGeom>
              <a:avLst/>
              <a:gdLst/>
              <a:ahLst/>
              <a:cxnLst/>
              <a:rect l="l" t="t" r="r" b="b"/>
              <a:pathLst>
                <a:path w="7066280" h="2768600">
                  <a:moveTo>
                    <a:pt x="0" y="166116"/>
                  </a:moveTo>
                  <a:cubicBezTo>
                    <a:pt x="0" y="74422"/>
                    <a:pt x="74422" y="0"/>
                    <a:pt x="166116" y="0"/>
                  </a:cubicBezTo>
                  <a:lnTo>
                    <a:pt x="6900164" y="0"/>
                  </a:lnTo>
                  <a:cubicBezTo>
                    <a:pt x="6991858" y="0"/>
                    <a:pt x="7066280" y="74422"/>
                    <a:pt x="7066280" y="166116"/>
                  </a:cubicBezTo>
                  <a:lnTo>
                    <a:pt x="7066280" y="2602484"/>
                  </a:lnTo>
                  <a:cubicBezTo>
                    <a:pt x="7066280" y="2694178"/>
                    <a:pt x="6991858" y="2768600"/>
                    <a:pt x="6900164" y="2768600"/>
                  </a:cubicBezTo>
                  <a:lnTo>
                    <a:pt x="166116" y="2768600"/>
                  </a:lnTo>
                  <a:cubicBezTo>
                    <a:pt x="74422" y="2768600"/>
                    <a:pt x="0" y="2694178"/>
                    <a:pt x="0" y="2602484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51573" y="5746432"/>
            <a:ext cx="714375" cy="714375"/>
            <a:chOff x="0" y="0"/>
            <a:chExt cx="952500" cy="9525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cubicBezTo>
                    <a:pt x="739267" y="0"/>
                    <a:pt x="952500" y="213233"/>
                    <a:pt x="952500" y="476250"/>
                  </a:cubicBezTo>
                  <a:cubicBezTo>
                    <a:pt x="952500" y="739267"/>
                    <a:pt x="739267" y="952500"/>
                    <a:pt x="476250" y="952500"/>
                  </a:cubicBezTo>
                  <a:cubicBezTo>
                    <a:pt x="213233" y="952500"/>
                    <a:pt x="0" y="739267"/>
                    <a:pt x="0" y="476250"/>
                  </a:cubicBezTo>
                  <a:close/>
                </a:path>
              </a:pathLst>
            </a:custGeom>
            <a:solidFill>
              <a:srgbClr val="34D399">
                <a:alpha val="1176"/>
              </a:srgbClr>
            </a:solid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65860" y="5760720"/>
            <a:ext cx="685800" cy="685800"/>
            <a:chOff x="0" y="0"/>
            <a:chExt cx="914400" cy="914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057400" y="5733288"/>
            <a:ext cx="3771900" cy="548640"/>
            <a:chOff x="0" y="0"/>
            <a:chExt cx="502920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029200" cy="731520"/>
            </a:xfrm>
            <a:custGeom>
              <a:avLst/>
              <a:gdLst/>
              <a:ahLst/>
              <a:cxnLst/>
              <a:rect l="l" t="t" r="r" b="b"/>
              <a:pathLst>
                <a:path w="5029200" h="731520">
                  <a:moveTo>
                    <a:pt x="0" y="0"/>
                  </a:moveTo>
                  <a:lnTo>
                    <a:pt x="5029200" y="0"/>
                  </a:lnTo>
                  <a:lnTo>
                    <a:pt x="502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959" b="-839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50292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5F7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Process created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057400" y="6240780"/>
            <a:ext cx="3771900" cy="1234440"/>
            <a:chOff x="0" y="0"/>
            <a:chExt cx="5029200" cy="16459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029200" cy="1645920"/>
            </a:xfrm>
            <a:custGeom>
              <a:avLst/>
              <a:gdLst/>
              <a:ahLst/>
              <a:cxnLst/>
              <a:rect l="l" t="t" r="r" b="b"/>
              <a:pathLst>
                <a:path w="5029200" h="1645920">
                  <a:moveTo>
                    <a:pt x="0" y="0"/>
                  </a:moveTo>
                  <a:lnTo>
                    <a:pt x="5029200" y="0"/>
                  </a:lnTo>
                  <a:lnTo>
                    <a:pt x="5029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37" b="-953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5029200" cy="1693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Suspicious service process detected — rule 67027, repeated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78143" y="5545455"/>
            <a:ext cx="5299710" cy="2076450"/>
            <a:chOff x="0" y="0"/>
            <a:chExt cx="7066280" cy="27686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066280" cy="2768600"/>
            </a:xfrm>
            <a:custGeom>
              <a:avLst/>
              <a:gdLst/>
              <a:ahLst/>
              <a:cxnLst/>
              <a:rect l="l" t="t" r="r" b="b"/>
              <a:pathLst>
                <a:path w="7066280" h="2768600">
                  <a:moveTo>
                    <a:pt x="0" y="166116"/>
                  </a:moveTo>
                  <a:cubicBezTo>
                    <a:pt x="0" y="74422"/>
                    <a:pt x="74422" y="0"/>
                    <a:pt x="166116" y="0"/>
                  </a:cubicBezTo>
                  <a:lnTo>
                    <a:pt x="6900164" y="0"/>
                  </a:lnTo>
                  <a:cubicBezTo>
                    <a:pt x="6991858" y="0"/>
                    <a:pt x="7066280" y="74422"/>
                    <a:pt x="7066280" y="166116"/>
                  </a:cubicBezTo>
                  <a:lnTo>
                    <a:pt x="7066280" y="2602484"/>
                  </a:lnTo>
                  <a:cubicBezTo>
                    <a:pt x="7066280" y="2694178"/>
                    <a:pt x="6991858" y="2768600"/>
                    <a:pt x="6900164" y="2768600"/>
                  </a:cubicBezTo>
                  <a:lnTo>
                    <a:pt x="166116" y="2768600"/>
                  </a:lnTo>
                  <a:cubicBezTo>
                    <a:pt x="74422" y="2768600"/>
                    <a:pt x="0" y="2694178"/>
                    <a:pt x="0" y="2602484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16280" y="5746432"/>
            <a:ext cx="714375" cy="714375"/>
            <a:chOff x="0" y="0"/>
            <a:chExt cx="952500" cy="9525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cubicBezTo>
                    <a:pt x="739267" y="0"/>
                    <a:pt x="952500" y="213233"/>
                    <a:pt x="952500" y="476250"/>
                  </a:cubicBezTo>
                  <a:cubicBezTo>
                    <a:pt x="952500" y="739267"/>
                    <a:pt x="739267" y="952500"/>
                    <a:pt x="476250" y="952500"/>
                  </a:cubicBezTo>
                  <a:cubicBezTo>
                    <a:pt x="213233" y="952500"/>
                    <a:pt x="0" y="739267"/>
                    <a:pt x="0" y="476250"/>
                  </a:cubicBezTo>
                  <a:close/>
                </a:path>
              </a:pathLst>
            </a:custGeom>
            <a:solidFill>
              <a:srgbClr val="34D399">
                <a:alpha val="1176"/>
              </a:srgbClr>
            </a:solid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830568" y="5760720"/>
            <a:ext cx="685800" cy="685800"/>
            <a:chOff x="0" y="0"/>
            <a:chExt cx="914400" cy="914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722108" y="5733288"/>
            <a:ext cx="3771900" cy="548640"/>
            <a:chOff x="0" y="0"/>
            <a:chExt cx="5029200" cy="7315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029200" cy="731520"/>
            </a:xfrm>
            <a:custGeom>
              <a:avLst/>
              <a:gdLst/>
              <a:ahLst/>
              <a:cxnLst/>
              <a:rect l="l" t="t" r="r" b="b"/>
              <a:pathLst>
                <a:path w="5029200" h="731520">
                  <a:moveTo>
                    <a:pt x="0" y="0"/>
                  </a:moveTo>
                  <a:lnTo>
                    <a:pt x="5029200" y="0"/>
                  </a:lnTo>
                  <a:lnTo>
                    <a:pt x="502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959" b="-839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50292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5F7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 triggers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722108" y="6240780"/>
            <a:ext cx="3771900" cy="1234440"/>
            <a:chOff x="0" y="0"/>
            <a:chExt cx="5029200" cy="16459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029200" cy="1645920"/>
            </a:xfrm>
            <a:custGeom>
              <a:avLst/>
              <a:gdLst/>
              <a:ahLst/>
              <a:cxnLst/>
              <a:rect l="l" t="t" r="r" b="b"/>
              <a:pathLst>
                <a:path w="5029200" h="1645920">
                  <a:moveTo>
                    <a:pt x="0" y="0"/>
                  </a:moveTo>
                  <a:lnTo>
                    <a:pt x="5029200" y="0"/>
                  </a:lnTo>
                  <a:lnTo>
                    <a:pt x="5029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37" b="-953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5029200" cy="1693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active-response/bin/netsh runs — rule 657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142851" y="5545455"/>
            <a:ext cx="5299710" cy="2076450"/>
            <a:chOff x="0" y="0"/>
            <a:chExt cx="7066280" cy="27686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066280" cy="2768600"/>
            </a:xfrm>
            <a:custGeom>
              <a:avLst/>
              <a:gdLst/>
              <a:ahLst/>
              <a:cxnLst/>
              <a:rect l="l" t="t" r="r" b="b"/>
              <a:pathLst>
                <a:path w="7066280" h="2768600">
                  <a:moveTo>
                    <a:pt x="0" y="166116"/>
                  </a:moveTo>
                  <a:cubicBezTo>
                    <a:pt x="0" y="74422"/>
                    <a:pt x="74422" y="0"/>
                    <a:pt x="166116" y="0"/>
                  </a:cubicBezTo>
                  <a:lnTo>
                    <a:pt x="6900164" y="0"/>
                  </a:lnTo>
                  <a:cubicBezTo>
                    <a:pt x="6991858" y="0"/>
                    <a:pt x="7066280" y="74422"/>
                    <a:pt x="7066280" y="166116"/>
                  </a:cubicBezTo>
                  <a:lnTo>
                    <a:pt x="7066280" y="2602484"/>
                  </a:lnTo>
                  <a:cubicBezTo>
                    <a:pt x="7066280" y="2694178"/>
                    <a:pt x="6991858" y="2768600"/>
                    <a:pt x="6900164" y="2768600"/>
                  </a:cubicBezTo>
                  <a:lnTo>
                    <a:pt x="166116" y="2768600"/>
                  </a:lnTo>
                  <a:cubicBezTo>
                    <a:pt x="74422" y="2768600"/>
                    <a:pt x="0" y="2694178"/>
                    <a:pt x="0" y="2602484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480988" y="5746432"/>
            <a:ext cx="714375" cy="714375"/>
            <a:chOff x="0" y="0"/>
            <a:chExt cx="952500" cy="9525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cubicBezTo>
                    <a:pt x="739267" y="0"/>
                    <a:pt x="952500" y="213233"/>
                    <a:pt x="952500" y="476250"/>
                  </a:cubicBezTo>
                  <a:cubicBezTo>
                    <a:pt x="952500" y="739267"/>
                    <a:pt x="739267" y="952500"/>
                    <a:pt x="476250" y="952500"/>
                  </a:cubicBezTo>
                  <a:cubicBezTo>
                    <a:pt x="213233" y="952500"/>
                    <a:pt x="0" y="739267"/>
                    <a:pt x="0" y="476250"/>
                  </a:cubicBezTo>
                  <a:close/>
                </a:path>
              </a:pathLst>
            </a:custGeom>
            <a:solidFill>
              <a:srgbClr val="34D399">
                <a:alpha val="1176"/>
              </a:srgbClr>
            </a:solid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495276" y="5760720"/>
            <a:ext cx="685800" cy="685800"/>
            <a:chOff x="0" y="0"/>
            <a:chExt cx="914400" cy="9144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386816" y="5733288"/>
            <a:ext cx="3771900" cy="548640"/>
            <a:chOff x="0" y="0"/>
            <a:chExt cx="5029200" cy="73152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029200" cy="731520"/>
            </a:xfrm>
            <a:custGeom>
              <a:avLst/>
              <a:gdLst/>
              <a:ahLst/>
              <a:cxnLst/>
              <a:rect l="l" t="t" r="r" b="b"/>
              <a:pathLst>
                <a:path w="5029200" h="731520">
                  <a:moveTo>
                    <a:pt x="0" y="0"/>
                  </a:moveTo>
                  <a:lnTo>
                    <a:pt x="5029200" y="0"/>
                  </a:lnTo>
                  <a:lnTo>
                    <a:pt x="502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959" b="-839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47625"/>
              <a:ext cx="50292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5F7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Service blocked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386816" y="6240780"/>
            <a:ext cx="3771900" cy="1234440"/>
            <a:chOff x="0" y="0"/>
            <a:chExt cx="5029200" cy="164592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029200" cy="1645920"/>
            </a:xfrm>
            <a:custGeom>
              <a:avLst/>
              <a:gdLst/>
              <a:ahLst/>
              <a:cxnLst/>
              <a:rect l="l" t="t" r="r" b="b"/>
              <a:pathLst>
                <a:path w="5029200" h="1645920">
                  <a:moveTo>
                    <a:pt x="0" y="0"/>
                  </a:moveTo>
                  <a:lnTo>
                    <a:pt x="5029200" y="0"/>
                  </a:lnTo>
                  <a:lnTo>
                    <a:pt x="5029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37" b="-953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5029200" cy="1693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Malicious service contained on the Windows Server host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85800" y="9793224"/>
            <a:ext cx="6858000" cy="384048"/>
            <a:chOff x="0" y="0"/>
            <a:chExt cx="9144000" cy="51206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9144000" cy="512064"/>
            </a:xfrm>
            <a:custGeom>
              <a:avLst/>
              <a:gdLst/>
              <a:ahLst/>
              <a:cxnLst/>
              <a:rect l="l" t="t" r="r" b="b"/>
              <a:pathLst>
                <a:path w="9144000" h="512064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28575"/>
              <a:ext cx="91440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spc="149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WAZUH + SHUFFLE SOC LAB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6870680" y="9793224"/>
            <a:ext cx="754380" cy="384048"/>
            <a:chOff x="0" y="0"/>
            <a:chExt cx="1005840" cy="512064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05840" cy="512064"/>
            </a:xfrm>
            <a:custGeom>
              <a:avLst/>
              <a:gdLst/>
              <a:ahLst/>
              <a:cxnLst/>
              <a:rect l="l" t="t" r="r" b="b"/>
              <a:pathLst>
                <a:path w="1005840" h="512064">
                  <a:moveTo>
                    <a:pt x="0" y="0"/>
                  </a:moveTo>
                  <a:lnTo>
                    <a:pt x="1005840" y="0"/>
                  </a:lnTo>
                  <a:lnTo>
                    <a:pt x="10058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r="-153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28575"/>
              <a:ext cx="100584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6275" y="566547"/>
            <a:ext cx="1870710" cy="457962"/>
            <a:chOff x="0" y="0"/>
            <a:chExt cx="2494280" cy="6106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280" cy="610616"/>
            </a:xfrm>
            <a:custGeom>
              <a:avLst/>
              <a:gdLst/>
              <a:ahLst/>
              <a:cxnLst/>
              <a:rect l="l" t="t" r="r" b="b"/>
              <a:pathLst>
                <a:path w="249428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2188972" y="0"/>
                  </a:lnTo>
                  <a:cubicBezTo>
                    <a:pt x="2357628" y="0"/>
                    <a:pt x="2494280" y="136652"/>
                    <a:pt x="2494280" y="305308"/>
                  </a:cubicBezTo>
                  <a:cubicBezTo>
                    <a:pt x="2494280" y="473964"/>
                    <a:pt x="2357628" y="610616"/>
                    <a:pt x="218897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34D399">
                <a:alpha val="1961"/>
              </a:srgbClr>
            </a:solidFill>
            <a:ln w="19050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576072"/>
            <a:ext cx="1851660" cy="438912"/>
            <a:chOff x="0" y="0"/>
            <a:chExt cx="2468880" cy="585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8880" cy="585216"/>
            </a:xfrm>
            <a:custGeom>
              <a:avLst/>
              <a:gdLst/>
              <a:ahLst/>
              <a:cxnLst/>
              <a:rect l="l" t="t" r="r" b="b"/>
              <a:pathLst>
                <a:path w="2468880" h="585216">
                  <a:moveTo>
                    <a:pt x="0" y="0"/>
                  </a:moveTo>
                  <a:lnTo>
                    <a:pt x="2468880" y="0"/>
                  </a:lnTo>
                  <a:lnTo>
                    <a:pt x="2468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02" b="-32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6888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 spc="150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RESPONSE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1069848"/>
            <a:ext cx="15773400" cy="960120"/>
            <a:chOff x="0" y="0"/>
            <a:chExt cx="2103120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Active response — suspicious PowerShell contained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947672"/>
            <a:ext cx="16184880" cy="685800"/>
            <a:chOff x="0" y="0"/>
            <a:chExt cx="2157984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579839" cy="914400"/>
            </a:xfrm>
            <a:custGeom>
              <a:avLst/>
              <a:gdLst/>
              <a:ahLst/>
              <a:cxnLst/>
              <a:rect l="l" t="t" r="r" b="b"/>
              <a:pathLst>
                <a:path w="21579839" h="914400">
                  <a:moveTo>
                    <a:pt x="0" y="0"/>
                  </a:moveTo>
                  <a:lnTo>
                    <a:pt x="21579839" y="0"/>
                  </a:lnTo>
                  <a:lnTo>
                    <a:pt x="215798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846" b="-40984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157984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18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 mohamedmasoud · rule 91837 (suspicious PowerShell string execution) escalates to rule 657 — active-response/bin/netsh blocks the host.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31139" y="2857119"/>
            <a:ext cx="16505682" cy="2076450"/>
            <a:chOff x="0" y="0"/>
            <a:chExt cx="22007576" cy="2768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007576" cy="2768600"/>
            </a:xfrm>
            <a:custGeom>
              <a:avLst/>
              <a:gdLst/>
              <a:ahLst/>
              <a:cxnLst/>
              <a:rect l="l" t="t" r="r" b="b"/>
              <a:pathLst>
                <a:path w="22007576" h="2768600">
                  <a:moveTo>
                    <a:pt x="0" y="166116"/>
                  </a:moveTo>
                  <a:cubicBezTo>
                    <a:pt x="0" y="74422"/>
                    <a:pt x="74422" y="0"/>
                    <a:pt x="166116" y="0"/>
                  </a:cubicBezTo>
                  <a:lnTo>
                    <a:pt x="21841461" y="0"/>
                  </a:lnTo>
                  <a:cubicBezTo>
                    <a:pt x="21933154" y="0"/>
                    <a:pt x="22007576" y="74422"/>
                    <a:pt x="22007576" y="166116"/>
                  </a:cubicBezTo>
                  <a:lnTo>
                    <a:pt x="22007576" y="2602484"/>
                  </a:lnTo>
                  <a:cubicBezTo>
                    <a:pt x="22007576" y="2694178"/>
                    <a:pt x="21933154" y="2768600"/>
                    <a:pt x="21841461" y="2768600"/>
                  </a:cubicBezTo>
                  <a:lnTo>
                    <a:pt x="166116" y="2768600"/>
                  </a:lnTo>
                  <a:cubicBezTo>
                    <a:pt x="74422" y="2768600"/>
                    <a:pt x="0" y="2694178"/>
                    <a:pt x="0" y="2602484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22960" y="2948940"/>
            <a:ext cx="16322040" cy="1892808"/>
            <a:chOff x="0" y="0"/>
            <a:chExt cx="21762720" cy="2523744"/>
          </a:xfrm>
        </p:grpSpPr>
        <p:sp>
          <p:nvSpPr>
            <p:cNvPr id="16" name="Freeform 16" descr="clean_assets/active_response_powershell_netsh.png"/>
            <p:cNvSpPr/>
            <p:nvPr/>
          </p:nvSpPr>
          <p:spPr>
            <a:xfrm>
              <a:off x="0" y="0"/>
              <a:ext cx="21762720" cy="2523744"/>
            </a:xfrm>
            <a:custGeom>
              <a:avLst/>
              <a:gdLst/>
              <a:ahLst/>
              <a:cxnLst/>
              <a:rect l="l" t="t" r="r" b="b"/>
              <a:pathLst>
                <a:path w="21762720" h="2523744">
                  <a:moveTo>
                    <a:pt x="0" y="0"/>
                  </a:moveTo>
                  <a:lnTo>
                    <a:pt x="21762720" y="0"/>
                  </a:lnTo>
                  <a:lnTo>
                    <a:pt x="21762720" y="2523744"/>
                  </a:lnTo>
                  <a:lnTo>
                    <a:pt x="0" y="2523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2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6377" y="2852356"/>
            <a:ext cx="16515207" cy="2085975"/>
            <a:chOff x="0" y="0"/>
            <a:chExt cx="22020276" cy="27813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020276" cy="2781300"/>
            </a:xfrm>
            <a:custGeom>
              <a:avLst/>
              <a:gdLst/>
              <a:ahLst/>
              <a:cxnLst/>
              <a:rect l="l" t="t" r="r" b="b"/>
              <a:pathLst>
                <a:path w="22020276" h="2781300">
                  <a:moveTo>
                    <a:pt x="0" y="166878"/>
                  </a:moveTo>
                  <a:cubicBezTo>
                    <a:pt x="0" y="74676"/>
                    <a:pt x="74676" y="0"/>
                    <a:pt x="166878" y="0"/>
                  </a:cubicBezTo>
                  <a:lnTo>
                    <a:pt x="21853398" y="0"/>
                  </a:lnTo>
                  <a:cubicBezTo>
                    <a:pt x="21945600" y="0"/>
                    <a:pt x="22020276" y="74676"/>
                    <a:pt x="22020276" y="166878"/>
                  </a:cubicBezTo>
                  <a:lnTo>
                    <a:pt x="22020276" y="2614422"/>
                  </a:lnTo>
                  <a:cubicBezTo>
                    <a:pt x="22020276" y="2706624"/>
                    <a:pt x="21945600" y="2781300"/>
                    <a:pt x="21853398" y="2781300"/>
                  </a:cubicBezTo>
                  <a:lnTo>
                    <a:pt x="166878" y="2781300"/>
                  </a:lnTo>
                  <a:cubicBezTo>
                    <a:pt x="74676" y="2781300"/>
                    <a:pt x="0" y="2706624"/>
                    <a:pt x="0" y="261442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268" b="-104268"/>
              </a:stretch>
            </a:blip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2960" y="4978908"/>
            <a:ext cx="16322040" cy="411480"/>
            <a:chOff x="0" y="0"/>
            <a:chExt cx="21762720" cy="548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762720" cy="548640"/>
            </a:xfrm>
            <a:custGeom>
              <a:avLst/>
              <a:gdLst/>
              <a:ahLst/>
              <a:cxnLst/>
              <a:rect l="l" t="t" r="r" b="b"/>
              <a:pathLst>
                <a:path w="21762720" h="54864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2906" b="-7229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217627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Wazuh alert log — netsh active-response fired after repeated PowerShell detections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13435" y="5339715"/>
            <a:ext cx="5299710" cy="2076450"/>
            <a:chOff x="0" y="0"/>
            <a:chExt cx="7066280" cy="2768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066280" cy="2768600"/>
            </a:xfrm>
            <a:custGeom>
              <a:avLst/>
              <a:gdLst/>
              <a:ahLst/>
              <a:cxnLst/>
              <a:rect l="l" t="t" r="r" b="b"/>
              <a:pathLst>
                <a:path w="7066280" h="2768600">
                  <a:moveTo>
                    <a:pt x="0" y="166116"/>
                  </a:moveTo>
                  <a:cubicBezTo>
                    <a:pt x="0" y="74422"/>
                    <a:pt x="74422" y="0"/>
                    <a:pt x="166116" y="0"/>
                  </a:cubicBezTo>
                  <a:lnTo>
                    <a:pt x="6900164" y="0"/>
                  </a:lnTo>
                  <a:cubicBezTo>
                    <a:pt x="6991858" y="0"/>
                    <a:pt x="7066280" y="74422"/>
                    <a:pt x="7066280" y="166116"/>
                  </a:cubicBezTo>
                  <a:lnTo>
                    <a:pt x="7066280" y="2602484"/>
                  </a:lnTo>
                  <a:cubicBezTo>
                    <a:pt x="7066280" y="2694178"/>
                    <a:pt x="6991858" y="2768600"/>
                    <a:pt x="6900164" y="2768600"/>
                  </a:cubicBezTo>
                  <a:lnTo>
                    <a:pt x="166116" y="2768600"/>
                  </a:lnTo>
                  <a:cubicBezTo>
                    <a:pt x="74422" y="2768600"/>
                    <a:pt x="0" y="2694178"/>
                    <a:pt x="0" y="2602484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51573" y="5540692"/>
            <a:ext cx="714375" cy="714375"/>
            <a:chOff x="0" y="0"/>
            <a:chExt cx="952500" cy="9525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cubicBezTo>
                    <a:pt x="739267" y="0"/>
                    <a:pt x="952500" y="213233"/>
                    <a:pt x="952500" y="476250"/>
                  </a:cubicBezTo>
                  <a:cubicBezTo>
                    <a:pt x="952500" y="739267"/>
                    <a:pt x="739267" y="952500"/>
                    <a:pt x="476250" y="952500"/>
                  </a:cubicBezTo>
                  <a:cubicBezTo>
                    <a:pt x="213233" y="952500"/>
                    <a:pt x="0" y="739267"/>
                    <a:pt x="0" y="476250"/>
                  </a:cubicBezTo>
                  <a:close/>
                </a:path>
              </a:pathLst>
            </a:custGeom>
            <a:solidFill>
              <a:srgbClr val="34D399">
                <a:alpha val="1176"/>
              </a:srgbClr>
            </a:solid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65860" y="5554980"/>
            <a:ext cx="685800" cy="685800"/>
            <a:chOff x="0" y="0"/>
            <a:chExt cx="914400" cy="914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057400" y="5527548"/>
            <a:ext cx="3771900" cy="548640"/>
            <a:chOff x="0" y="0"/>
            <a:chExt cx="502920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029200" cy="731520"/>
            </a:xfrm>
            <a:custGeom>
              <a:avLst/>
              <a:gdLst/>
              <a:ahLst/>
              <a:cxnLst/>
              <a:rect l="l" t="t" r="r" b="b"/>
              <a:pathLst>
                <a:path w="5029200" h="731520">
                  <a:moveTo>
                    <a:pt x="0" y="0"/>
                  </a:moveTo>
                  <a:lnTo>
                    <a:pt x="5029200" y="0"/>
                  </a:lnTo>
                  <a:lnTo>
                    <a:pt x="502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959" b="-839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50292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5F7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Suspicious script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057400" y="6035040"/>
            <a:ext cx="3771900" cy="1234440"/>
            <a:chOff x="0" y="0"/>
            <a:chExt cx="5029200" cy="16459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029200" cy="1645920"/>
            </a:xfrm>
            <a:custGeom>
              <a:avLst/>
              <a:gdLst/>
              <a:ahLst/>
              <a:cxnLst/>
              <a:rect l="l" t="t" r="r" b="b"/>
              <a:pathLst>
                <a:path w="5029200" h="1645920">
                  <a:moveTo>
                    <a:pt x="0" y="0"/>
                  </a:moveTo>
                  <a:lnTo>
                    <a:pt x="5029200" y="0"/>
                  </a:lnTo>
                  <a:lnTo>
                    <a:pt x="5029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37" b="-953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5029200" cy="1693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Get-Content -Stream / Invoke-Expression detected — rule 91837, repeated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78143" y="5339715"/>
            <a:ext cx="5299710" cy="2076450"/>
            <a:chOff x="0" y="0"/>
            <a:chExt cx="7066280" cy="27686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066280" cy="2768600"/>
            </a:xfrm>
            <a:custGeom>
              <a:avLst/>
              <a:gdLst/>
              <a:ahLst/>
              <a:cxnLst/>
              <a:rect l="l" t="t" r="r" b="b"/>
              <a:pathLst>
                <a:path w="7066280" h="2768600">
                  <a:moveTo>
                    <a:pt x="0" y="166116"/>
                  </a:moveTo>
                  <a:cubicBezTo>
                    <a:pt x="0" y="74422"/>
                    <a:pt x="74422" y="0"/>
                    <a:pt x="166116" y="0"/>
                  </a:cubicBezTo>
                  <a:lnTo>
                    <a:pt x="6900164" y="0"/>
                  </a:lnTo>
                  <a:cubicBezTo>
                    <a:pt x="6991858" y="0"/>
                    <a:pt x="7066280" y="74422"/>
                    <a:pt x="7066280" y="166116"/>
                  </a:cubicBezTo>
                  <a:lnTo>
                    <a:pt x="7066280" y="2602484"/>
                  </a:lnTo>
                  <a:cubicBezTo>
                    <a:pt x="7066280" y="2694178"/>
                    <a:pt x="6991858" y="2768600"/>
                    <a:pt x="6900164" y="2768600"/>
                  </a:cubicBezTo>
                  <a:lnTo>
                    <a:pt x="166116" y="2768600"/>
                  </a:lnTo>
                  <a:cubicBezTo>
                    <a:pt x="74422" y="2768600"/>
                    <a:pt x="0" y="2694178"/>
                    <a:pt x="0" y="2602484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16280" y="5540692"/>
            <a:ext cx="714375" cy="714375"/>
            <a:chOff x="0" y="0"/>
            <a:chExt cx="952500" cy="9525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cubicBezTo>
                    <a:pt x="739267" y="0"/>
                    <a:pt x="952500" y="213233"/>
                    <a:pt x="952500" y="476250"/>
                  </a:cubicBezTo>
                  <a:cubicBezTo>
                    <a:pt x="952500" y="739267"/>
                    <a:pt x="739267" y="952500"/>
                    <a:pt x="476250" y="952500"/>
                  </a:cubicBezTo>
                  <a:cubicBezTo>
                    <a:pt x="213233" y="952500"/>
                    <a:pt x="0" y="739267"/>
                    <a:pt x="0" y="476250"/>
                  </a:cubicBezTo>
                  <a:close/>
                </a:path>
              </a:pathLst>
            </a:custGeom>
            <a:solidFill>
              <a:srgbClr val="34D399">
                <a:alpha val="1176"/>
              </a:srgbClr>
            </a:solid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830568" y="5554980"/>
            <a:ext cx="685800" cy="685800"/>
            <a:chOff x="0" y="0"/>
            <a:chExt cx="914400" cy="914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722108" y="5527548"/>
            <a:ext cx="3771900" cy="548640"/>
            <a:chOff x="0" y="0"/>
            <a:chExt cx="5029200" cy="73152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029200" cy="731520"/>
            </a:xfrm>
            <a:custGeom>
              <a:avLst/>
              <a:gdLst/>
              <a:ahLst/>
              <a:cxnLst/>
              <a:rect l="l" t="t" r="r" b="b"/>
              <a:pathLst>
                <a:path w="5029200" h="731520">
                  <a:moveTo>
                    <a:pt x="0" y="0"/>
                  </a:moveTo>
                  <a:lnTo>
                    <a:pt x="5029200" y="0"/>
                  </a:lnTo>
                  <a:lnTo>
                    <a:pt x="502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959" b="-839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50292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5F7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 triggers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722108" y="6035040"/>
            <a:ext cx="3771900" cy="1234440"/>
            <a:chOff x="0" y="0"/>
            <a:chExt cx="5029200" cy="16459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029200" cy="1645920"/>
            </a:xfrm>
            <a:custGeom>
              <a:avLst/>
              <a:gdLst/>
              <a:ahLst/>
              <a:cxnLst/>
              <a:rect l="l" t="t" r="r" b="b"/>
              <a:pathLst>
                <a:path w="5029200" h="1645920">
                  <a:moveTo>
                    <a:pt x="0" y="0"/>
                  </a:moveTo>
                  <a:lnTo>
                    <a:pt x="5029200" y="0"/>
                  </a:lnTo>
                  <a:lnTo>
                    <a:pt x="5029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37" b="-953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5029200" cy="1693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active-response/bin/netsh runs — rule 657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142851" y="5339715"/>
            <a:ext cx="5299710" cy="2076450"/>
            <a:chOff x="0" y="0"/>
            <a:chExt cx="7066280" cy="27686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066280" cy="2768600"/>
            </a:xfrm>
            <a:custGeom>
              <a:avLst/>
              <a:gdLst/>
              <a:ahLst/>
              <a:cxnLst/>
              <a:rect l="l" t="t" r="r" b="b"/>
              <a:pathLst>
                <a:path w="7066280" h="2768600">
                  <a:moveTo>
                    <a:pt x="0" y="166116"/>
                  </a:moveTo>
                  <a:cubicBezTo>
                    <a:pt x="0" y="74422"/>
                    <a:pt x="74422" y="0"/>
                    <a:pt x="166116" y="0"/>
                  </a:cubicBezTo>
                  <a:lnTo>
                    <a:pt x="6900164" y="0"/>
                  </a:lnTo>
                  <a:cubicBezTo>
                    <a:pt x="6991858" y="0"/>
                    <a:pt x="7066280" y="74422"/>
                    <a:pt x="7066280" y="166116"/>
                  </a:cubicBezTo>
                  <a:lnTo>
                    <a:pt x="7066280" y="2602484"/>
                  </a:lnTo>
                  <a:cubicBezTo>
                    <a:pt x="7066280" y="2694178"/>
                    <a:pt x="6991858" y="2768600"/>
                    <a:pt x="6900164" y="2768600"/>
                  </a:cubicBezTo>
                  <a:lnTo>
                    <a:pt x="166116" y="2768600"/>
                  </a:lnTo>
                  <a:cubicBezTo>
                    <a:pt x="74422" y="2768600"/>
                    <a:pt x="0" y="2694178"/>
                    <a:pt x="0" y="2602484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480988" y="5540692"/>
            <a:ext cx="714375" cy="714375"/>
            <a:chOff x="0" y="0"/>
            <a:chExt cx="952500" cy="9525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cubicBezTo>
                    <a:pt x="739267" y="0"/>
                    <a:pt x="952500" y="213233"/>
                    <a:pt x="952500" y="476250"/>
                  </a:cubicBezTo>
                  <a:cubicBezTo>
                    <a:pt x="952500" y="739267"/>
                    <a:pt x="739267" y="952500"/>
                    <a:pt x="476250" y="952500"/>
                  </a:cubicBezTo>
                  <a:cubicBezTo>
                    <a:pt x="213233" y="952500"/>
                    <a:pt x="0" y="739267"/>
                    <a:pt x="0" y="476250"/>
                  </a:cubicBezTo>
                  <a:close/>
                </a:path>
              </a:pathLst>
            </a:custGeom>
            <a:solidFill>
              <a:srgbClr val="34D399">
                <a:alpha val="1176"/>
              </a:srgbClr>
            </a:solid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495276" y="5554980"/>
            <a:ext cx="685800" cy="685800"/>
            <a:chOff x="0" y="0"/>
            <a:chExt cx="914400" cy="9144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386816" y="5527548"/>
            <a:ext cx="3771900" cy="548640"/>
            <a:chOff x="0" y="0"/>
            <a:chExt cx="5029200" cy="73152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029200" cy="731520"/>
            </a:xfrm>
            <a:custGeom>
              <a:avLst/>
              <a:gdLst/>
              <a:ahLst/>
              <a:cxnLst/>
              <a:rect l="l" t="t" r="r" b="b"/>
              <a:pathLst>
                <a:path w="5029200" h="731520">
                  <a:moveTo>
                    <a:pt x="0" y="0"/>
                  </a:moveTo>
                  <a:lnTo>
                    <a:pt x="5029200" y="0"/>
                  </a:lnTo>
                  <a:lnTo>
                    <a:pt x="502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959" b="-839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47625"/>
              <a:ext cx="50292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5F7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Host blocked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386816" y="6035040"/>
            <a:ext cx="3771900" cy="1234440"/>
            <a:chOff x="0" y="0"/>
            <a:chExt cx="5029200" cy="164592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029200" cy="1645920"/>
            </a:xfrm>
            <a:custGeom>
              <a:avLst/>
              <a:gdLst/>
              <a:ahLst/>
              <a:cxnLst/>
              <a:rect l="l" t="t" r="r" b="b"/>
              <a:pathLst>
                <a:path w="5029200" h="1645920">
                  <a:moveTo>
                    <a:pt x="0" y="0"/>
                  </a:moveTo>
                  <a:lnTo>
                    <a:pt x="5029200" y="0"/>
                  </a:lnTo>
                  <a:lnTo>
                    <a:pt x="5029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37" b="-953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5029200" cy="1693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Network access contained on the affected endpoint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85800" y="9793224"/>
            <a:ext cx="6858000" cy="384048"/>
            <a:chOff x="0" y="0"/>
            <a:chExt cx="9144000" cy="512064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9144000" cy="512064"/>
            </a:xfrm>
            <a:custGeom>
              <a:avLst/>
              <a:gdLst/>
              <a:ahLst/>
              <a:cxnLst/>
              <a:rect l="l" t="t" r="r" b="b"/>
              <a:pathLst>
                <a:path w="9144000" h="512064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28575"/>
              <a:ext cx="91440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spc="149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WAZUH + SHUFFLE SOC LAB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6870680" y="9793224"/>
            <a:ext cx="754380" cy="384048"/>
            <a:chOff x="0" y="0"/>
            <a:chExt cx="1005840" cy="512064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005840" cy="512064"/>
            </a:xfrm>
            <a:custGeom>
              <a:avLst/>
              <a:gdLst/>
              <a:ahLst/>
              <a:cxnLst/>
              <a:rect l="l" t="t" r="r" b="b"/>
              <a:pathLst>
                <a:path w="1005840" h="512064">
                  <a:moveTo>
                    <a:pt x="0" y="0"/>
                  </a:moveTo>
                  <a:lnTo>
                    <a:pt x="1005840" y="0"/>
                  </a:lnTo>
                  <a:lnTo>
                    <a:pt x="10058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r="-153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28575"/>
              <a:ext cx="100584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6275" y="566547"/>
            <a:ext cx="1870710" cy="457962"/>
            <a:chOff x="0" y="0"/>
            <a:chExt cx="2494280" cy="6106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280" cy="610616"/>
            </a:xfrm>
            <a:custGeom>
              <a:avLst/>
              <a:gdLst/>
              <a:ahLst/>
              <a:cxnLst/>
              <a:rect l="l" t="t" r="r" b="b"/>
              <a:pathLst>
                <a:path w="249428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2188972" y="0"/>
                  </a:lnTo>
                  <a:cubicBezTo>
                    <a:pt x="2357628" y="0"/>
                    <a:pt x="2494280" y="136652"/>
                    <a:pt x="2494280" y="305308"/>
                  </a:cubicBezTo>
                  <a:cubicBezTo>
                    <a:pt x="2494280" y="473964"/>
                    <a:pt x="2357628" y="610616"/>
                    <a:pt x="218897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34D399">
                <a:alpha val="1961"/>
              </a:srgbClr>
            </a:solidFill>
            <a:ln w="19050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576072"/>
            <a:ext cx="1851660" cy="438912"/>
            <a:chOff x="0" y="0"/>
            <a:chExt cx="2468880" cy="585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8880" cy="585216"/>
            </a:xfrm>
            <a:custGeom>
              <a:avLst/>
              <a:gdLst/>
              <a:ahLst/>
              <a:cxnLst/>
              <a:rect l="l" t="t" r="r" b="b"/>
              <a:pathLst>
                <a:path w="2468880" h="585216">
                  <a:moveTo>
                    <a:pt x="0" y="0"/>
                  </a:moveTo>
                  <a:lnTo>
                    <a:pt x="2468880" y="0"/>
                  </a:lnTo>
                  <a:lnTo>
                    <a:pt x="2468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02" b="-32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6888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 spc="150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RESPONSE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1069848"/>
            <a:ext cx="15773400" cy="960120"/>
            <a:chOff x="0" y="0"/>
            <a:chExt cx="2103120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Active response — SSH brute force blocked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947672"/>
            <a:ext cx="16184880" cy="548640"/>
            <a:chOff x="0" y="0"/>
            <a:chExt cx="2157984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579839" cy="731520"/>
            </a:xfrm>
            <a:custGeom>
              <a:avLst/>
              <a:gdLst/>
              <a:ahLst/>
              <a:cxnLst/>
              <a:rect l="l" t="t" r="r" b="b"/>
              <a:pathLst>
                <a:path w="21579839" h="731520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4808" b="-52480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57984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 karim · rule 5763 (brute force) escalates to rule 651 — host blocked automatically by firewall-drop.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31139" y="2719959"/>
            <a:ext cx="16505682" cy="3544062"/>
            <a:chOff x="0" y="0"/>
            <a:chExt cx="22007576" cy="472541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007576" cy="4725416"/>
            </a:xfrm>
            <a:custGeom>
              <a:avLst/>
              <a:gdLst/>
              <a:ahLst/>
              <a:cxnLst/>
              <a:rect l="l" t="t" r="r" b="b"/>
              <a:pathLst>
                <a:path w="22007576" h="4725416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21842095" y="0"/>
                  </a:lnTo>
                  <a:cubicBezTo>
                    <a:pt x="21933534" y="0"/>
                    <a:pt x="22007576" y="74041"/>
                    <a:pt x="22007576" y="165481"/>
                  </a:cubicBezTo>
                  <a:lnTo>
                    <a:pt x="22007576" y="4559935"/>
                  </a:lnTo>
                  <a:cubicBezTo>
                    <a:pt x="22007576" y="4651375"/>
                    <a:pt x="21933534" y="4725416"/>
                    <a:pt x="21842095" y="4725416"/>
                  </a:cubicBezTo>
                  <a:lnTo>
                    <a:pt x="165481" y="4725416"/>
                  </a:lnTo>
                  <a:cubicBezTo>
                    <a:pt x="74041" y="4725416"/>
                    <a:pt x="0" y="4651375"/>
                    <a:pt x="0" y="4559935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22960" y="2811780"/>
            <a:ext cx="16322040" cy="3360420"/>
            <a:chOff x="0" y="0"/>
            <a:chExt cx="21762720" cy="4480560"/>
          </a:xfrm>
        </p:grpSpPr>
        <p:sp>
          <p:nvSpPr>
            <p:cNvPr id="16" name="Freeform 16" descr="clean_assets/active_response_in_wazuh_karim_macjine.png"/>
            <p:cNvSpPr/>
            <p:nvPr/>
          </p:nvSpPr>
          <p:spPr>
            <a:xfrm>
              <a:off x="0" y="0"/>
              <a:ext cx="21762720" cy="4480560"/>
            </a:xfrm>
            <a:custGeom>
              <a:avLst/>
              <a:gdLst/>
              <a:ahLst/>
              <a:cxnLst/>
              <a:rect l="l" t="t" r="r" b="b"/>
              <a:pathLst>
                <a:path w="21762720" h="4480560">
                  <a:moveTo>
                    <a:pt x="0" y="0"/>
                  </a:moveTo>
                  <a:lnTo>
                    <a:pt x="21762720" y="0"/>
                  </a:lnTo>
                  <a:lnTo>
                    <a:pt x="21762720" y="4480560"/>
                  </a:lnTo>
                  <a:lnTo>
                    <a:pt x="0" y="448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495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6377" y="2715196"/>
            <a:ext cx="16515207" cy="3553587"/>
            <a:chOff x="0" y="0"/>
            <a:chExt cx="22020276" cy="473811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020276" cy="4738116"/>
            </a:xfrm>
            <a:custGeom>
              <a:avLst/>
              <a:gdLst/>
              <a:ahLst/>
              <a:cxnLst/>
              <a:rect l="l" t="t" r="r" b="b"/>
              <a:pathLst>
                <a:path w="22020276" h="4738116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21854288" y="0"/>
                  </a:lnTo>
                  <a:cubicBezTo>
                    <a:pt x="21945981" y="0"/>
                    <a:pt x="22020276" y="74295"/>
                    <a:pt x="22020276" y="165989"/>
                  </a:cubicBezTo>
                  <a:lnTo>
                    <a:pt x="22020276" y="4572127"/>
                  </a:lnTo>
                  <a:cubicBezTo>
                    <a:pt x="22020276" y="4663821"/>
                    <a:pt x="21945981" y="4738116"/>
                    <a:pt x="21854288" y="4738116"/>
                  </a:cubicBezTo>
                  <a:lnTo>
                    <a:pt x="165989" y="4738116"/>
                  </a:lnTo>
                  <a:cubicBezTo>
                    <a:pt x="74295" y="4738116"/>
                    <a:pt x="0" y="4663821"/>
                    <a:pt x="0" y="4572127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556" b="-40556"/>
              </a:stretch>
            </a:blip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2960" y="6309360"/>
            <a:ext cx="16322040" cy="411480"/>
            <a:chOff x="0" y="0"/>
            <a:chExt cx="21762720" cy="548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762720" cy="548640"/>
            </a:xfrm>
            <a:custGeom>
              <a:avLst/>
              <a:gdLst/>
              <a:ahLst/>
              <a:cxnLst/>
              <a:rect l="l" t="t" r="r" b="b"/>
              <a:pathLst>
                <a:path w="21762720" h="54864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2906" b="-7229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217627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i="1">
                  <a:solidFill>
                    <a:srgbClr val="8A97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Wazuh alert log — active response fired against the source IP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13435" y="6505575"/>
            <a:ext cx="5299710" cy="1870710"/>
            <a:chOff x="0" y="0"/>
            <a:chExt cx="7066280" cy="24942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066280" cy="2494280"/>
            </a:xfrm>
            <a:custGeom>
              <a:avLst/>
              <a:gdLst/>
              <a:ahLst/>
              <a:cxnLst/>
              <a:rect l="l" t="t" r="r" b="b"/>
              <a:pathLst>
                <a:path w="7066280" h="2494280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6900037" y="0"/>
                  </a:lnTo>
                  <a:cubicBezTo>
                    <a:pt x="6991858" y="0"/>
                    <a:pt x="7066280" y="74422"/>
                    <a:pt x="7066280" y="166243"/>
                  </a:cubicBezTo>
                  <a:lnTo>
                    <a:pt x="7066280" y="2328037"/>
                  </a:lnTo>
                  <a:cubicBezTo>
                    <a:pt x="7066280" y="2419858"/>
                    <a:pt x="6991858" y="2494280"/>
                    <a:pt x="6900037" y="2494280"/>
                  </a:cubicBezTo>
                  <a:lnTo>
                    <a:pt x="166243" y="2494280"/>
                  </a:lnTo>
                  <a:cubicBezTo>
                    <a:pt x="74422" y="2494280"/>
                    <a:pt x="0" y="2419858"/>
                    <a:pt x="0" y="2328037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51573" y="6637972"/>
            <a:ext cx="714375" cy="714375"/>
            <a:chOff x="0" y="0"/>
            <a:chExt cx="952500" cy="9525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cubicBezTo>
                    <a:pt x="739267" y="0"/>
                    <a:pt x="952500" y="213233"/>
                    <a:pt x="952500" y="476250"/>
                  </a:cubicBezTo>
                  <a:cubicBezTo>
                    <a:pt x="952500" y="739267"/>
                    <a:pt x="739267" y="952500"/>
                    <a:pt x="476250" y="952500"/>
                  </a:cubicBezTo>
                  <a:cubicBezTo>
                    <a:pt x="213233" y="952500"/>
                    <a:pt x="0" y="739267"/>
                    <a:pt x="0" y="476250"/>
                  </a:cubicBezTo>
                  <a:close/>
                </a:path>
              </a:pathLst>
            </a:custGeom>
            <a:solidFill>
              <a:srgbClr val="34D399">
                <a:alpha val="1176"/>
              </a:srgbClr>
            </a:solid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65860" y="6652260"/>
            <a:ext cx="685800" cy="685800"/>
            <a:chOff x="0" y="0"/>
            <a:chExt cx="914400" cy="914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057400" y="6693408"/>
            <a:ext cx="3771900" cy="411480"/>
            <a:chOff x="0" y="0"/>
            <a:chExt cx="5029200" cy="5486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029200" cy="548640"/>
            </a:xfrm>
            <a:custGeom>
              <a:avLst/>
              <a:gdLst/>
              <a:ahLst/>
              <a:cxnLst/>
              <a:rect l="l" t="t" r="r" b="b"/>
              <a:pathLst>
                <a:path w="5029200" h="548640">
                  <a:moveTo>
                    <a:pt x="0" y="0"/>
                  </a:moveTo>
                  <a:lnTo>
                    <a:pt x="5029200" y="0"/>
                  </a:lnTo>
                  <a:lnTo>
                    <a:pt x="502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612" b="-1286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502920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5F7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Rule fires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057400" y="7132320"/>
            <a:ext cx="3771900" cy="1028700"/>
            <a:chOff x="0" y="0"/>
            <a:chExt cx="5029200" cy="1371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029200" cy="1371600"/>
            </a:xfrm>
            <a:custGeom>
              <a:avLst/>
              <a:gdLst/>
              <a:ahLst/>
              <a:cxnLst/>
              <a:rect l="l" t="t" r="r" b="b"/>
              <a:pathLst>
                <a:path w="5029200" h="1371600">
                  <a:moveTo>
                    <a:pt x="0" y="0"/>
                  </a:moveTo>
                  <a:lnTo>
                    <a:pt x="5029200" y="0"/>
                  </a:lnTo>
                  <a:lnTo>
                    <a:pt x="5029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445" b="-214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5029200" cy="141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SSH brute force detected — high severity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78143" y="6505575"/>
            <a:ext cx="5299710" cy="1870710"/>
            <a:chOff x="0" y="0"/>
            <a:chExt cx="7066280" cy="24942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066280" cy="2494280"/>
            </a:xfrm>
            <a:custGeom>
              <a:avLst/>
              <a:gdLst/>
              <a:ahLst/>
              <a:cxnLst/>
              <a:rect l="l" t="t" r="r" b="b"/>
              <a:pathLst>
                <a:path w="7066280" h="2494280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6900037" y="0"/>
                  </a:lnTo>
                  <a:cubicBezTo>
                    <a:pt x="6991858" y="0"/>
                    <a:pt x="7066280" y="74422"/>
                    <a:pt x="7066280" y="166243"/>
                  </a:cubicBezTo>
                  <a:lnTo>
                    <a:pt x="7066280" y="2328037"/>
                  </a:lnTo>
                  <a:cubicBezTo>
                    <a:pt x="7066280" y="2419858"/>
                    <a:pt x="6991858" y="2494280"/>
                    <a:pt x="6900037" y="2494280"/>
                  </a:cubicBezTo>
                  <a:lnTo>
                    <a:pt x="166243" y="2494280"/>
                  </a:lnTo>
                  <a:cubicBezTo>
                    <a:pt x="74422" y="2494280"/>
                    <a:pt x="0" y="2419858"/>
                    <a:pt x="0" y="2328037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16280" y="6637972"/>
            <a:ext cx="714375" cy="714375"/>
            <a:chOff x="0" y="0"/>
            <a:chExt cx="952500" cy="9525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cubicBezTo>
                    <a:pt x="739267" y="0"/>
                    <a:pt x="952500" y="213233"/>
                    <a:pt x="952500" y="476250"/>
                  </a:cubicBezTo>
                  <a:cubicBezTo>
                    <a:pt x="952500" y="739267"/>
                    <a:pt x="739267" y="952500"/>
                    <a:pt x="476250" y="952500"/>
                  </a:cubicBezTo>
                  <a:cubicBezTo>
                    <a:pt x="213233" y="952500"/>
                    <a:pt x="0" y="739267"/>
                    <a:pt x="0" y="476250"/>
                  </a:cubicBezTo>
                  <a:close/>
                </a:path>
              </a:pathLst>
            </a:custGeom>
            <a:solidFill>
              <a:srgbClr val="34D399">
                <a:alpha val="1176"/>
              </a:srgbClr>
            </a:solid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830568" y="6652260"/>
            <a:ext cx="685800" cy="685800"/>
            <a:chOff x="0" y="0"/>
            <a:chExt cx="914400" cy="914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722108" y="6693408"/>
            <a:ext cx="3771900" cy="411480"/>
            <a:chOff x="0" y="0"/>
            <a:chExt cx="5029200" cy="5486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029200" cy="548640"/>
            </a:xfrm>
            <a:custGeom>
              <a:avLst/>
              <a:gdLst/>
              <a:ahLst/>
              <a:cxnLst/>
              <a:rect l="l" t="t" r="r" b="b"/>
              <a:pathLst>
                <a:path w="5029200" h="548640">
                  <a:moveTo>
                    <a:pt x="0" y="0"/>
                  </a:moveTo>
                  <a:lnTo>
                    <a:pt x="5029200" y="0"/>
                  </a:lnTo>
                  <a:lnTo>
                    <a:pt x="502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612" b="-1286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502920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5F7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 triggers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722108" y="7132320"/>
            <a:ext cx="3771900" cy="1028700"/>
            <a:chOff x="0" y="0"/>
            <a:chExt cx="5029200" cy="13716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029200" cy="1371600"/>
            </a:xfrm>
            <a:custGeom>
              <a:avLst/>
              <a:gdLst/>
              <a:ahLst/>
              <a:cxnLst/>
              <a:rect l="l" t="t" r="r" b="b"/>
              <a:pathLst>
                <a:path w="5029200" h="1371600">
                  <a:moveTo>
                    <a:pt x="0" y="0"/>
                  </a:moveTo>
                  <a:lnTo>
                    <a:pt x="5029200" y="0"/>
                  </a:lnTo>
                  <a:lnTo>
                    <a:pt x="5029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445" b="-214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5029200" cy="141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firewall-drop active-response command runs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142851" y="6505575"/>
            <a:ext cx="5299710" cy="1870710"/>
            <a:chOff x="0" y="0"/>
            <a:chExt cx="7066280" cy="249428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066280" cy="2494280"/>
            </a:xfrm>
            <a:custGeom>
              <a:avLst/>
              <a:gdLst/>
              <a:ahLst/>
              <a:cxnLst/>
              <a:rect l="l" t="t" r="r" b="b"/>
              <a:pathLst>
                <a:path w="7066280" h="2494280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6900037" y="0"/>
                  </a:lnTo>
                  <a:cubicBezTo>
                    <a:pt x="6991858" y="0"/>
                    <a:pt x="7066280" y="74422"/>
                    <a:pt x="7066280" y="166243"/>
                  </a:cubicBezTo>
                  <a:lnTo>
                    <a:pt x="7066280" y="2328037"/>
                  </a:lnTo>
                  <a:cubicBezTo>
                    <a:pt x="7066280" y="2419858"/>
                    <a:pt x="6991858" y="2494280"/>
                    <a:pt x="6900037" y="2494280"/>
                  </a:cubicBezTo>
                  <a:lnTo>
                    <a:pt x="166243" y="2494280"/>
                  </a:lnTo>
                  <a:cubicBezTo>
                    <a:pt x="74422" y="2494280"/>
                    <a:pt x="0" y="2419858"/>
                    <a:pt x="0" y="2328037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480988" y="6637972"/>
            <a:ext cx="714375" cy="714375"/>
            <a:chOff x="0" y="0"/>
            <a:chExt cx="952500" cy="9525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476250"/>
                  </a:moveTo>
                  <a:cubicBezTo>
                    <a:pt x="0" y="213233"/>
                    <a:pt x="213233" y="0"/>
                    <a:pt x="476250" y="0"/>
                  </a:cubicBezTo>
                  <a:cubicBezTo>
                    <a:pt x="739267" y="0"/>
                    <a:pt x="952500" y="213233"/>
                    <a:pt x="952500" y="476250"/>
                  </a:cubicBezTo>
                  <a:cubicBezTo>
                    <a:pt x="952500" y="739267"/>
                    <a:pt x="739267" y="952500"/>
                    <a:pt x="476250" y="952500"/>
                  </a:cubicBezTo>
                  <a:cubicBezTo>
                    <a:pt x="213233" y="952500"/>
                    <a:pt x="0" y="739267"/>
                    <a:pt x="0" y="476250"/>
                  </a:cubicBezTo>
                  <a:close/>
                </a:path>
              </a:pathLst>
            </a:custGeom>
            <a:solidFill>
              <a:srgbClr val="34D399">
                <a:alpha val="1176"/>
              </a:srgbClr>
            </a:solid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495276" y="6652260"/>
            <a:ext cx="685800" cy="685800"/>
            <a:chOff x="0" y="0"/>
            <a:chExt cx="914400" cy="9144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3386816" y="6693408"/>
            <a:ext cx="3771900" cy="411480"/>
            <a:chOff x="0" y="0"/>
            <a:chExt cx="5029200" cy="54864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029200" cy="548640"/>
            </a:xfrm>
            <a:custGeom>
              <a:avLst/>
              <a:gdLst/>
              <a:ahLst/>
              <a:cxnLst/>
              <a:rect l="l" t="t" r="r" b="b"/>
              <a:pathLst>
                <a:path w="5029200" h="548640">
                  <a:moveTo>
                    <a:pt x="0" y="0"/>
                  </a:moveTo>
                  <a:lnTo>
                    <a:pt x="5029200" y="0"/>
                  </a:lnTo>
                  <a:lnTo>
                    <a:pt x="5029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612" b="-1286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47625"/>
              <a:ext cx="5029200" cy="5962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5F7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IP blocked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386816" y="7132320"/>
            <a:ext cx="3771900" cy="1028700"/>
            <a:chOff x="0" y="0"/>
            <a:chExt cx="5029200" cy="13716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029200" cy="1371600"/>
            </a:xfrm>
            <a:custGeom>
              <a:avLst/>
              <a:gdLst/>
              <a:ahLst/>
              <a:cxnLst/>
              <a:rect l="l" t="t" r="r" b="b"/>
              <a:pathLst>
                <a:path w="5029200" h="1371600">
                  <a:moveTo>
                    <a:pt x="0" y="0"/>
                  </a:moveTo>
                  <a:lnTo>
                    <a:pt x="5029200" y="0"/>
                  </a:lnTo>
                  <a:lnTo>
                    <a:pt x="5029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445" b="-2144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5029200" cy="141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50"/>
                </a:lnSpc>
              </a:pPr>
              <a:r>
                <a:rPr lang="en-US" sz="1500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Attacker IP dropped on the victim host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13435" y="8631555"/>
            <a:ext cx="16615410" cy="910590"/>
            <a:chOff x="0" y="0"/>
            <a:chExt cx="22153880" cy="121412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2153880" cy="1214120"/>
            </a:xfrm>
            <a:custGeom>
              <a:avLst/>
              <a:gdLst/>
              <a:ahLst/>
              <a:cxnLst/>
              <a:rect l="l" t="t" r="r" b="b"/>
              <a:pathLst>
                <a:path w="22153880" h="1214120">
                  <a:moveTo>
                    <a:pt x="0" y="149479"/>
                  </a:moveTo>
                  <a:cubicBezTo>
                    <a:pt x="0" y="66929"/>
                    <a:pt x="66929" y="0"/>
                    <a:pt x="149479" y="0"/>
                  </a:cubicBezTo>
                  <a:lnTo>
                    <a:pt x="22004401" y="0"/>
                  </a:lnTo>
                  <a:cubicBezTo>
                    <a:pt x="22086951" y="0"/>
                    <a:pt x="22153880" y="66929"/>
                    <a:pt x="22153880" y="149479"/>
                  </a:cubicBezTo>
                  <a:lnTo>
                    <a:pt x="22153880" y="1064641"/>
                  </a:lnTo>
                  <a:cubicBezTo>
                    <a:pt x="22153880" y="1147191"/>
                    <a:pt x="22086951" y="1214120"/>
                    <a:pt x="22004401" y="1214120"/>
                  </a:cubicBezTo>
                  <a:lnTo>
                    <a:pt x="149479" y="1214120"/>
                  </a:lnTo>
                  <a:cubicBezTo>
                    <a:pt x="66929" y="1214120"/>
                    <a:pt x="0" y="1147191"/>
                    <a:pt x="0" y="1064641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165860" y="8641080"/>
            <a:ext cx="15910560" cy="891540"/>
            <a:chOff x="0" y="0"/>
            <a:chExt cx="21214080" cy="118872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1214080" cy="1188720"/>
            </a:xfrm>
            <a:custGeom>
              <a:avLst/>
              <a:gdLst/>
              <a:ahLst/>
              <a:cxnLst/>
              <a:rect l="l" t="t" r="r" b="b"/>
              <a:pathLst>
                <a:path w="21214080" h="1188720">
                  <a:moveTo>
                    <a:pt x="0" y="0"/>
                  </a:moveTo>
                  <a:lnTo>
                    <a:pt x="21214080" y="0"/>
                  </a:lnTo>
                  <a:lnTo>
                    <a:pt x="2121408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732" b="-29773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57150"/>
              <a:ext cx="21214080" cy="12458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725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three attack paths now have a proven detection-to-containment loop: C2 → netsh, PowerShell → netsh, SSH → firewall-drop.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85800" y="9793224"/>
            <a:ext cx="6858000" cy="384048"/>
            <a:chOff x="0" y="0"/>
            <a:chExt cx="9144000" cy="51206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144000" cy="512064"/>
            </a:xfrm>
            <a:custGeom>
              <a:avLst/>
              <a:gdLst/>
              <a:ahLst/>
              <a:cxnLst/>
              <a:rect l="l" t="t" r="r" b="b"/>
              <a:pathLst>
                <a:path w="9144000" h="512064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28575"/>
              <a:ext cx="91440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spc="149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WAZUH + SHUFFLE SOC LAB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6870680" y="9793224"/>
            <a:ext cx="754380" cy="384048"/>
            <a:chOff x="0" y="0"/>
            <a:chExt cx="1005840" cy="512064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005840" cy="512064"/>
            </a:xfrm>
            <a:custGeom>
              <a:avLst/>
              <a:gdLst/>
              <a:ahLst/>
              <a:cxnLst/>
              <a:rect l="l" t="t" r="r" b="b"/>
              <a:pathLst>
                <a:path w="1005840" h="512064">
                  <a:moveTo>
                    <a:pt x="0" y="0"/>
                  </a:moveTo>
                  <a:lnTo>
                    <a:pt x="1005840" y="0"/>
                  </a:lnTo>
                  <a:lnTo>
                    <a:pt x="10058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r="-153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28575"/>
              <a:ext cx="100584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6275" y="566547"/>
            <a:ext cx="1870710" cy="457962"/>
            <a:chOff x="0" y="0"/>
            <a:chExt cx="2494280" cy="6106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4280" cy="610616"/>
            </a:xfrm>
            <a:custGeom>
              <a:avLst/>
              <a:gdLst/>
              <a:ahLst/>
              <a:cxnLst/>
              <a:rect l="l" t="t" r="r" b="b"/>
              <a:pathLst>
                <a:path w="2494280" h="610616">
                  <a:moveTo>
                    <a:pt x="0" y="305308"/>
                  </a:moveTo>
                  <a:cubicBezTo>
                    <a:pt x="0" y="136652"/>
                    <a:pt x="136652" y="0"/>
                    <a:pt x="305308" y="0"/>
                  </a:cubicBezTo>
                  <a:lnTo>
                    <a:pt x="2188972" y="0"/>
                  </a:lnTo>
                  <a:cubicBezTo>
                    <a:pt x="2357628" y="0"/>
                    <a:pt x="2494280" y="136652"/>
                    <a:pt x="2494280" y="305308"/>
                  </a:cubicBezTo>
                  <a:cubicBezTo>
                    <a:pt x="2494280" y="473964"/>
                    <a:pt x="2357628" y="610616"/>
                    <a:pt x="2188972" y="610616"/>
                  </a:cubicBezTo>
                  <a:lnTo>
                    <a:pt x="305308" y="610616"/>
                  </a:lnTo>
                  <a:cubicBezTo>
                    <a:pt x="136652" y="610616"/>
                    <a:pt x="0" y="473964"/>
                    <a:pt x="0" y="305308"/>
                  </a:cubicBezTo>
                  <a:close/>
                </a:path>
              </a:pathLst>
            </a:custGeom>
            <a:solidFill>
              <a:srgbClr val="22D3EE">
                <a:alpha val="1961"/>
              </a:srgbClr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800" y="576072"/>
            <a:ext cx="1851660" cy="438912"/>
            <a:chOff x="0" y="0"/>
            <a:chExt cx="2468880" cy="58521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68880" cy="585216"/>
            </a:xfrm>
            <a:custGeom>
              <a:avLst/>
              <a:gdLst/>
              <a:ahLst/>
              <a:cxnLst/>
              <a:rect l="l" t="t" r="r" b="b"/>
              <a:pathLst>
                <a:path w="2468880" h="585216">
                  <a:moveTo>
                    <a:pt x="0" y="0"/>
                  </a:moveTo>
                  <a:lnTo>
                    <a:pt x="2468880" y="0"/>
                  </a:lnTo>
                  <a:lnTo>
                    <a:pt x="2468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02" b="-322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6888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en-US" sz="1500" b="1" spc="150">
                  <a:solidFill>
                    <a:srgbClr val="22D3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SUMMARY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1069848"/>
            <a:ext cx="15773400" cy="960120"/>
            <a:chOff x="0" y="0"/>
            <a:chExt cx="21031200" cy="1280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11" b="-27011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the lab delivers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3435" y="2665095"/>
            <a:ext cx="8042910" cy="1322070"/>
            <a:chOff x="0" y="0"/>
            <a:chExt cx="10723880" cy="17627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23880" cy="1762760"/>
            </a:xfrm>
            <a:custGeom>
              <a:avLst/>
              <a:gdLst/>
              <a:ahLst/>
              <a:cxnLst/>
              <a:rect l="l" t="t" r="r" b="b"/>
              <a:pathLst>
                <a:path w="10723880" h="176276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0575417" y="0"/>
                  </a:lnTo>
                  <a:cubicBezTo>
                    <a:pt x="10657460" y="0"/>
                    <a:pt x="10723880" y="66421"/>
                    <a:pt x="10723880" y="148463"/>
                  </a:cubicBezTo>
                  <a:lnTo>
                    <a:pt x="10723880" y="1614297"/>
                  </a:lnTo>
                  <a:cubicBezTo>
                    <a:pt x="10723880" y="1696339"/>
                    <a:pt x="10657460" y="1762760"/>
                    <a:pt x="105754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06436" y="3023806"/>
            <a:ext cx="604647" cy="604647"/>
            <a:chOff x="0" y="0"/>
            <a:chExt cx="806196" cy="80619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06196" cy="806196"/>
            </a:xfrm>
            <a:custGeom>
              <a:avLst/>
              <a:gdLst/>
              <a:ahLst/>
              <a:cxnLst/>
              <a:rect l="l" t="t" r="r" b="b"/>
              <a:pathLst>
                <a:path w="806196" h="806196">
                  <a:moveTo>
                    <a:pt x="0" y="403098"/>
                  </a:moveTo>
                  <a:cubicBezTo>
                    <a:pt x="0" y="180467"/>
                    <a:pt x="180467" y="0"/>
                    <a:pt x="403098" y="0"/>
                  </a:cubicBezTo>
                  <a:cubicBezTo>
                    <a:pt x="625729" y="0"/>
                    <a:pt x="806196" y="180467"/>
                    <a:pt x="806196" y="403098"/>
                  </a:cubicBezTo>
                  <a:cubicBezTo>
                    <a:pt x="806196" y="625729"/>
                    <a:pt x="625729" y="806196"/>
                    <a:pt x="403098" y="806196"/>
                  </a:cubicBezTo>
                  <a:cubicBezTo>
                    <a:pt x="180467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34D399">
                <a:alpha val="1176"/>
              </a:srgbClr>
            </a:solid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20724" y="3038094"/>
            <a:ext cx="576072" cy="576072"/>
            <a:chOff x="0" y="0"/>
            <a:chExt cx="768096" cy="76809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988820" y="2811780"/>
            <a:ext cx="6583680" cy="1028700"/>
            <a:chOff x="0" y="0"/>
            <a:chExt cx="8778240" cy="1371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778240" cy="1371600"/>
            </a:xfrm>
            <a:custGeom>
              <a:avLst/>
              <a:gdLst/>
              <a:ahLst/>
              <a:cxnLst/>
              <a:rect l="l" t="t" r="r" b="b"/>
              <a:pathLst>
                <a:path w="8778240" h="1371600">
                  <a:moveTo>
                    <a:pt x="0" y="0"/>
                  </a:moveTo>
                  <a:lnTo>
                    <a:pt x="8778240" y="0"/>
                  </a:lnTo>
                  <a:lnTo>
                    <a:pt x="87782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778240" cy="1409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99"/>
                </a:lnSpc>
              </a:pPr>
              <a:r>
                <a:rPr lang="en-US" sz="1725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Wazuh all-in-one SIEM live (OVA 4.14) on a private Tailscale mesh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248775" y="2665095"/>
            <a:ext cx="8042910" cy="1322070"/>
            <a:chOff x="0" y="0"/>
            <a:chExt cx="10723880" cy="17627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723880" cy="1762760"/>
            </a:xfrm>
            <a:custGeom>
              <a:avLst/>
              <a:gdLst/>
              <a:ahLst/>
              <a:cxnLst/>
              <a:rect l="l" t="t" r="r" b="b"/>
              <a:pathLst>
                <a:path w="10723880" h="176276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0575417" y="0"/>
                  </a:lnTo>
                  <a:cubicBezTo>
                    <a:pt x="10657460" y="0"/>
                    <a:pt x="10723880" y="66421"/>
                    <a:pt x="10723880" y="148463"/>
                  </a:cubicBezTo>
                  <a:lnTo>
                    <a:pt x="10723880" y="1614297"/>
                  </a:lnTo>
                  <a:cubicBezTo>
                    <a:pt x="10723880" y="1696339"/>
                    <a:pt x="10657460" y="1762760"/>
                    <a:pt x="105754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641776" y="3023806"/>
            <a:ext cx="604647" cy="604647"/>
            <a:chOff x="0" y="0"/>
            <a:chExt cx="806196" cy="80619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06196" cy="806196"/>
            </a:xfrm>
            <a:custGeom>
              <a:avLst/>
              <a:gdLst/>
              <a:ahLst/>
              <a:cxnLst/>
              <a:rect l="l" t="t" r="r" b="b"/>
              <a:pathLst>
                <a:path w="806196" h="806196">
                  <a:moveTo>
                    <a:pt x="0" y="403098"/>
                  </a:moveTo>
                  <a:cubicBezTo>
                    <a:pt x="0" y="180467"/>
                    <a:pt x="180467" y="0"/>
                    <a:pt x="403098" y="0"/>
                  </a:cubicBezTo>
                  <a:cubicBezTo>
                    <a:pt x="625729" y="0"/>
                    <a:pt x="806196" y="180467"/>
                    <a:pt x="806196" y="403098"/>
                  </a:cubicBezTo>
                  <a:cubicBezTo>
                    <a:pt x="806196" y="625729"/>
                    <a:pt x="625729" y="806196"/>
                    <a:pt x="403098" y="806196"/>
                  </a:cubicBezTo>
                  <a:cubicBezTo>
                    <a:pt x="180467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34D399">
                <a:alpha val="1176"/>
              </a:srgbClr>
            </a:solid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656064" y="3038094"/>
            <a:ext cx="576072" cy="576072"/>
            <a:chOff x="0" y="0"/>
            <a:chExt cx="768096" cy="76809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424160" y="2811780"/>
            <a:ext cx="6583680" cy="1028700"/>
            <a:chOff x="0" y="0"/>
            <a:chExt cx="8778240" cy="13716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778240" cy="1371600"/>
            </a:xfrm>
            <a:custGeom>
              <a:avLst/>
              <a:gdLst/>
              <a:ahLst/>
              <a:cxnLst/>
              <a:rect l="l" t="t" r="r" b="b"/>
              <a:pathLst>
                <a:path w="8778240" h="1371600">
                  <a:moveTo>
                    <a:pt x="0" y="0"/>
                  </a:moveTo>
                  <a:lnTo>
                    <a:pt x="8778240" y="0"/>
                  </a:lnTo>
                  <a:lnTo>
                    <a:pt x="87782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8778240" cy="1409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99"/>
                </a:lnSpc>
              </a:pPr>
              <a:r>
                <a:rPr lang="en-US" sz="1725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Three victim endpoints enrolled and reporting across two OS families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13435" y="4242435"/>
            <a:ext cx="8042910" cy="1322070"/>
            <a:chOff x="0" y="0"/>
            <a:chExt cx="10723880" cy="17627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723880" cy="1762760"/>
            </a:xfrm>
            <a:custGeom>
              <a:avLst/>
              <a:gdLst/>
              <a:ahLst/>
              <a:cxnLst/>
              <a:rect l="l" t="t" r="r" b="b"/>
              <a:pathLst>
                <a:path w="10723880" h="176276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0575417" y="0"/>
                  </a:lnTo>
                  <a:cubicBezTo>
                    <a:pt x="10657460" y="0"/>
                    <a:pt x="10723880" y="66421"/>
                    <a:pt x="10723880" y="148463"/>
                  </a:cubicBezTo>
                  <a:lnTo>
                    <a:pt x="10723880" y="1614297"/>
                  </a:lnTo>
                  <a:cubicBezTo>
                    <a:pt x="10723880" y="1696339"/>
                    <a:pt x="10657460" y="1762760"/>
                    <a:pt x="105754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06436" y="4601146"/>
            <a:ext cx="604647" cy="604647"/>
            <a:chOff x="0" y="0"/>
            <a:chExt cx="806196" cy="80619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06196" cy="806196"/>
            </a:xfrm>
            <a:custGeom>
              <a:avLst/>
              <a:gdLst/>
              <a:ahLst/>
              <a:cxnLst/>
              <a:rect l="l" t="t" r="r" b="b"/>
              <a:pathLst>
                <a:path w="806196" h="806196">
                  <a:moveTo>
                    <a:pt x="0" y="403098"/>
                  </a:moveTo>
                  <a:cubicBezTo>
                    <a:pt x="0" y="180467"/>
                    <a:pt x="180467" y="0"/>
                    <a:pt x="403098" y="0"/>
                  </a:cubicBezTo>
                  <a:cubicBezTo>
                    <a:pt x="625729" y="0"/>
                    <a:pt x="806196" y="180467"/>
                    <a:pt x="806196" y="403098"/>
                  </a:cubicBezTo>
                  <a:cubicBezTo>
                    <a:pt x="806196" y="625729"/>
                    <a:pt x="625729" y="806196"/>
                    <a:pt x="403098" y="806196"/>
                  </a:cubicBezTo>
                  <a:cubicBezTo>
                    <a:pt x="180467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34D399">
                <a:alpha val="1176"/>
              </a:srgbClr>
            </a:solid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20724" y="4615434"/>
            <a:ext cx="576072" cy="576072"/>
            <a:chOff x="0" y="0"/>
            <a:chExt cx="768096" cy="76809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988820" y="4389120"/>
            <a:ext cx="6583680" cy="1028700"/>
            <a:chOff x="0" y="0"/>
            <a:chExt cx="8778240" cy="13716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778240" cy="1371600"/>
            </a:xfrm>
            <a:custGeom>
              <a:avLst/>
              <a:gdLst/>
              <a:ahLst/>
              <a:cxnLst/>
              <a:rect l="l" t="t" r="r" b="b"/>
              <a:pathLst>
                <a:path w="8778240" h="1371600">
                  <a:moveTo>
                    <a:pt x="0" y="0"/>
                  </a:moveTo>
                  <a:lnTo>
                    <a:pt x="8778240" y="0"/>
                  </a:lnTo>
                  <a:lnTo>
                    <a:pt x="87782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8778240" cy="1409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99"/>
                </a:lnSpc>
              </a:pPr>
              <a:r>
                <a:rPr lang="en-US" sz="1725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SSH brute-force attack executed and detected in real time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248775" y="4242435"/>
            <a:ext cx="8042910" cy="1322070"/>
            <a:chOff x="0" y="0"/>
            <a:chExt cx="10723880" cy="176276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723880" cy="1762760"/>
            </a:xfrm>
            <a:custGeom>
              <a:avLst/>
              <a:gdLst/>
              <a:ahLst/>
              <a:cxnLst/>
              <a:rect l="l" t="t" r="r" b="b"/>
              <a:pathLst>
                <a:path w="10723880" h="176276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0575417" y="0"/>
                  </a:lnTo>
                  <a:cubicBezTo>
                    <a:pt x="10657460" y="0"/>
                    <a:pt x="10723880" y="66421"/>
                    <a:pt x="10723880" y="148463"/>
                  </a:cubicBezTo>
                  <a:lnTo>
                    <a:pt x="10723880" y="1614297"/>
                  </a:lnTo>
                  <a:cubicBezTo>
                    <a:pt x="10723880" y="1696339"/>
                    <a:pt x="10657460" y="1762760"/>
                    <a:pt x="105754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641776" y="4601146"/>
            <a:ext cx="604647" cy="604647"/>
            <a:chOff x="0" y="0"/>
            <a:chExt cx="806196" cy="80619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06196" cy="806196"/>
            </a:xfrm>
            <a:custGeom>
              <a:avLst/>
              <a:gdLst/>
              <a:ahLst/>
              <a:cxnLst/>
              <a:rect l="l" t="t" r="r" b="b"/>
              <a:pathLst>
                <a:path w="806196" h="806196">
                  <a:moveTo>
                    <a:pt x="0" y="403098"/>
                  </a:moveTo>
                  <a:cubicBezTo>
                    <a:pt x="0" y="180467"/>
                    <a:pt x="180467" y="0"/>
                    <a:pt x="403098" y="0"/>
                  </a:cubicBezTo>
                  <a:cubicBezTo>
                    <a:pt x="625729" y="0"/>
                    <a:pt x="806196" y="180467"/>
                    <a:pt x="806196" y="403098"/>
                  </a:cubicBezTo>
                  <a:cubicBezTo>
                    <a:pt x="806196" y="625729"/>
                    <a:pt x="625729" y="806196"/>
                    <a:pt x="403098" y="806196"/>
                  </a:cubicBezTo>
                  <a:cubicBezTo>
                    <a:pt x="180467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34D399">
                <a:alpha val="1176"/>
              </a:srgbClr>
            </a:solid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656064" y="4615434"/>
            <a:ext cx="576072" cy="576072"/>
            <a:chOff x="0" y="0"/>
            <a:chExt cx="768096" cy="76809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424160" y="4389120"/>
            <a:ext cx="6583680" cy="1028700"/>
            <a:chOff x="0" y="0"/>
            <a:chExt cx="8778240" cy="13716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778240" cy="1371600"/>
            </a:xfrm>
            <a:custGeom>
              <a:avLst/>
              <a:gdLst/>
              <a:ahLst/>
              <a:cxnLst/>
              <a:rect l="l" t="t" r="r" b="b"/>
              <a:pathLst>
                <a:path w="8778240" h="1371600">
                  <a:moveTo>
                    <a:pt x="0" y="0"/>
                  </a:moveTo>
                  <a:lnTo>
                    <a:pt x="8778240" y="0"/>
                  </a:lnTo>
                  <a:lnTo>
                    <a:pt x="87782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8778240" cy="1409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99"/>
                </a:lnSpc>
              </a:pPr>
              <a:r>
                <a:rPr lang="en-US" sz="1725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Suspicious PowerShell execution captured and correlated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13435" y="5819775"/>
            <a:ext cx="8042910" cy="1322070"/>
            <a:chOff x="0" y="0"/>
            <a:chExt cx="10723880" cy="176276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723880" cy="1762760"/>
            </a:xfrm>
            <a:custGeom>
              <a:avLst/>
              <a:gdLst/>
              <a:ahLst/>
              <a:cxnLst/>
              <a:rect l="l" t="t" r="r" b="b"/>
              <a:pathLst>
                <a:path w="10723880" h="176276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0575417" y="0"/>
                  </a:lnTo>
                  <a:cubicBezTo>
                    <a:pt x="10657460" y="0"/>
                    <a:pt x="10723880" y="66421"/>
                    <a:pt x="10723880" y="148463"/>
                  </a:cubicBezTo>
                  <a:lnTo>
                    <a:pt x="10723880" y="1614297"/>
                  </a:lnTo>
                  <a:cubicBezTo>
                    <a:pt x="10723880" y="1696339"/>
                    <a:pt x="10657460" y="1762760"/>
                    <a:pt x="105754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06436" y="6178486"/>
            <a:ext cx="604647" cy="604647"/>
            <a:chOff x="0" y="0"/>
            <a:chExt cx="806196" cy="80619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06196" cy="806196"/>
            </a:xfrm>
            <a:custGeom>
              <a:avLst/>
              <a:gdLst/>
              <a:ahLst/>
              <a:cxnLst/>
              <a:rect l="l" t="t" r="r" b="b"/>
              <a:pathLst>
                <a:path w="806196" h="806196">
                  <a:moveTo>
                    <a:pt x="0" y="403098"/>
                  </a:moveTo>
                  <a:cubicBezTo>
                    <a:pt x="0" y="180467"/>
                    <a:pt x="180467" y="0"/>
                    <a:pt x="403098" y="0"/>
                  </a:cubicBezTo>
                  <a:cubicBezTo>
                    <a:pt x="625729" y="0"/>
                    <a:pt x="806196" y="180467"/>
                    <a:pt x="806196" y="403098"/>
                  </a:cubicBezTo>
                  <a:cubicBezTo>
                    <a:pt x="806196" y="625729"/>
                    <a:pt x="625729" y="806196"/>
                    <a:pt x="403098" y="806196"/>
                  </a:cubicBezTo>
                  <a:cubicBezTo>
                    <a:pt x="180467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34D399">
                <a:alpha val="1176"/>
              </a:srgbClr>
            </a:solid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20724" y="6192774"/>
            <a:ext cx="576072" cy="576072"/>
            <a:chOff x="0" y="0"/>
            <a:chExt cx="768096" cy="76809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988820" y="5966460"/>
            <a:ext cx="6583680" cy="1028700"/>
            <a:chOff x="0" y="0"/>
            <a:chExt cx="8778240" cy="13716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778240" cy="1371600"/>
            </a:xfrm>
            <a:custGeom>
              <a:avLst/>
              <a:gdLst/>
              <a:ahLst/>
              <a:cxnLst/>
              <a:rect l="l" t="t" r="r" b="b"/>
              <a:pathLst>
                <a:path w="8778240" h="1371600">
                  <a:moveTo>
                    <a:pt x="0" y="0"/>
                  </a:moveTo>
                  <a:lnTo>
                    <a:pt x="8778240" y="0"/>
                  </a:lnTo>
                  <a:lnTo>
                    <a:pt x="87782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8778240" cy="1409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99"/>
                </a:lnSpc>
              </a:pPr>
              <a:r>
                <a:rPr lang="en-US" sz="1725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Command &amp; control attempt logged against the Windows Server target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248775" y="5819775"/>
            <a:ext cx="8042910" cy="1322070"/>
            <a:chOff x="0" y="0"/>
            <a:chExt cx="10723880" cy="176276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0723880" cy="1762760"/>
            </a:xfrm>
            <a:custGeom>
              <a:avLst/>
              <a:gdLst/>
              <a:ahLst/>
              <a:cxnLst/>
              <a:rect l="l" t="t" r="r" b="b"/>
              <a:pathLst>
                <a:path w="10723880" h="176276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0575417" y="0"/>
                  </a:lnTo>
                  <a:cubicBezTo>
                    <a:pt x="10657460" y="0"/>
                    <a:pt x="10723880" y="66421"/>
                    <a:pt x="10723880" y="148463"/>
                  </a:cubicBezTo>
                  <a:lnTo>
                    <a:pt x="10723880" y="1614297"/>
                  </a:lnTo>
                  <a:cubicBezTo>
                    <a:pt x="10723880" y="1696339"/>
                    <a:pt x="10657460" y="1762760"/>
                    <a:pt x="105754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641776" y="6178486"/>
            <a:ext cx="604647" cy="604647"/>
            <a:chOff x="0" y="0"/>
            <a:chExt cx="806196" cy="80619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06196" cy="806196"/>
            </a:xfrm>
            <a:custGeom>
              <a:avLst/>
              <a:gdLst/>
              <a:ahLst/>
              <a:cxnLst/>
              <a:rect l="l" t="t" r="r" b="b"/>
              <a:pathLst>
                <a:path w="806196" h="806196">
                  <a:moveTo>
                    <a:pt x="0" y="403098"/>
                  </a:moveTo>
                  <a:cubicBezTo>
                    <a:pt x="0" y="180467"/>
                    <a:pt x="180467" y="0"/>
                    <a:pt x="403098" y="0"/>
                  </a:cubicBezTo>
                  <a:cubicBezTo>
                    <a:pt x="625729" y="0"/>
                    <a:pt x="806196" y="180467"/>
                    <a:pt x="806196" y="403098"/>
                  </a:cubicBezTo>
                  <a:cubicBezTo>
                    <a:pt x="806196" y="625729"/>
                    <a:pt x="625729" y="806196"/>
                    <a:pt x="403098" y="806196"/>
                  </a:cubicBezTo>
                  <a:cubicBezTo>
                    <a:pt x="180467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34D399">
                <a:alpha val="1176"/>
              </a:srgbClr>
            </a:solid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656064" y="6192774"/>
            <a:ext cx="576072" cy="576072"/>
            <a:chOff x="0" y="0"/>
            <a:chExt cx="768096" cy="768096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0424160" y="5966460"/>
            <a:ext cx="6583680" cy="1028700"/>
            <a:chOff x="0" y="0"/>
            <a:chExt cx="8778240" cy="13716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778240" cy="1371600"/>
            </a:xfrm>
            <a:custGeom>
              <a:avLst/>
              <a:gdLst/>
              <a:ahLst/>
              <a:cxnLst/>
              <a:rect l="l" t="t" r="r" b="b"/>
              <a:pathLst>
                <a:path w="8778240" h="1371600">
                  <a:moveTo>
                    <a:pt x="0" y="0"/>
                  </a:moveTo>
                  <a:lnTo>
                    <a:pt x="8778240" y="0"/>
                  </a:lnTo>
                  <a:lnTo>
                    <a:pt x="87782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8778240" cy="1409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99"/>
                </a:lnSpc>
              </a:pPr>
              <a:r>
                <a:rPr lang="en-US" sz="1725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Shuffle SOAR deployed on Docker, wired to Wazuh via webhook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813435" y="7397115"/>
            <a:ext cx="8042910" cy="1322070"/>
            <a:chOff x="0" y="0"/>
            <a:chExt cx="10723880" cy="176276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0723880" cy="1762760"/>
            </a:xfrm>
            <a:custGeom>
              <a:avLst/>
              <a:gdLst/>
              <a:ahLst/>
              <a:cxnLst/>
              <a:rect l="l" t="t" r="r" b="b"/>
              <a:pathLst>
                <a:path w="10723880" h="176276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0575417" y="0"/>
                  </a:lnTo>
                  <a:cubicBezTo>
                    <a:pt x="10657460" y="0"/>
                    <a:pt x="10723880" y="66421"/>
                    <a:pt x="10723880" y="148463"/>
                  </a:cubicBezTo>
                  <a:lnTo>
                    <a:pt x="10723880" y="1614297"/>
                  </a:lnTo>
                  <a:cubicBezTo>
                    <a:pt x="10723880" y="1696339"/>
                    <a:pt x="10657460" y="1762760"/>
                    <a:pt x="105754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206436" y="7755826"/>
            <a:ext cx="604647" cy="604647"/>
            <a:chOff x="0" y="0"/>
            <a:chExt cx="806196" cy="80619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806196" cy="806196"/>
            </a:xfrm>
            <a:custGeom>
              <a:avLst/>
              <a:gdLst/>
              <a:ahLst/>
              <a:cxnLst/>
              <a:rect l="l" t="t" r="r" b="b"/>
              <a:pathLst>
                <a:path w="806196" h="806196">
                  <a:moveTo>
                    <a:pt x="0" y="403098"/>
                  </a:moveTo>
                  <a:cubicBezTo>
                    <a:pt x="0" y="180467"/>
                    <a:pt x="180467" y="0"/>
                    <a:pt x="403098" y="0"/>
                  </a:cubicBezTo>
                  <a:cubicBezTo>
                    <a:pt x="625729" y="0"/>
                    <a:pt x="806196" y="180467"/>
                    <a:pt x="806196" y="403098"/>
                  </a:cubicBezTo>
                  <a:cubicBezTo>
                    <a:pt x="806196" y="625729"/>
                    <a:pt x="625729" y="806196"/>
                    <a:pt x="403098" y="806196"/>
                  </a:cubicBezTo>
                  <a:cubicBezTo>
                    <a:pt x="180467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34D399">
                <a:alpha val="1176"/>
              </a:srgbClr>
            </a:solid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220724" y="7770114"/>
            <a:ext cx="576072" cy="576072"/>
            <a:chOff x="0" y="0"/>
            <a:chExt cx="768096" cy="76809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988820" y="7543800"/>
            <a:ext cx="6583680" cy="1028700"/>
            <a:chOff x="0" y="0"/>
            <a:chExt cx="8778240" cy="13716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8778240" cy="1371600"/>
            </a:xfrm>
            <a:custGeom>
              <a:avLst/>
              <a:gdLst/>
              <a:ahLst/>
              <a:cxnLst/>
              <a:rect l="l" t="t" r="r" b="b"/>
              <a:pathLst>
                <a:path w="8778240" h="1371600">
                  <a:moveTo>
                    <a:pt x="0" y="0"/>
                  </a:moveTo>
                  <a:lnTo>
                    <a:pt x="8778240" y="0"/>
                  </a:lnTo>
                  <a:lnTo>
                    <a:pt x="87782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8778240" cy="1409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99"/>
                </a:lnSpc>
              </a:pPr>
              <a:r>
                <a:rPr lang="en-US" sz="1725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Active response (firewall-drop) auto-blocking demonstrated end to end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248775" y="7397115"/>
            <a:ext cx="8042910" cy="1322070"/>
            <a:chOff x="0" y="0"/>
            <a:chExt cx="10723880" cy="176276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0723880" cy="1762760"/>
            </a:xfrm>
            <a:custGeom>
              <a:avLst/>
              <a:gdLst/>
              <a:ahLst/>
              <a:cxnLst/>
              <a:rect l="l" t="t" r="r" b="b"/>
              <a:pathLst>
                <a:path w="10723880" h="176276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0575417" y="0"/>
                  </a:lnTo>
                  <a:cubicBezTo>
                    <a:pt x="10657460" y="0"/>
                    <a:pt x="10723880" y="66421"/>
                    <a:pt x="10723880" y="148463"/>
                  </a:cubicBezTo>
                  <a:lnTo>
                    <a:pt x="10723880" y="1614297"/>
                  </a:lnTo>
                  <a:cubicBezTo>
                    <a:pt x="10723880" y="1696339"/>
                    <a:pt x="10657460" y="1762760"/>
                    <a:pt x="10575417" y="1762760"/>
                  </a:cubicBezTo>
                  <a:lnTo>
                    <a:pt x="148463" y="1762760"/>
                  </a:lnTo>
                  <a:cubicBezTo>
                    <a:pt x="66421" y="1762760"/>
                    <a:pt x="0" y="1696339"/>
                    <a:pt x="0" y="1614297"/>
                  </a:cubicBezTo>
                  <a:close/>
                </a:path>
              </a:pathLst>
            </a:custGeom>
            <a:solidFill>
              <a:srgbClr val="121B30"/>
            </a:solidFill>
            <a:ln w="19050" cap="sq">
              <a:solidFill>
                <a:srgbClr val="26335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9641776" y="7755826"/>
            <a:ext cx="604647" cy="604647"/>
            <a:chOff x="0" y="0"/>
            <a:chExt cx="806196" cy="806196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806196" cy="806196"/>
            </a:xfrm>
            <a:custGeom>
              <a:avLst/>
              <a:gdLst/>
              <a:ahLst/>
              <a:cxnLst/>
              <a:rect l="l" t="t" r="r" b="b"/>
              <a:pathLst>
                <a:path w="806196" h="806196">
                  <a:moveTo>
                    <a:pt x="0" y="403098"/>
                  </a:moveTo>
                  <a:cubicBezTo>
                    <a:pt x="0" y="180467"/>
                    <a:pt x="180467" y="0"/>
                    <a:pt x="403098" y="0"/>
                  </a:cubicBezTo>
                  <a:cubicBezTo>
                    <a:pt x="625729" y="0"/>
                    <a:pt x="806196" y="180467"/>
                    <a:pt x="806196" y="403098"/>
                  </a:cubicBezTo>
                  <a:cubicBezTo>
                    <a:pt x="806196" y="625729"/>
                    <a:pt x="625729" y="806196"/>
                    <a:pt x="403098" y="806196"/>
                  </a:cubicBezTo>
                  <a:cubicBezTo>
                    <a:pt x="180467" y="806196"/>
                    <a:pt x="0" y="625729"/>
                    <a:pt x="0" y="403098"/>
                  </a:cubicBezTo>
                  <a:close/>
                </a:path>
              </a:pathLst>
            </a:custGeom>
            <a:solidFill>
              <a:srgbClr val="34D399">
                <a:alpha val="1176"/>
              </a:srgbClr>
            </a:solidFill>
            <a:ln w="28575" cap="sq">
              <a:solidFill>
                <a:srgbClr val="34D39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9656064" y="7770114"/>
            <a:ext cx="576072" cy="576072"/>
            <a:chOff x="0" y="0"/>
            <a:chExt cx="768096" cy="768096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47625"/>
              <a:ext cx="768096" cy="815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34D3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0424160" y="7543800"/>
            <a:ext cx="6583680" cy="1028700"/>
            <a:chOff x="0" y="0"/>
            <a:chExt cx="8778240" cy="1371600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8778240" cy="1371600"/>
            </a:xfrm>
            <a:custGeom>
              <a:avLst/>
              <a:gdLst/>
              <a:ahLst/>
              <a:cxnLst/>
              <a:rect l="l" t="t" r="r" b="b"/>
              <a:pathLst>
                <a:path w="8778240" h="1371600">
                  <a:moveTo>
                    <a:pt x="0" y="0"/>
                  </a:moveTo>
                  <a:lnTo>
                    <a:pt x="8778240" y="0"/>
                  </a:lnTo>
                  <a:lnTo>
                    <a:pt x="87782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38100"/>
              <a:ext cx="8778240" cy="1409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99"/>
                </a:lnSpc>
              </a:pPr>
              <a:r>
                <a:rPr lang="en-US" sz="1725">
                  <a:solidFill>
                    <a:srgbClr val="F5F7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repeatable, fully open-source detection-to-response pipeline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685800" y="9793224"/>
            <a:ext cx="6858000" cy="384048"/>
            <a:chOff x="0" y="0"/>
            <a:chExt cx="9144000" cy="512064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9144000" cy="512064"/>
            </a:xfrm>
            <a:custGeom>
              <a:avLst/>
              <a:gdLst/>
              <a:ahLst/>
              <a:cxnLst/>
              <a:rect l="l" t="t" r="r" b="b"/>
              <a:pathLst>
                <a:path w="9144000" h="512064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28575"/>
              <a:ext cx="91440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spc="149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WAZUH + SHUFFLE SOC LAB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6870680" y="9793224"/>
            <a:ext cx="754380" cy="384048"/>
            <a:chOff x="0" y="0"/>
            <a:chExt cx="1005840" cy="51206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005840" cy="512064"/>
            </a:xfrm>
            <a:custGeom>
              <a:avLst/>
              <a:gdLst/>
              <a:ahLst/>
              <a:cxnLst/>
              <a:rect l="l" t="t" r="r" b="b"/>
              <a:pathLst>
                <a:path w="1005840" h="512064">
                  <a:moveTo>
                    <a:pt x="0" y="0"/>
                  </a:moveTo>
                  <a:lnTo>
                    <a:pt x="1005840" y="0"/>
                  </a:lnTo>
                  <a:lnTo>
                    <a:pt x="10058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r="-153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28575"/>
              <a:ext cx="100584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43200" y="-3429000"/>
            <a:ext cx="8229600" cy="8229600"/>
            <a:chOff x="0" y="0"/>
            <a:chExt cx="10972800" cy="1097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72800" cy="10972800"/>
            </a:xfrm>
            <a:custGeom>
              <a:avLst/>
              <a:gdLst/>
              <a:ahLst/>
              <a:cxnLst/>
              <a:rect l="l" t="t" r="r" b="b"/>
              <a:pathLst>
                <a:path w="10972800" h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34D399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716000" y="5486400"/>
            <a:ext cx="7543800" cy="7543800"/>
            <a:chOff x="0" y="0"/>
            <a:chExt cx="10058400" cy="10058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58400" cy="10058400"/>
            </a:xfrm>
            <a:custGeom>
              <a:avLst/>
              <a:gdLst/>
              <a:ahLst/>
              <a:cxnLst/>
              <a:rect l="l" t="t" r="r" b="b"/>
              <a:pathLst>
                <a:path w="10058400" h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22D3EE">
                <a:alpha val="39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5800" y="3703320"/>
            <a:ext cx="16870680" cy="1234440"/>
            <a:chOff x="0" y="0"/>
            <a:chExt cx="22494240" cy="16459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494239" cy="1645920"/>
            </a:xfrm>
            <a:custGeom>
              <a:avLst/>
              <a:gdLst/>
              <a:ahLst/>
              <a:cxnLst/>
              <a:rect l="l" t="t" r="r" b="b"/>
              <a:pathLst>
                <a:path w="22494239" h="1645920">
                  <a:moveTo>
                    <a:pt x="0" y="0"/>
                  </a:moveTo>
                  <a:lnTo>
                    <a:pt x="22494239" y="0"/>
                  </a:lnTo>
                  <a:lnTo>
                    <a:pt x="224942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6295" b="-21629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249424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20"/>
                </a:lnSpc>
              </a:pPr>
              <a:r>
                <a:rPr lang="en-US" sz="5100" b="1">
                  <a:solidFill>
                    <a:srgbClr val="22D3E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Setup</a:t>
              </a:r>
              <a:r>
                <a:rPr lang="en-US" sz="5100" b="1">
                  <a:solidFill>
                    <a:srgbClr val="8A97B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 →  </a:t>
              </a:r>
              <a:r>
                <a:rPr lang="en-US" sz="5100" b="1">
                  <a:solidFill>
                    <a:srgbClr val="FF6B6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Attack</a:t>
              </a:r>
              <a:r>
                <a:rPr lang="en-US" sz="5100" b="1">
                  <a:solidFill>
                    <a:srgbClr val="8A97B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 →  </a:t>
              </a:r>
              <a:r>
                <a:rPr lang="en-US" sz="5100" b="1">
                  <a:solidFill>
                    <a:srgbClr val="FBBF2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Detect</a:t>
              </a:r>
              <a:r>
                <a:rPr lang="en-US" sz="5100" b="1">
                  <a:solidFill>
                    <a:srgbClr val="8A97B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 →  </a:t>
              </a:r>
              <a:r>
                <a:rPr lang="en-US" sz="5100" b="1">
                  <a:solidFill>
                    <a:srgbClr val="34D39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Respond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5800" y="5143500"/>
            <a:ext cx="16870680" cy="617220"/>
            <a:chOff x="0" y="0"/>
            <a:chExt cx="22494240" cy="8229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94239" cy="822960"/>
            </a:xfrm>
            <a:custGeom>
              <a:avLst/>
              <a:gdLst/>
              <a:ahLst/>
              <a:cxnLst/>
              <a:rect l="l" t="t" r="r" b="b"/>
              <a:pathLst>
                <a:path w="22494239" h="822960">
                  <a:moveTo>
                    <a:pt x="0" y="0"/>
                  </a:moveTo>
                  <a:lnTo>
                    <a:pt x="22494239" y="0"/>
                  </a:lnTo>
                  <a:lnTo>
                    <a:pt x="224942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2591" b="-48259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249424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complete open-source SOC path, proven with live evidence.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rot="23700">
            <a:off x="7767418" y="6167438"/>
            <a:ext cx="2762317" cy="0"/>
          </a:xfrm>
          <a:prstGeom prst="line">
            <a:avLst/>
          </a:prstGeom>
          <a:ln w="9525" cap="rnd">
            <a:solidFill>
              <a:srgbClr val="2633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685800" y="6515100"/>
            <a:ext cx="16870680" cy="685800"/>
            <a:chOff x="0" y="0"/>
            <a:chExt cx="22494240" cy="914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494239" cy="914400"/>
            </a:xfrm>
            <a:custGeom>
              <a:avLst/>
              <a:gdLst/>
              <a:ahLst/>
              <a:cxnLst/>
              <a:rect l="l" t="t" r="r" b="b"/>
              <a:pathLst>
                <a:path w="22494239" h="914400">
                  <a:moveTo>
                    <a:pt x="0" y="0"/>
                  </a:moveTo>
                  <a:lnTo>
                    <a:pt x="22494239" y="0"/>
                  </a:lnTo>
                  <a:lnTo>
                    <a:pt x="224942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9331" b="-4293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2249424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5F7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 — questions welcome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5800" y="9793224"/>
            <a:ext cx="6858000" cy="384048"/>
            <a:chOff x="0" y="0"/>
            <a:chExt cx="9144000" cy="51206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144000" cy="512064"/>
            </a:xfrm>
            <a:custGeom>
              <a:avLst/>
              <a:gdLst/>
              <a:ahLst/>
              <a:cxnLst/>
              <a:rect l="l" t="t" r="r" b="b"/>
              <a:pathLst>
                <a:path w="9144000" h="512064">
                  <a:moveTo>
                    <a:pt x="0" y="0"/>
                  </a:moveTo>
                  <a:lnTo>
                    <a:pt x="9144000" y="0"/>
                  </a:lnTo>
                  <a:lnTo>
                    <a:pt x="9144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947" b="-2979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914400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0"/>
                </a:lnSpc>
              </a:pPr>
              <a:r>
                <a:rPr lang="en-US" sz="1275" spc="149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WAZUH + SHUFFLE SOC LAB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870680" y="9793224"/>
            <a:ext cx="754380" cy="384048"/>
            <a:chOff x="0" y="0"/>
            <a:chExt cx="1005840" cy="51206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05840" cy="512064"/>
            </a:xfrm>
            <a:custGeom>
              <a:avLst/>
              <a:gdLst/>
              <a:ahLst/>
              <a:cxnLst/>
              <a:rect l="l" t="t" r="r" b="b"/>
              <a:pathLst>
                <a:path w="1005840" h="512064">
                  <a:moveTo>
                    <a:pt x="0" y="0"/>
                  </a:moveTo>
                  <a:lnTo>
                    <a:pt x="1005840" y="0"/>
                  </a:lnTo>
                  <a:lnTo>
                    <a:pt x="10058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318" r="-1531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1005840" cy="5406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30"/>
                </a:lnSpc>
              </a:pPr>
              <a:r>
                <a:rPr lang="en-US" sz="1275">
                  <a:solidFill>
                    <a:srgbClr val="8A97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1336</Words>
  <Application>Microsoft Office PowerPoint</Application>
  <PresentationFormat>Custom</PresentationFormat>
  <Paragraphs>318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Calibri (MS)</vt:lpstr>
      <vt:lpstr>Cambria Bold</vt:lpstr>
      <vt:lpstr>Cambria</vt:lpstr>
      <vt:lpstr>Calibri (MS) Italics</vt:lpstr>
      <vt:lpstr>Calibri</vt:lpstr>
      <vt:lpstr>Consolas Bold</vt:lpstr>
      <vt:lpstr>Arial</vt:lpstr>
      <vt:lpstr>Calibri (MS) Bold</vt:lpstr>
      <vt:lpstr>Aptos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Wazuh_Shuffle_SOC_Lab_Premium.pptx</dc:title>
  <cp:lastModifiedBy>Mohamed bushnak</cp:lastModifiedBy>
  <cp:revision>2</cp:revision>
  <dcterms:created xsi:type="dcterms:W3CDTF">2006-08-16T00:00:00Z</dcterms:created>
  <dcterms:modified xsi:type="dcterms:W3CDTF">2026-08-25T09:55:32Z</dcterms:modified>
  <dc:identifier>DAHTR7gDkOs</dc:identifier>
</cp:coreProperties>
</file>